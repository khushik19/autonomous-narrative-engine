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Lst>
  <p:sldSz cx="18288000" cy="10287000"/>
  <p:notesSz cx="6858000" cy="9144000"/>
  <p:embeddedFontLst>
    <p:embeddedFont>
      <p:font typeface="Telegraf" charset="1" panose="00000500000000000000"/>
      <p:regular r:id="rId1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6" Type="http://schemas.openxmlformats.org/officeDocument/2006/relationships/font" Target="fonts/font16.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eg"/><Relationship Id="rId3" Type="http://schemas.openxmlformats.org/officeDocument/2006/relationships/image" Target="../media/image4.jpeg"/><Relationship Id="rId4"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 Id="rId3" Type="http://schemas.openxmlformats.org/officeDocument/2006/relationships/image" Target="../media/image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 Id="rId3" Type="http://schemas.openxmlformats.org/officeDocument/2006/relationships/image" Target="../media/image8.pn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0">
            <a:off x="0" y="0"/>
            <a:ext cx="18288000" cy="10287000"/>
          </a:xfrm>
          <a:custGeom>
            <a:avLst/>
            <a:gdLst/>
            <a:ahLst/>
            <a:cxnLst/>
            <a:rect r="r" b="b" t="t" l="l"/>
            <a:pathLst>
              <a:path h="10287000" w="18288000">
                <a:moveTo>
                  <a:pt x="0" y="10287000"/>
                </a:moveTo>
                <a:lnTo>
                  <a:pt x="18288000" y="10287000"/>
                </a:lnTo>
                <a:lnTo>
                  <a:pt x="18288000" y="0"/>
                </a:lnTo>
                <a:lnTo>
                  <a:pt x="0" y="0"/>
                </a:lnTo>
                <a:lnTo>
                  <a:pt x="0" y="10287000"/>
                </a:lnTo>
                <a:close/>
              </a:path>
            </a:pathLst>
          </a:custGeom>
          <a:blipFill>
            <a:blip r:embed="rId2"/>
            <a:stretch>
              <a:fillRect l="0" t="-9259" r="0" b="-9259"/>
            </a:stretch>
          </a:blipFill>
        </p:spPr>
      </p:sp>
      <p:sp>
        <p:nvSpPr>
          <p:cNvPr name="Freeform 3" id="3"/>
          <p:cNvSpPr/>
          <p:nvPr/>
        </p:nvSpPr>
        <p:spPr>
          <a:xfrm flipH="false" flipV="false" rot="0">
            <a:off x="10416465" y="879937"/>
            <a:ext cx="7453924" cy="9407063"/>
          </a:xfrm>
          <a:custGeom>
            <a:avLst/>
            <a:gdLst/>
            <a:ahLst/>
            <a:cxnLst/>
            <a:rect r="r" b="b" t="t" l="l"/>
            <a:pathLst>
              <a:path h="9407063" w="7453924">
                <a:moveTo>
                  <a:pt x="0" y="0"/>
                </a:moveTo>
                <a:lnTo>
                  <a:pt x="7453924" y="0"/>
                </a:lnTo>
                <a:lnTo>
                  <a:pt x="7453924" y="9407063"/>
                </a:lnTo>
                <a:lnTo>
                  <a:pt x="0" y="9407063"/>
                </a:lnTo>
                <a:lnTo>
                  <a:pt x="0" y="0"/>
                </a:lnTo>
                <a:close/>
              </a:path>
            </a:pathLst>
          </a:custGeom>
          <a:blipFill>
            <a:blip r:embed="rId3"/>
            <a:stretch>
              <a:fillRect l="-146518" t="-3109" r="-13735" b="0"/>
            </a:stretch>
          </a:blipFill>
        </p:spPr>
      </p:sp>
      <p:sp>
        <p:nvSpPr>
          <p:cNvPr name="TextBox 4" id="4"/>
          <p:cNvSpPr txBox="true"/>
          <p:nvPr/>
        </p:nvSpPr>
        <p:spPr>
          <a:xfrm rot="0">
            <a:off x="1028700" y="1841526"/>
            <a:ext cx="7597578" cy="4429353"/>
          </a:xfrm>
          <a:prstGeom prst="rect">
            <a:avLst/>
          </a:prstGeom>
        </p:spPr>
        <p:txBody>
          <a:bodyPr anchor="t" rtlCol="false" tIns="0" lIns="0" bIns="0" rIns="0">
            <a:spAutoFit/>
          </a:bodyPr>
          <a:lstStyle/>
          <a:p>
            <a:endParaRPr/>
          </a:p>
        </p:txBody>
      </p:sp>
      <p:sp>
        <p:nvSpPr>
          <p:cNvPr name="TextBox 5" id="5"/>
          <p:cNvSpPr txBox="true"/>
          <p:nvPr/>
        </p:nvSpPr>
        <p:spPr>
          <a:xfrm rot="0">
            <a:off x="1028700" y="6783015"/>
            <a:ext cx="8053372" cy="1193269"/>
          </a:xfrm>
          <a:prstGeom prst="rect">
            <a:avLst/>
          </a:prstGeom>
        </p:spPr>
        <p:txBody>
          <a:bodyPr anchor="t" rtlCol="false" tIns="0" lIns="0" bIns="0" rIns="0">
            <a:spAutoFit/>
          </a:bodyPr>
          <a:lstStyle/>
          <a:p>
            <a:endParaRPr/>
          </a:p>
        </p:txBody>
      </p:sp>
      <p:sp>
        <p:nvSpPr>
          <p:cNvPr id="6" name="TextBox 5"/>
          <p:cNvSpPr txBox="1"/>
          <p:nvPr/>
        </p:nvSpPr>
        <p:spPr>
          <a:xfrm>
            <a:off x="1028700" y="1841526"/>
            <a:ext cx="7597578" cy="4429353"/>
          </a:xfrm>
          <a:prstGeom prst="rect">
            <a:avLst/>
          </a:prstGeom>
          <a:noFill/>
        </p:spPr>
        <p:txBody>
          <a:bodyPr wrap="square">
            <a:spAutoFit/>
          </a:bodyPr>
          <a:lstStyle/>
          <a:p>
            <a:pPr algn="l"/>
            <a:r>
              <a:rPr sz="3800" b="1">
                <a:solidFill>
                  <a:srgbClr val="000000"/>
                </a:solidFill>
                <a:latin typeface="Segoe UI Black"/>
              </a:rPr>
              <a:t>The AI Chemical Revolution: Redefining Molecular and Process Engineering</a:t>
            </a:r>
          </a:p>
        </p:txBody>
      </p:sp>
      <p:cxnSp>
        <p:nvCxnSpPr>
          <p:cNvPr id="7" name="Connector 6"/>
          <p:cNvCxnSpPr/>
          <p:nvPr/>
        </p:nvCxnSpPr>
        <p:spPr>
          <a:xfrm>
            <a:off x="1028700" y="4942073"/>
            <a:ext cx="2279273"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1028700" y="6783015"/>
            <a:ext cx="8053372" cy="1193269"/>
          </a:xfrm>
          <a:prstGeom prst="rect">
            <a:avLst/>
          </a:prstGeom>
          <a:noFill/>
        </p:spPr>
        <p:txBody>
          <a:bodyPr wrap="square">
            <a:spAutoFit/>
          </a:bodyPr>
          <a:lstStyle/>
          <a:p>
            <a:pPr algn="l"/>
            <a:r>
              <a:rPr sz="2200" b="0">
                <a:solidFill>
                  <a:srgbClr val="000000"/>
                </a:solidFill>
                <a:latin typeface="Segoe UI"/>
              </a:rPr>
              <a:t>Harnessing Machine Learning to Accelerate Discovery, Optimize Yields, and Drive Net-Zero Initiatives</a:t>
            </a:r>
          </a:p>
        </p:txBody>
      </p:sp>
      <p:sp>
        <p:nvSpPr>
          <p:cNvPr id="9" name="TextBox 8"/>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18260" t="-40160" r="0" b="0"/>
            </a:stretch>
          </a:blipFill>
        </p:spPr>
      </p:sp>
      <p:sp>
        <p:nvSpPr>
          <p:cNvPr name="TextBox 3" id="3"/>
          <p:cNvSpPr txBox="true"/>
          <p:nvPr/>
        </p:nvSpPr>
        <p:spPr>
          <a:xfrm rot="0">
            <a:off x="1273506" y="1019175"/>
            <a:ext cx="5777796" cy="2275625"/>
          </a:xfrm>
          <a:prstGeom prst="rect">
            <a:avLst/>
          </a:prstGeom>
        </p:spPr>
        <p:txBody>
          <a:bodyPr anchor="t" rtlCol="false" tIns="0" lIns="0" bIns="0" rIns="0">
            <a:spAutoFit/>
          </a:bodyPr>
          <a:lstStyle/>
          <a:p>
            <a:endParaRPr/>
          </a:p>
        </p:txBody>
      </p:sp>
      <p:grpSp>
        <p:nvGrpSpPr>
          <p:cNvPr name="Group 4" id="4"/>
          <p:cNvGrpSpPr/>
          <p:nvPr/>
        </p:nvGrpSpPr>
        <p:grpSpPr>
          <a:xfrm rot="0">
            <a:off x="8676173" y="1482064"/>
            <a:ext cx="8583127" cy="7363298"/>
            <a:chOff x="0" y="0"/>
            <a:chExt cx="1257627" cy="1078894"/>
          </a:xfrm>
        </p:grpSpPr>
        <p:sp>
          <p:nvSpPr>
            <p:cNvPr name="Freeform 5" id="5"/>
            <p:cNvSpPr/>
            <p:nvPr/>
          </p:nvSpPr>
          <p:spPr>
            <a:xfrm flipH="false" flipV="false" rot="0">
              <a:off x="0" y="0"/>
              <a:ext cx="1257627" cy="1078894"/>
            </a:xfrm>
            <a:custGeom>
              <a:avLst/>
              <a:gdLst/>
              <a:ahLst/>
              <a:cxnLst/>
              <a:rect r="r" b="b" t="t" l="l"/>
              <a:pathLst>
                <a:path h="1078894" w="1257627">
                  <a:moveTo>
                    <a:pt x="35178" y="0"/>
                  </a:moveTo>
                  <a:lnTo>
                    <a:pt x="1222449" y="0"/>
                  </a:lnTo>
                  <a:cubicBezTo>
                    <a:pt x="1231779" y="0"/>
                    <a:pt x="1240726" y="3706"/>
                    <a:pt x="1247323" y="10303"/>
                  </a:cubicBezTo>
                  <a:cubicBezTo>
                    <a:pt x="1253921" y="16900"/>
                    <a:pt x="1257627" y="25848"/>
                    <a:pt x="1257627" y="35178"/>
                  </a:cubicBezTo>
                  <a:lnTo>
                    <a:pt x="1257627" y="1043716"/>
                  </a:lnTo>
                  <a:cubicBezTo>
                    <a:pt x="1257627" y="1053046"/>
                    <a:pt x="1253921" y="1061993"/>
                    <a:pt x="1247323" y="1068590"/>
                  </a:cubicBezTo>
                  <a:cubicBezTo>
                    <a:pt x="1240726" y="1075187"/>
                    <a:pt x="1231779" y="1078894"/>
                    <a:pt x="1222449" y="1078894"/>
                  </a:cubicBezTo>
                  <a:lnTo>
                    <a:pt x="35178" y="1078894"/>
                  </a:lnTo>
                  <a:cubicBezTo>
                    <a:pt x="25848" y="1078894"/>
                    <a:pt x="16900" y="1075187"/>
                    <a:pt x="10303" y="1068590"/>
                  </a:cubicBezTo>
                  <a:cubicBezTo>
                    <a:pt x="3706" y="1061993"/>
                    <a:pt x="0" y="1053046"/>
                    <a:pt x="0" y="1043716"/>
                  </a:cubicBezTo>
                  <a:lnTo>
                    <a:pt x="0" y="35178"/>
                  </a:lnTo>
                  <a:cubicBezTo>
                    <a:pt x="0" y="25848"/>
                    <a:pt x="3706" y="16900"/>
                    <a:pt x="10303" y="10303"/>
                  </a:cubicBezTo>
                  <a:cubicBezTo>
                    <a:pt x="16900" y="3706"/>
                    <a:pt x="25848" y="0"/>
                    <a:pt x="35178" y="0"/>
                  </a:cubicBezTo>
                  <a:close/>
                </a:path>
              </a:pathLst>
            </a:custGeom>
            <a:blipFill>
              <a:blip r:embed="rId3"/>
              <a:stretch>
                <a:fillRect l="-7192" t="0" r="-7192" b="0"/>
              </a:stretch>
            </a:blipFill>
            <a:ln cap="rnd">
              <a:noFill/>
              <a:prstDash val="solid"/>
              <a:round/>
            </a:ln>
          </p:spPr>
        </p:sp>
      </p:grpSp>
      <p:sp>
        <p:nvSpPr>
          <p:cNvPr name="TextBox 6" id="6"/>
          <p:cNvSpPr txBox="true"/>
          <p:nvPr/>
        </p:nvSpPr>
        <p:spPr>
          <a:xfrm rot="0">
            <a:off x="1289511" y="3956296"/>
            <a:ext cx="6194128" cy="3549650"/>
          </a:xfrm>
          <a:prstGeom prst="rect">
            <a:avLst/>
          </a:prstGeom>
        </p:spPr>
        <p:txBody>
          <a:bodyPr anchor="t" rtlCol="false" tIns="0" lIns="0" bIns="0" rIns="0">
            <a:spAutoFit/>
          </a:bodyPr>
          <a:lstStyle/>
          <a:p>
            <a:endParaRPr/>
          </a:p>
        </p:txBody>
      </p:sp>
      <p:sp>
        <p:nvSpPr>
          <p:cNvPr id="7" name="TextBox 6"/>
          <p:cNvSpPr txBox="1"/>
          <p:nvPr/>
        </p:nvSpPr>
        <p:spPr>
          <a:xfrm>
            <a:off x="1273506" y="1019174"/>
            <a:ext cx="5777796" cy="2275625"/>
          </a:xfrm>
          <a:prstGeom prst="rect">
            <a:avLst/>
          </a:prstGeom>
          <a:noFill/>
        </p:spPr>
        <p:txBody>
          <a:bodyPr wrap="square">
            <a:spAutoFit/>
          </a:bodyPr>
          <a:lstStyle/>
          <a:p>
            <a:pPr algn="l"/>
            <a:r>
              <a:rPr sz="3400" b="1">
                <a:solidFill>
                  <a:srgbClr val="000000"/>
                </a:solidFill>
                <a:latin typeface="Segoe UI Black"/>
              </a:rPr>
              <a:t>Market Explosion: The $12B AI Opportunity in Chemical Production</a:t>
            </a:r>
          </a:p>
        </p:txBody>
      </p:sp>
      <p:cxnSp>
        <p:nvCxnSpPr>
          <p:cNvPr id="8" name="Connector 7"/>
          <p:cNvCxnSpPr/>
          <p:nvPr/>
        </p:nvCxnSpPr>
        <p:spPr>
          <a:xfrm>
            <a:off x="1273506" y="2612112"/>
            <a:ext cx="1733338"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9" name="TextBox 8"/>
          <p:cNvSpPr txBox="1"/>
          <p:nvPr/>
        </p:nvSpPr>
        <p:spPr>
          <a:xfrm>
            <a:off x="1289511" y="3956296"/>
            <a:ext cx="6194128" cy="3549650"/>
          </a:xfrm>
          <a:prstGeom prst="rect">
            <a:avLst/>
          </a:prstGeom>
          <a:noFill/>
        </p:spPr>
        <p:txBody>
          <a:bodyPr wrap="square">
            <a:spAutoFit/>
          </a:bodyPr>
          <a:lstStyle/>
          <a:p>
            <a:pPr algn="l">
              <a:spcAft>
                <a:spcPts val="2800"/>
              </a:spcAft>
            </a:pPr>
            <a:r>
              <a:rPr sz="1800" b="0">
                <a:solidFill>
                  <a:srgbClr val="000000"/>
                </a:solidFill>
                <a:latin typeface="Segoe UI"/>
              </a:rPr>
              <a:t>Projected 25.2% CAGR driven by the transition from empirical 'trial-and-error' to high-fidelity digital simulation</a:t>
            </a:r>
          </a:p>
          <a:p>
            <a:pPr algn="l">
              <a:spcAft>
                <a:spcPts val="2800"/>
              </a:spcAft>
            </a:pPr>
            <a:r>
              <a:rPr sz="1800" b="0">
                <a:solidFill>
                  <a:srgbClr val="000000"/>
                </a:solidFill>
                <a:latin typeface="Segoe UI"/>
              </a:rPr>
              <a:t>Rapid adoption of Generative AI for patent-mapping and competitive intelligence in specialty chemicals</a:t>
            </a:r>
          </a:p>
          <a:p>
            <a:pPr algn="l">
              <a:spcAft>
                <a:spcPts val="2800"/>
              </a:spcAft>
            </a:pPr>
            <a:r>
              <a:rPr sz="1800" b="0">
                <a:solidFill>
                  <a:srgbClr val="000000"/>
                </a:solidFill>
                <a:latin typeface="Segoe UI"/>
              </a:rPr>
              <a:t>Strategic shift toward 'Data-First' R&amp;D to mitigate rising feedstock costs and regulatory compliance burdens</a:t>
            </a:r>
          </a:p>
        </p:txBody>
      </p:sp>
      <p:pic>
        <p:nvPicPr>
          <p:cNvPr id="10" name="Picture 9" descr="chart_2.png"/>
          <p:cNvPicPr>
            <a:picLocks noChangeAspect="1"/>
          </p:cNvPicPr>
          <p:nvPr/>
        </p:nvPicPr>
        <p:blipFill>
          <a:blip r:embed="rId4"/>
          <a:stretch>
            <a:fillRect/>
          </a:stretch>
        </p:blipFill>
        <p:spPr>
          <a:xfrm>
            <a:off x="9144000" y="1234439"/>
            <a:ext cx="8412480" cy="8023860"/>
          </a:xfrm>
          <a:prstGeom prst="rect">
            <a:avLst/>
          </a:prstGeom>
        </p:spPr>
      </p:pic>
      <p:sp>
        <p:nvSpPr>
          <p:cNvPr id="11" name="TextBox 10"/>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59" r="0" b="-9259"/>
            </a:stretch>
          </a:blipFill>
        </p:spPr>
      </p:sp>
      <p:grpSp>
        <p:nvGrpSpPr>
          <p:cNvPr name="Group 3" id="3"/>
          <p:cNvGrpSpPr/>
          <p:nvPr/>
        </p:nvGrpSpPr>
        <p:grpSpPr>
          <a:xfrm rot="0">
            <a:off x="2657579" y="2473781"/>
            <a:ext cx="12972843" cy="5339439"/>
            <a:chOff x="0" y="0"/>
            <a:chExt cx="3416716" cy="1406272"/>
          </a:xfrm>
        </p:grpSpPr>
        <p:sp>
          <p:nvSpPr>
            <p:cNvPr name="Freeform 4" id="4"/>
            <p:cNvSpPr/>
            <p:nvPr/>
          </p:nvSpPr>
          <p:spPr>
            <a:xfrm flipH="false" flipV="false" rot="0">
              <a:off x="0" y="0"/>
              <a:ext cx="3416716" cy="1406272"/>
            </a:xfrm>
            <a:custGeom>
              <a:avLst/>
              <a:gdLst/>
              <a:ahLst/>
              <a:cxnLst/>
              <a:rect r="r" b="b" t="t" l="l"/>
              <a:pathLst>
                <a:path h="1406272" w="3416716">
                  <a:moveTo>
                    <a:pt x="0" y="0"/>
                  </a:moveTo>
                  <a:lnTo>
                    <a:pt x="3416716" y="0"/>
                  </a:lnTo>
                  <a:lnTo>
                    <a:pt x="3416716" y="1406272"/>
                  </a:lnTo>
                  <a:lnTo>
                    <a:pt x="0" y="1406272"/>
                  </a:ln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name="TextBox 5" id="5"/>
            <p:cNvSpPr txBox="true"/>
            <p:nvPr/>
          </p:nvSpPr>
          <p:spPr>
            <a:xfrm>
              <a:off x="0" y="-76200"/>
              <a:ext cx="3416716" cy="1482472"/>
            </a:xfrm>
            <a:prstGeom prst="rect">
              <a:avLst/>
            </a:prstGeom>
          </p:spPr>
          <p:txBody>
            <a:bodyPr anchor="ctr" rtlCol="false" tIns="50800" lIns="50800" bIns="50800" rIns="50800"/>
            <a:lstStyle/>
            <a:p>
              <a:pPr algn="ctr">
                <a:lnSpc>
                  <a:spcPts val="2800"/>
                </a:lnSpc>
              </a:pPr>
            </a:p>
          </p:txBody>
        </p:sp>
      </p:grpSp>
      <p:sp>
        <p:nvSpPr>
          <p:cNvPr name="TextBox 6" id="6"/>
          <p:cNvSpPr txBox="true"/>
          <p:nvPr/>
        </p:nvSpPr>
        <p:spPr>
          <a:xfrm rot="0">
            <a:off x="4250869" y="3259772"/>
            <a:ext cx="9786261" cy="1037299"/>
          </a:xfrm>
          <a:prstGeom prst="rect">
            <a:avLst/>
          </a:prstGeom>
        </p:spPr>
        <p:txBody>
          <a:bodyPr anchor="t" rtlCol="false" tIns="0" lIns="0" bIns="0" rIns="0">
            <a:spAutoFit/>
          </a:bodyPr>
          <a:lstStyle/>
          <a:p>
            <a:endParaRPr/>
          </a:p>
        </p:txBody>
      </p:sp>
      <p:sp>
        <p:nvSpPr>
          <p:cNvPr name="TextBox 7" id="7"/>
          <p:cNvSpPr txBox="true"/>
          <p:nvPr/>
        </p:nvSpPr>
        <p:spPr>
          <a:xfrm rot="0">
            <a:off x="3829843" y="4921375"/>
            <a:ext cx="10628314" cy="1916812"/>
          </a:xfrm>
          <a:prstGeom prst="rect">
            <a:avLst/>
          </a:prstGeom>
        </p:spPr>
        <p:txBody>
          <a:bodyPr anchor="t" rtlCol="false" tIns="0" lIns="0" bIns="0" rIns="0">
            <a:spAutoFit/>
          </a:bodyPr>
          <a:lstStyle/>
          <a:p>
            <a:endParaRPr/>
          </a:p>
        </p:txBody>
      </p:sp>
      <p:sp>
        <p:nvSpPr>
          <p:cNvPr id="8" name="TextBox 7"/>
          <p:cNvSpPr txBox="1"/>
          <p:nvPr/>
        </p:nvSpPr>
        <p:spPr>
          <a:xfrm>
            <a:off x="4250869" y="3259772"/>
            <a:ext cx="9786261" cy="1037299"/>
          </a:xfrm>
          <a:prstGeom prst="rect">
            <a:avLst/>
          </a:prstGeom>
          <a:noFill/>
        </p:spPr>
        <p:txBody>
          <a:bodyPr wrap="square">
            <a:spAutoFit/>
          </a:bodyPr>
          <a:lstStyle/>
          <a:p>
            <a:pPr algn="l"/>
            <a:r>
              <a:rPr sz="3600" b="1">
                <a:solidFill>
                  <a:srgbClr val="000000"/>
                </a:solidFill>
                <a:latin typeface="Segoe UI Black"/>
              </a:rPr>
              <a:t>Generative Chemistry: Collapsing Decades of Molecular Discovery into Days</a:t>
            </a:r>
          </a:p>
        </p:txBody>
      </p:sp>
      <p:cxnSp>
        <p:nvCxnSpPr>
          <p:cNvPr id="9" name="Connector 8"/>
          <p:cNvCxnSpPr/>
          <p:nvPr/>
        </p:nvCxnSpPr>
        <p:spPr>
          <a:xfrm>
            <a:off x="4250869" y="3985881"/>
            <a:ext cx="2935878"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3829843" y="4921375"/>
            <a:ext cx="10628314" cy="1916812"/>
          </a:xfrm>
          <a:prstGeom prst="rect">
            <a:avLst/>
          </a:prstGeom>
          <a:noFill/>
        </p:spPr>
        <p:txBody>
          <a:bodyPr wrap="square">
            <a:spAutoFit/>
          </a:bodyPr>
          <a:lstStyle/>
          <a:p>
            <a:pPr algn="l">
              <a:spcAft>
                <a:spcPts val="2800"/>
              </a:spcAft>
            </a:pPr>
            <a:r>
              <a:rPr sz="1700" b="0">
                <a:solidFill>
                  <a:srgbClr val="000000"/>
                </a:solidFill>
                <a:latin typeface="Segoe UI"/>
              </a:rPr>
              <a:t>In Silico Screening: Utilizing Graph Neural Networks (GNNs) to navigate a chemical space of 10^60 potential molecules instantly</a:t>
            </a:r>
          </a:p>
          <a:p>
            <a:pPr algn="l">
              <a:spcAft>
                <a:spcPts val="2800"/>
              </a:spcAft>
            </a:pPr>
            <a:r>
              <a:rPr sz="1700" b="0">
                <a:solidFill>
                  <a:srgbClr val="000000"/>
                </a:solidFill>
                <a:latin typeface="Segoe UI"/>
              </a:rPr>
              <a:t>Lead Optimization: Reducing the R&amp;D cycle for novel catalysts and performance polymers by 40-60% through Bayesian optimization</a:t>
            </a:r>
          </a:p>
          <a:p>
            <a:pPr algn="l">
              <a:spcAft>
                <a:spcPts val="2800"/>
              </a:spcAft>
            </a:pPr>
            <a:r>
              <a:rPr sz="1700" b="0">
                <a:solidFill>
                  <a:srgbClr val="000000"/>
                </a:solidFill>
                <a:latin typeface="Segoe UI"/>
              </a:rPr>
              <a:t>Property Prediction: Deploying Deep Learning to forecast solubility, toxicity, and thermal stability before a single gram is synthesized</a:t>
            </a:r>
          </a:p>
          <a:p>
            <a:pPr algn="l">
              <a:spcAft>
                <a:spcPts val="2800"/>
              </a:spcAft>
            </a:pPr>
            <a:r>
              <a:rPr sz="1700" b="0">
                <a:solidFill>
                  <a:srgbClr val="000000"/>
                </a:solidFill>
                <a:latin typeface="Segoe UI"/>
              </a:rPr>
              <a:t>Retrosynthetic Analysis: AI-driven identification of cost-effective and low-carbon reaction pathways with 90%+ experimental success rates</a:t>
            </a:r>
          </a:p>
        </p:txBody>
      </p:sp>
      <p:sp>
        <p:nvSpPr>
          <p:cNvPr id="11" name="TextBox 10"/>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sp>
        <p:nvSpPr>
          <p:cNvPr name="TextBox 3" id="3"/>
          <p:cNvSpPr txBox="true"/>
          <p:nvPr/>
        </p:nvSpPr>
        <p:spPr>
          <a:xfrm rot="0">
            <a:off x="4375865" y="1917083"/>
            <a:ext cx="9536271" cy="984211"/>
          </a:xfrm>
          <a:prstGeom prst="rect">
            <a:avLst/>
          </a:prstGeom>
        </p:spPr>
        <p:txBody>
          <a:bodyPr anchor="t" rtlCol="false" tIns="0" lIns="0" bIns="0" rIns="0">
            <a:spAutoFit/>
          </a:bodyPr>
          <a:lstStyle/>
          <a:p>
            <a:endParaRPr/>
          </a:p>
        </p:txBody>
      </p:sp>
      <p:grpSp>
        <p:nvGrpSpPr>
          <p:cNvPr name="Group 4" id="4"/>
          <p:cNvGrpSpPr/>
          <p:nvPr/>
        </p:nvGrpSpPr>
        <p:grpSpPr>
          <a:xfrm rot="0">
            <a:off x="5323627" y="3687193"/>
            <a:ext cx="7718298" cy="4887140"/>
            <a:chOff x="0" y="0"/>
            <a:chExt cx="10291064" cy="6516186"/>
          </a:xfrm>
        </p:grpSpPr>
        <p:grpSp>
          <p:nvGrpSpPr>
            <p:cNvPr name="Group 5" id="5"/>
            <p:cNvGrpSpPr/>
            <p:nvPr/>
          </p:nvGrpSpPr>
          <p:grpSpPr>
            <a:xfrm rot="0">
              <a:off x="0" y="0"/>
              <a:ext cx="10291064" cy="6516186"/>
              <a:chOff x="0" y="0"/>
              <a:chExt cx="1646931" cy="1042818"/>
            </a:xfrm>
          </p:grpSpPr>
          <p:sp>
            <p:nvSpPr>
              <p:cNvPr name="Freeform 6" id="6"/>
              <p:cNvSpPr/>
              <p:nvPr/>
            </p:nvSpPr>
            <p:spPr>
              <a:xfrm flipH="false" flipV="false" rot="0">
                <a:off x="0" y="0"/>
                <a:ext cx="1646931" cy="1042818"/>
              </a:xfrm>
              <a:custGeom>
                <a:avLst/>
                <a:gdLst/>
                <a:ahLst/>
                <a:cxnLst/>
                <a:rect r="r" b="b" t="t" l="l"/>
                <a:pathLst>
                  <a:path h="1042818" w="1646931">
                    <a:moveTo>
                      <a:pt x="14043" y="0"/>
                    </a:moveTo>
                    <a:lnTo>
                      <a:pt x="1632888" y="0"/>
                    </a:lnTo>
                    <a:cubicBezTo>
                      <a:pt x="1640644" y="0"/>
                      <a:pt x="1646931" y="6287"/>
                      <a:pt x="1646931" y="14043"/>
                    </a:cubicBezTo>
                    <a:lnTo>
                      <a:pt x="1646931" y="1028775"/>
                    </a:lnTo>
                    <a:cubicBezTo>
                      <a:pt x="1646931" y="1036531"/>
                      <a:pt x="1640644" y="1042818"/>
                      <a:pt x="1632888" y="1042818"/>
                    </a:cubicBezTo>
                    <a:lnTo>
                      <a:pt x="14043" y="1042818"/>
                    </a:lnTo>
                    <a:cubicBezTo>
                      <a:pt x="6287" y="1042818"/>
                      <a:pt x="0" y="1036531"/>
                      <a:pt x="0" y="1028775"/>
                    </a:cubicBezTo>
                    <a:lnTo>
                      <a:pt x="0" y="14043"/>
                    </a:lnTo>
                    <a:cubicBezTo>
                      <a:pt x="0" y="6287"/>
                      <a:pt x="6287" y="0"/>
                      <a:pt x="14043" y="0"/>
                    </a:cubicBezTo>
                    <a:close/>
                  </a:path>
                </a:pathLst>
              </a:custGeom>
              <a:gradFill rotWithShape="true">
                <a:gsLst>
                  <a:gs pos="0">
                    <a:srgbClr val="03295A">
                      <a:alpha val="62000"/>
                    </a:srgbClr>
                  </a:gs>
                  <a:gs pos="100000">
                    <a:srgbClr val="041468">
                      <a:alpha val="74500"/>
                    </a:srgbClr>
                  </a:gs>
                </a:gsLst>
                <a:lin ang="0"/>
              </a:gradFill>
              <a:ln w="38100" cap="sq">
                <a:gradFill>
                  <a:gsLst>
                    <a:gs pos="0">
                      <a:srgbClr val="10A5FF">
                        <a:alpha val="100000"/>
                      </a:srgbClr>
                    </a:gs>
                    <a:gs pos="100000">
                      <a:srgbClr val="041E4E">
                        <a:alpha val="100000"/>
                      </a:srgbClr>
                    </a:gs>
                  </a:gsLst>
                  <a:lin ang="2700000"/>
                </a:gradFill>
                <a:prstDash val="solid"/>
                <a:miter/>
              </a:ln>
            </p:spPr>
          </p:sp>
          <p:sp>
            <p:nvSpPr>
              <p:cNvPr name="TextBox 7" id="7"/>
              <p:cNvSpPr txBox="true"/>
              <p:nvPr/>
            </p:nvSpPr>
            <p:spPr>
              <a:xfrm>
                <a:off x="0" y="-66675"/>
                <a:ext cx="1646931" cy="1109493"/>
              </a:xfrm>
              <a:prstGeom prst="rect">
                <a:avLst/>
              </a:prstGeom>
            </p:spPr>
            <p:txBody>
              <a:bodyPr anchor="ctr" rtlCol="false" tIns="58084" lIns="58084" bIns="58084" rIns="58084"/>
              <a:lstStyle/>
              <a:p>
                <a:pPr algn="ctr">
                  <a:lnSpc>
                    <a:spcPts val="2799"/>
                  </a:lnSpc>
                </a:pPr>
              </a:p>
            </p:txBody>
          </p:sp>
        </p:grpSp>
        <p:sp>
          <p:nvSpPr>
            <p:cNvPr name="TextBox 8" id="8"/>
            <p:cNvSpPr txBox="true"/>
            <p:nvPr/>
          </p:nvSpPr>
          <p:spPr>
            <a:xfrm rot="0">
              <a:off x="634951" y="809577"/>
              <a:ext cx="8619462" cy="4249129"/>
            </a:xfrm>
            <a:prstGeom prst="rect">
              <a:avLst/>
            </a:prstGeom>
          </p:spPr>
          <p:txBody>
            <a:bodyPr anchor="t" rtlCol="false" tIns="0" lIns="0" bIns="0" rIns="0">
              <a:spAutoFit/>
            </a:bodyPr>
            <a:lstStyle/>
            <a:p>
              <a:pPr algn="l" marL="430219" indent="-215110" lvl="1">
                <a:lnSpc>
                  <a:spcPts val="2789"/>
                </a:lnSpc>
                <a:buFont typeface="Arial"/>
                <a:buChar char="•"/>
              </a:pPr>
              <a:r>
                <a:rPr lang="en-US" sz="1992" spc="83" strike="noStrike" u="none">
                  <a:solidFill>
                    <a:srgbClr val="FFFFFF"/>
                  </a:solidFill>
                  <a:latin typeface="Telegraf"/>
                  <a:ea typeface="Telegraf"/>
                  <a:cs typeface="Telegraf"/>
                  <a:sym typeface="Telegraf"/>
                </a:rPr>
                <a:t>Lorem ipsum dolor sit amet, consectetur adipiscing sagittis elit. Quisque facilisis tincidunt risus sit amet sagittis. Praesent tempus vitae felis maximus pretium.</a:t>
              </a:r>
            </a:p>
            <a:p>
              <a:pPr algn="l">
                <a:lnSpc>
                  <a:spcPts val="2789"/>
                </a:lnSpc>
              </a:pPr>
            </a:p>
            <a:p>
              <a:pPr algn="l" marL="430219" indent="-215110" lvl="1">
                <a:lnSpc>
                  <a:spcPts val="2789"/>
                </a:lnSpc>
                <a:buFont typeface="Arial"/>
                <a:buChar char="•"/>
              </a:pPr>
              <a:r>
                <a:rPr lang="en-US" sz="1992" spc="83" strike="noStrike" u="none">
                  <a:solidFill>
                    <a:srgbClr val="FFFFFF"/>
                  </a:solidFill>
                  <a:latin typeface="Telegraf"/>
                  <a:ea typeface="Telegraf"/>
                  <a:cs typeface="Telegraf"/>
                  <a:sym typeface="Telegraf"/>
                </a:rPr>
                <a:t>Lorem ipsum dolor sit amet, consectetur adipiscing sagittis elit. Quisque facilisis tincidunt risus sit amet sagittis. Praesent tempus vitae felis maximus pretiu.</a:t>
              </a:r>
            </a:p>
          </p:txBody>
        </p:sp>
      </p:grpSp>
      <p:sp>
        <p:nvSpPr>
          <p:cNvPr id="9" name="Rectangle 8"/>
          <p:cNvSpPr/>
          <p:nvPr/>
        </p:nvSpPr>
        <p:spPr>
          <a:xfrm>
            <a:off x="914400" y="1028700"/>
            <a:ext cx="16459200" cy="8229600"/>
          </a:xfrm>
          <a:prstGeom prst="rect">
            <a:avLst/>
          </a:prstGeom>
          <a:solidFill>
            <a:srgbClr val="F5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375865" y="1917083"/>
            <a:ext cx="9536271" cy="984211"/>
          </a:xfrm>
          <a:prstGeom prst="rect">
            <a:avLst/>
          </a:prstGeom>
          <a:noFill/>
        </p:spPr>
        <p:txBody>
          <a:bodyPr wrap="square">
            <a:spAutoFit/>
          </a:bodyPr>
          <a:lstStyle/>
          <a:p>
            <a:pPr algn="l"/>
            <a:r>
              <a:rPr sz="3600" b="1">
                <a:solidFill>
                  <a:srgbClr val="000000"/>
                </a:solidFill>
                <a:latin typeface="Segoe UI Black"/>
              </a:rPr>
              <a:t>Operational Intelligence: Maximizing Yield and Asset Reliability</a:t>
            </a:r>
          </a:p>
        </p:txBody>
      </p:sp>
      <p:cxnSp>
        <p:nvCxnSpPr>
          <p:cNvPr id="11" name="Connector 10"/>
          <p:cNvCxnSpPr/>
          <p:nvPr/>
        </p:nvCxnSpPr>
        <p:spPr>
          <a:xfrm>
            <a:off x="4375865" y="2606030"/>
            <a:ext cx="2860881"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914400" y="3107034"/>
            <a:ext cx="9536271" cy="6562746"/>
          </a:xfrm>
          <a:prstGeom prst="rect">
            <a:avLst/>
          </a:prstGeom>
          <a:noFill/>
        </p:spPr>
        <p:txBody>
          <a:bodyPr wrap="square">
            <a:spAutoFit/>
          </a:bodyPr>
          <a:lstStyle/>
          <a:p>
            <a:pPr algn="l">
              <a:spcAft>
                <a:spcPts val="2800"/>
              </a:spcAft>
            </a:pPr>
            <a:r>
              <a:rPr sz="2000" b="0">
                <a:solidFill>
                  <a:srgbClr val="000000"/>
                </a:solidFill>
                <a:latin typeface="Segoe UI"/>
              </a:rPr>
              <a:t>20% reduction in unplanned downtime via ML-driven sensor fusion and acoustic monitoring for predictive maintenance</a:t>
            </a:r>
          </a:p>
          <a:p>
            <a:pPr algn="l">
              <a:spcAft>
                <a:spcPts val="2800"/>
              </a:spcAft>
            </a:pPr>
            <a:r>
              <a:rPr sz="2000" b="0">
                <a:solidFill>
                  <a:srgbClr val="000000"/>
                </a:solidFill>
                <a:latin typeface="Segoe UI"/>
              </a:rPr>
              <a:t>5-10% yield uplift through Reinforcement Learning (RL) applied to non-linear batch reactor temperature and pressure controls</a:t>
            </a:r>
          </a:p>
          <a:p>
            <a:pPr algn="l">
              <a:spcAft>
                <a:spcPts val="2800"/>
              </a:spcAft>
            </a:pPr>
            <a:r>
              <a:rPr sz="2000" b="0">
                <a:solidFill>
                  <a:srgbClr val="000000"/>
                </a:solidFill>
                <a:latin typeface="Segoe UI"/>
              </a:rPr>
              <a:t>15% reduction in Scope 1 energy intensity via AI-managed thermal integration and steam system optimization</a:t>
            </a:r>
          </a:p>
          <a:p>
            <a:pPr algn="l">
              <a:spcAft>
                <a:spcPts val="2800"/>
              </a:spcAft>
            </a:pPr>
            <a:r>
              <a:rPr sz="2000" b="0">
                <a:solidFill>
                  <a:srgbClr val="000000"/>
                </a:solidFill>
                <a:latin typeface="Segoe UI"/>
              </a:rPr>
              <a:t>High-Fidelity Digital Twins: Simulating 'What-If' operational scenarios to de-bottleneck production without risking physical assets</a:t>
            </a:r>
          </a:p>
        </p:txBody>
      </p:sp>
      <p:sp>
        <p:nvSpPr>
          <p:cNvPr id="13" name="TextBox 12"/>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4</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false" rot="0">
            <a:off x="0" y="0"/>
            <a:ext cx="18288000" cy="10287000"/>
          </a:xfrm>
          <a:custGeom>
            <a:avLst/>
            <a:gdLst/>
            <a:ahLst/>
            <a:cxnLst/>
            <a:rect r="r" b="b" t="t" l="l"/>
            <a:pathLst>
              <a:path h="10287000" w="18288000">
                <a:moveTo>
                  <a:pt x="18288000" y="0"/>
                </a:moveTo>
                <a:lnTo>
                  <a:pt x="0" y="0"/>
                </a:lnTo>
                <a:lnTo>
                  <a:pt x="0" y="10287000"/>
                </a:lnTo>
                <a:lnTo>
                  <a:pt x="18288000" y="10287000"/>
                </a:lnTo>
                <a:lnTo>
                  <a:pt x="18288000" y="0"/>
                </a:lnTo>
                <a:close/>
              </a:path>
            </a:pathLst>
          </a:custGeom>
          <a:blipFill>
            <a:blip r:embed="rId2"/>
            <a:stretch>
              <a:fillRect l="0" t="-18518" r="0" b="0"/>
            </a:stretch>
          </a:blipFill>
        </p:spPr>
      </p:sp>
      <p:sp>
        <p:nvSpPr>
          <p:cNvPr name="Freeform 3" id="3"/>
          <p:cNvSpPr/>
          <p:nvPr/>
        </p:nvSpPr>
        <p:spPr>
          <a:xfrm flipH="false" flipV="false" rot="0">
            <a:off x="10939039" y="1194461"/>
            <a:ext cx="6872146" cy="9092539"/>
          </a:xfrm>
          <a:custGeom>
            <a:avLst/>
            <a:gdLst/>
            <a:ahLst/>
            <a:cxnLst/>
            <a:rect r="r" b="b" t="t" l="l"/>
            <a:pathLst>
              <a:path h="9092539" w="6872146">
                <a:moveTo>
                  <a:pt x="0" y="0"/>
                </a:moveTo>
                <a:lnTo>
                  <a:pt x="6872146" y="0"/>
                </a:lnTo>
                <a:lnTo>
                  <a:pt x="6872146" y="9092539"/>
                </a:lnTo>
                <a:lnTo>
                  <a:pt x="0" y="9092539"/>
                </a:lnTo>
                <a:lnTo>
                  <a:pt x="0" y="0"/>
                </a:lnTo>
                <a:close/>
              </a:path>
            </a:pathLst>
          </a:custGeom>
          <a:blipFill>
            <a:blip r:embed="rId3"/>
            <a:stretch>
              <a:fillRect l="-76413" t="0" r="0" b="0"/>
            </a:stretch>
          </a:blipFill>
        </p:spPr>
      </p:sp>
      <p:sp>
        <p:nvSpPr>
          <p:cNvPr name="TextBox 4" id="4"/>
          <p:cNvSpPr txBox="true"/>
          <p:nvPr/>
        </p:nvSpPr>
        <p:spPr>
          <a:xfrm rot="0">
            <a:off x="2032183" y="1220222"/>
            <a:ext cx="9536271" cy="1486524"/>
          </a:xfrm>
          <a:prstGeom prst="rect">
            <a:avLst/>
          </a:prstGeom>
        </p:spPr>
        <p:txBody>
          <a:bodyPr anchor="t" rtlCol="false" tIns="0" lIns="0" bIns="0" rIns="0">
            <a:spAutoFit/>
          </a:bodyPr>
          <a:lstStyle/>
          <a:p>
            <a:endParaRPr/>
          </a:p>
        </p:txBody>
      </p:sp>
      <p:sp>
        <p:nvSpPr>
          <p:cNvPr name="TextBox 5" id="5"/>
          <p:cNvSpPr txBox="true"/>
          <p:nvPr/>
        </p:nvSpPr>
        <p:spPr>
          <a:xfrm rot="0">
            <a:off x="2032183" y="3087746"/>
            <a:ext cx="8733675" cy="1191393"/>
          </a:xfrm>
          <a:prstGeom prst="rect">
            <a:avLst/>
          </a:prstGeom>
        </p:spPr>
        <p:txBody>
          <a:bodyPr anchor="t" rtlCol="false" tIns="0" lIns="0" bIns="0" rIns="0">
            <a:spAutoFit/>
          </a:bodyPr>
          <a:lstStyle/>
          <a:p>
            <a:endParaRPr/>
          </a:p>
        </p:txBody>
      </p:sp>
      <p:sp>
        <p:nvSpPr>
          <p:cNvPr name="TextBox 6" id="6"/>
          <p:cNvSpPr txBox="true"/>
          <p:nvPr/>
        </p:nvSpPr>
        <p:spPr>
          <a:xfrm rot="0">
            <a:off x="2032183" y="4604149"/>
            <a:ext cx="8733675" cy="1191393"/>
          </a:xfrm>
          <a:prstGeom prst="rect">
            <a:avLst/>
          </a:prstGeom>
        </p:spPr>
        <p:txBody>
          <a:bodyPr anchor="t" rtlCol="false" tIns="0" lIns="0" bIns="0" rIns="0">
            <a:spAutoFit/>
          </a:bodyPr>
          <a:lstStyle/>
          <a:p>
            <a:endParaRPr/>
          </a:p>
        </p:txBody>
      </p:sp>
      <p:sp>
        <p:nvSpPr>
          <p:cNvPr name="TextBox 7" id="7"/>
          <p:cNvSpPr txBox="true"/>
          <p:nvPr/>
        </p:nvSpPr>
        <p:spPr>
          <a:xfrm rot="0">
            <a:off x="2032183" y="6173411"/>
            <a:ext cx="8733675" cy="1191393"/>
          </a:xfrm>
          <a:prstGeom prst="rect">
            <a:avLst/>
          </a:prstGeom>
        </p:spPr>
        <p:txBody>
          <a:bodyPr anchor="t" rtlCol="false" tIns="0" lIns="0" bIns="0" rIns="0">
            <a:spAutoFit/>
          </a:bodyPr>
          <a:lstStyle/>
          <a:p>
            <a:endParaRPr/>
          </a:p>
        </p:txBody>
      </p:sp>
      <p:sp>
        <p:nvSpPr>
          <p:cNvPr name="TextBox 8" id="8"/>
          <p:cNvSpPr txBox="true"/>
          <p:nvPr/>
        </p:nvSpPr>
        <p:spPr>
          <a:xfrm rot="0">
            <a:off x="2032183" y="7688653"/>
            <a:ext cx="8733675" cy="1191393"/>
          </a:xfrm>
          <a:prstGeom prst="rect">
            <a:avLst/>
          </a:prstGeom>
        </p:spPr>
        <p:txBody>
          <a:bodyPr anchor="t" rtlCol="false" tIns="0" lIns="0" bIns="0" rIns="0">
            <a:spAutoFit/>
          </a:bodyPr>
          <a:lstStyle/>
          <a:p>
            <a:endParaRPr/>
          </a:p>
        </p:txBody>
      </p:sp>
      <p:sp>
        <p:nvSpPr>
          <p:cNvPr id="9" name="TextBox 8"/>
          <p:cNvSpPr txBox="1"/>
          <p:nvPr/>
        </p:nvSpPr>
        <p:spPr>
          <a:xfrm>
            <a:off x="2032182" y="1220222"/>
            <a:ext cx="9536271" cy="1486524"/>
          </a:xfrm>
          <a:prstGeom prst="rect">
            <a:avLst/>
          </a:prstGeom>
          <a:noFill/>
        </p:spPr>
        <p:txBody>
          <a:bodyPr wrap="square">
            <a:spAutoFit/>
          </a:bodyPr>
          <a:lstStyle/>
          <a:p>
            <a:pPr algn="l"/>
            <a:r>
              <a:rPr sz="3600" b="1">
                <a:solidFill>
                  <a:srgbClr val="000000"/>
                </a:solidFill>
                <a:latin typeface="Segoe UI Black"/>
              </a:rPr>
              <a:t>Sustainable Synthesis: AI as the Engine for Green Chemistry</a:t>
            </a:r>
          </a:p>
        </p:txBody>
      </p:sp>
      <p:cxnSp>
        <p:nvCxnSpPr>
          <p:cNvPr id="10" name="Connector 9"/>
          <p:cNvCxnSpPr/>
          <p:nvPr/>
        </p:nvCxnSpPr>
        <p:spPr>
          <a:xfrm>
            <a:off x="2032182" y="2260788"/>
            <a:ext cx="2860882" cy="0"/>
          </a:xfrm>
          <a:prstGeom prst="line">
            <a:avLst/>
          </a:prstGeom>
          <a:ln w="25400">
            <a:solidFill>
              <a:srgbClr val="FFFFFF"/>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2032182" y="3087746"/>
            <a:ext cx="8733675" cy="1191393"/>
          </a:xfrm>
          <a:prstGeom prst="rect">
            <a:avLst/>
          </a:prstGeom>
          <a:noFill/>
        </p:spPr>
        <p:txBody>
          <a:bodyPr wrap="square">
            <a:spAutoFit/>
          </a:bodyPr>
          <a:lstStyle/>
          <a:p>
            <a:pPr algn="l">
              <a:spcAft>
                <a:spcPts val="2800"/>
              </a:spcAft>
            </a:pPr>
            <a:r>
              <a:rPr sz="1700" b="0">
                <a:solidFill>
                  <a:srgbClr val="000000"/>
                </a:solidFill>
                <a:latin typeface="Segoe UI"/>
              </a:rPr>
              <a:t>Solvent Engineering: AI-optimized selection of bio-based solvents to eliminate VOCs and hazardous waste streams</a:t>
            </a:r>
          </a:p>
          <a:p>
            <a:pPr algn="l">
              <a:spcAft>
                <a:spcPts val="2800"/>
              </a:spcAft>
            </a:pPr>
            <a:r>
              <a:rPr sz="1700" b="0">
                <a:solidFill>
                  <a:srgbClr val="000000"/>
                </a:solidFill>
                <a:latin typeface="Segoe UI"/>
              </a:rPr>
              <a:t>Carbon Transparency: Real-time, automated tracking of Product Carbon Footprints (PCF) across complex Tier 1-3 chemical supply chains</a:t>
            </a:r>
          </a:p>
          <a:p>
            <a:pPr algn="l">
              <a:spcAft>
                <a:spcPts val="2800"/>
              </a:spcAft>
            </a:pPr>
            <a:r>
              <a:rPr sz="1700" b="0">
                <a:solidFill>
                  <a:srgbClr val="000000"/>
                </a:solidFill>
                <a:latin typeface="Segoe UI"/>
              </a:rPr>
              <a:t>Circular Polymeric Upcycling: Machine Vision and molecular sorting algorithms to increase purity in post-consumer plastic feedstock</a:t>
            </a:r>
          </a:p>
          <a:p>
            <a:pPr algn="l">
              <a:spcAft>
                <a:spcPts val="2800"/>
              </a:spcAft>
            </a:pPr>
            <a:r>
              <a:rPr sz="1700" b="0">
                <a:solidFill>
                  <a:srgbClr val="000000"/>
                </a:solidFill>
                <a:latin typeface="Segoe UI"/>
              </a:rPr>
              <a:t>Waste Minimization: Precision dosing and real-time reaction kinetics monitoring to achieve near-theoretical maximum selectivity</a:t>
            </a:r>
          </a:p>
        </p:txBody>
      </p:sp>
      <p:sp>
        <p:nvSpPr>
          <p:cNvPr id="12" name="TextBox 11"/>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5</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9222" r="0" b="-9222"/>
            </a:stretch>
          </a:blipFill>
        </p:spPr>
      </p:sp>
      <p:grpSp>
        <p:nvGrpSpPr>
          <p:cNvPr name="Group 3" id="3"/>
          <p:cNvGrpSpPr/>
          <p:nvPr/>
        </p:nvGrpSpPr>
        <p:grpSpPr>
          <a:xfrm rot="0">
            <a:off x="473596" y="313393"/>
            <a:ext cx="17501882" cy="5940392"/>
            <a:chOff x="0" y="0"/>
            <a:chExt cx="2564431" cy="870405"/>
          </a:xfrm>
        </p:grpSpPr>
        <p:sp>
          <p:nvSpPr>
            <p:cNvPr name="Freeform 4" id="4"/>
            <p:cNvSpPr/>
            <p:nvPr/>
          </p:nvSpPr>
          <p:spPr>
            <a:xfrm flipH="false" flipV="false" rot="0">
              <a:off x="0" y="0"/>
              <a:ext cx="2564431" cy="870405"/>
            </a:xfrm>
            <a:custGeom>
              <a:avLst/>
              <a:gdLst/>
              <a:ahLst/>
              <a:cxnLst/>
              <a:rect r="r" b="b" t="t" l="l"/>
              <a:pathLst>
                <a:path h="870405" w="2564431">
                  <a:moveTo>
                    <a:pt x="17252" y="0"/>
                  </a:moveTo>
                  <a:lnTo>
                    <a:pt x="2547179" y="0"/>
                  </a:lnTo>
                  <a:cubicBezTo>
                    <a:pt x="2551755" y="0"/>
                    <a:pt x="2556143" y="1818"/>
                    <a:pt x="2559378" y="5053"/>
                  </a:cubicBezTo>
                  <a:cubicBezTo>
                    <a:pt x="2562613" y="8288"/>
                    <a:pt x="2564431" y="12676"/>
                    <a:pt x="2564431" y="17252"/>
                  </a:cubicBezTo>
                  <a:lnTo>
                    <a:pt x="2564431" y="853153"/>
                  </a:lnTo>
                  <a:cubicBezTo>
                    <a:pt x="2564431" y="857729"/>
                    <a:pt x="2562613" y="862117"/>
                    <a:pt x="2559378" y="865352"/>
                  </a:cubicBezTo>
                  <a:cubicBezTo>
                    <a:pt x="2556143" y="868587"/>
                    <a:pt x="2551755" y="870405"/>
                    <a:pt x="2547179" y="870405"/>
                  </a:cubicBezTo>
                  <a:lnTo>
                    <a:pt x="17252" y="870405"/>
                  </a:lnTo>
                  <a:cubicBezTo>
                    <a:pt x="12676" y="870405"/>
                    <a:pt x="8288" y="868587"/>
                    <a:pt x="5053" y="865352"/>
                  </a:cubicBezTo>
                  <a:cubicBezTo>
                    <a:pt x="1818" y="862117"/>
                    <a:pt x="0" y="857729"/>
                    <a:pt x="0" y="853153"/>
                  </a:cubicBezTo>
                  <a:lnTo>
                    <a:pt x="0" y="17252"/>
                  </a:lnTo>
                  <a:cubicBezTo>
                    <a:pt x="0" y="12676"/>
                    <a:pt x="1818" y="8288"/>
                    <a:pt x="5053" y="5053"/>
                  </a:cubicBezTo>
                  <a:cubicBezTo>
                    <a:pt x="8288" y="1818"/>
                    <a:pt x="12676" y="0"/>
                    <a:pt x="17252" y="0"/>
                  </a:cubicBezTo>
                  <a:close/>
                </a:path>
              </a:pathLst>
            </a:custGeom>
            <a:blipFill>
              <a:blip r:embed="rId3"/>
              <a:stretch>
                <a:fillRect l="0" t="-48146" r="0" b="-48146"/>
              </a:stretch>
            </a:blipFill>
            <a:ln cap="rnd">
              <a:noFill/>
              <a:prstDash val="solid"/>
              <a:round/>
            </a:ln>
          </p:spPr>
        </p:sp>
      </p:grpSp>
      <p:sp>
        <p:nvSpPr>
          <p:cNvPr name="TextBox 5" id="5"/>
          <p:cNvSpPr txBox="true"/>
          <p:nvPr/>
        </p:nvSpPr>
        <p:spPr>
          <a:xfrm rot="0">
            <a:off x="1203377" y="6434821"/>
            <a:ext cx="6795667" cy="909400"/>
          </a:xfrm>
          <a:prstGeom prst="rect">
            <a:avLst/>
          </a:prstGeom>
        </p:spPr>
        <p:txBody>
          <a:bodyPr anchor="t" rtlCol="false" tIns="0" lIns="0" bIns="0" rIns="0">
            <a:spAutoFit/>
          </a:bodyPr>
          <a:lstStyle/>
          <a:p>
            <a:endParaRPr/>
          </a:p>
        </p:txBody>
      </p:sp>
      <p:sp>
        <p:nvSpPr>
          <p:cNvPr name="TextBox 6" id="6"/>
          <p:cNvSpPr txBox="true"/>
          <p:nvPr/>
        </p:nvSpPr>
        <p:spPr>
          <a:xfrm rot="0">
            <a:off x="1203377" y="7553833"/>
            <a:ext cx="15787808" cy="2126777"/>
          </a:xfrm>
          <a:prstGeom prst="rect">
            <a:avLst/>
          </a:prstGeom>
        </p:spPr>
        <p:txBody>
          <a:bodyPr anchor="t" rtlCol="false" tIns="0" lIns="0" bIns="0" rIns="0">
            <a:spAutoFit/>
          </a:bodyPr>
          <a:lstStyle/>
          <a:p>
            <a:endParaRPr/>
          </a:p>
        </p:txBody>
      </p:sp>
      <p:sp>
        <p:nvSpPr>
          <p:cNvPr id="7" name="Rectangle 6"/>
          <p:cNvSpPr/>
          <p:nvPr/>
        </p:nvSpPr>
        <p:spPr>
          <a:xfrm>
            <a:off x="914400" y="1028700"/>
            <a:ext cx="16459200" cy="8229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63040" y="3291840"/>
            <a:ext cx="15361920" cy="2263140"/>
          </a:xfrm>
          <a:prstGeom prst="rect">
            <a:avLst/>
          </a:prstGeom>
          <a:noFill/>
        </p:spPr>
        <p:txBody>
          <a:bodyPr wrap="square">
            <a:spAutoFit/>
          </a:bodyPr>
          <a:lstStyle/>
          <a:p>
            <a:pPr algn="ctr"/>
            <a:r>
              <a:rPr sz="5200" b="1">
                <a:solidFill>
                  <a:srgbClr val="FFFFFF"/>
                </a:solidFill>
                <a:latin typeface="Segoe UI Black"/>
              </a:rPr>
              <a:t>The Autonomous Lab: Forging the Future of Self-Optimizing Chemistry</a:t>
            </a:r>
          </a:p>
        </p:txBody>
      </p:sp>
      <p:sp>
        <p:nvSpPr>
          <p:cNvPr id="9" name="TextBox 8"/>
          <p:cNvSpPr txBox="1"/>
          <p:nvPr/>
        </p:nvSpPr>
        <p:spPr>
          <a:xfrm>
            <a:off x="914400" y="5760720"/>
            <a:ext cx="15361920" cy="3909060"/>
          </a:xfrm>
          <a:prstGeom prst="rect">
            <a:avLst/>
          </a:prstGeom>
          <a:noFill/>
        </p:spPr>
        <p:txBody>
          <a:bodyPr wrap="square">
            <a:spAutoFit/>
          </a:bodyPr>
          <a:lstStyle/>
          <a:p>
            <a:pPr algn="ctr">
              <a:spcAft>
                <a:spcPts val="2800"/>
              </a:spcAft>
            </a:pPr>
            <a:r>
              <a:rPr sz="2600" b="0">
                <a:solidFill>
                  <a:srgbClr val="DCE6F5"/>
                </a:solidFill>
                <a:latin typeface="Segoe UI"/>
              </a:rPr>
              <a:t>Closed-Loop Synthesis: AI-orchestrated robotic 'Self-Driving Labs' that design, execute, and learn from experiments 24/7</a:t>
            </a:r>
          </a:p>
          <a:p>
            <a:pPr algn="ctr">
              <a:spcAft>
                <a:spcPts val="2800"/>
              </a:spcAft>
            </a:pPr>
            <a:r>
              <a:rPr sz="2600" b="0">
                <a:solidFill>
                  <a:srgbClr val="DCE6F5"/>
                </a:solidFill>
                <a:latin typeface="Segoe UI"/>
              </a:rPr>
              <a:t>Unified Data Fabrics: Breaking silos between lab notebooks, LIMS, and manufacturing execution systems (MES) for global insight</a:t>
            </a:r>
          </a:p>
          <a:p>
            <a:pPr algn="ctr">
              <a:spcAft>
                <a:spcPts val="2800"/>
              </a:spcAft>
            </a:pPr>
            <a:r>
              <a:rPr sz="2600" b="0">
                <a:solidFill>
                  <a:srgbClr val="DCE6F5"/>
                </a:solidFill>
                <a:latin typeface="Segoe UI"/>
              </a:rPr>
              <a:t>Competitive Imperative: Early AI adopters in the chemical sector are projected to realize a 2x margin advantage over laggards by 2030</a:t>
            </a:r>
          </a:p>
        </p:txBody>
      </p:sp>
      <p:sp>
        <p:nvSpPr>
          <p:cNvPr id="10" name="TextBox 9"/>
          <p:cNvSpPr txBox="1"/>
          <p:nvPr/>
        </p:nvSpPr>
        <p:spPr>
          <a:xfrm>
            <a:off x="17739360" y="9829800"/>
            <a:ext cx="457200" cy="274320"/>
          </a:xfrm>
          <a:prstGeom prst="rect">
            <a:avLst/>
          </a:prstGeom>
          <a:noFill/>
        </p:spPr>
        <p:txBody>
          <a:bodyPr wrap="square">
            <a:spAutoFit/>
          </a:bodyPr>
          <a:lstStyle/>
          <a:p>
            <a:pPr algn="r"/>
            <a:r>
              <a:rPr sz="1000" b="0">
                <a:solidFill>
                  <a:srgbClr val="969696"/>
                </a:solidFill>
                <a:latin typeface="Segoe UI"/>
              </a:rPr>
              <a:t>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DAHEAPACS3g</dc:identifier>
  <dcterms:modified xsi:type="dcterms:W3CDTF">2011-08-01T06:04:30Z</dcterms:modified>
  <cp:revision>1</cp:revision>
  <dc:title>Lorem ipsum dolor sit amet, consectetur adipiscing elit. Duis vel dolor ante. Nullam feugiat egestas elit et vehicula. Proin venenatis, orci nec cursus tristique, nulla risus mattis eros, id accumsan massa elit eu augue. Mauris massa ipsum, pharetra id</dc:title>
</cp:coreProperties>
</file>