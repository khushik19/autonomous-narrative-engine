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5"/>
    <p:sldId id="264" r:id="rId16"/>
    <p:sldId id="265" r:id="rId17"/>
  </p:sldIdLst>
  <p:sldSz cx="18288000" cy="10287000"/>
  <p:notesSz cx="6858000" cy="9144000"/>
  <p:embeddedFontLst>
    <p:embeddedFont>
      <p:font typeface="Bodoni FLF Bold" charset="1" panose="02000803080000020003"/>
      <p:regular r:id="rId13"/>
    </p:embeddedFont>
    <p:embeddedFont>
      <p:font typeface="TT Commons Pro" charset="1" panose="020B01030301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5693" y="753264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4637582" y="0"/>
                </a:moveTo>
                <a:lnTo>
                  <a:pt x="0" y="0"/>
                </a:lnTo>
                <a:lnTo>
                  <a:pt x="0" y="4114800"/>
                </a:lnTo>
                <a:lnTo>
                  <a:pt x="4637582" y="4114800"/>
                </a:lnTo>
                <a:lnTo>
                  <a:pt x="46375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856111" y="-136044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4114800"/>
                </a:moveTo>
                <a:lnTo>
                  <a:pt x="4637582" y="4114800"/>
                </a:lnTo>
                <a:lnTo>
                  <a:pt x="46375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05693" y="-1259583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59"/>
                </a:lnTo>
                <a:lnTo>
                  <a:pt x="0" y="34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40788" y="3767245"/>
            <a:ext cx="10606424" cy="178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grpSp>
        <p:nvGrpSpPr>
          <p:cNvPr name="Group 6" id="6"/>
          <p:cNvGrpSpPr/>
          <p:nvPr/>
        </p:nvGrpSpPr>
        <p:grpSpPr>
          <a:xfrm rot="0">
            <a:off x="5898271" y="5494643"/>
            <a:ext cx="6491457" cy="748887"/>
            <a:chOff x="0" y="0"/>
            <a:chExt cx="8655277" cy="99851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655277" cy="998516"/>
              <a:chOff x="0" y="0"/>
              <a:chExt cx="1335691" cy="15409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335691" cy="154092"/>
              </a:xfrm>
              <a:custGeom>
                <a:avLst/>
                <a:gdLst/>
                <a:ahLst/>
                <a:cxnLst/>
                <a:rect r="r" b="b" t="t" l="l"/>
                <a:pathLst>
                  <a:path h="154092" w="1335691">
                    <a:moveTo>
                      <a:pt x="32611" y="0"/>
                    </a:moveTo>
                    <a:lnTo>
                      <a:pt x="1303080" y="0"/>
                    </a:lnTo>
                    <a:cubicBezTo>
                      <a:pt x="1311729" y="0"/>
                      <a:pt x="1320024" y="3436"/>
                      <a:pt x="1326139" y="9552"/>
                    </a:cubicBezTo>
                    <a:cubicBezTo>
                      <a:pt x="1332255" y="15667"/>
                      <a:pt x="1335691" y="23962"/>
                      <a:pt x="1335691" y="32611"/>
                    </a:cubicBezTo>
                    <a:lnTo>
                      <a:pt x="1335691" y="121481"/>
                    </a:lnTo>
                    <a:cubicBezTo>
                      <a:pt x="1335691" y="130130"/>
                      <a:pt x="1332255" y="138425"/>
                      <a:pt x="1326139" y="144540"/>
                    </a:cubicBezTo>
                    <a:cubicBezTo>
                      <a:pt x="1320024" y="150656"/>
                      <a:pt x="1311729" y="154092"/>
                      <a:pt x="1303080" y="154092"/>
                    </a:cubicBezTo>
                    <a:lnTo>
                      <a:pt x="32611" y="154092"/>
                    </a:lnTo>
                    <a:cubicBezTo>
                      <a:pt x="23962" y="154092"/>
                      <a:pt x="15667" y="150656"/>
                      <a:pt x="9552" y="144540"/>
                    </a:cubicBezTo>
                    <a:cubicBezTo>
                      <a:pt x="3436" y="138425"/>
                      <a:pt x="0" y="130130"/>
                      <a:pt x="0" y="121481"/>
                    </a:cubicBezTo>
                    <a:lnTo>
                      <a:pt x="0" y="32611"/>
                    </a:lnTo>
                    <a:cubicBezTo>
                      <a:pt x="0" y="23962"/>
                      <a:pt x="3436" y="15667"/>
                      <a:pt x="9552" y="9552"/>
                    </a:cubicBezTo>
                    <a:cubicBezTo>
                      <a:pt x="15667" y="3436"/>
                      <a:pt x="23962" y="0"/>
                      <a:pt x="3261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335691" cy="201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6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815760" y="90106"/>
              <a:ext cx="7023756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By Francisco Andrade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057574" y="8097924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59"/>
                </a:lnTo>
                <a:lnTo>
                  <a:pt x="0" y="34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TextBox 11"/>
          <p:cNvSpPr txBox="1"/>
          <p:nvPr/>
        </p:nvSpPr>
        <p:spPr>
          <a:xfrm>
            <a:off x="3840788" y="3767245"/>
            <a:ext cx="10606424" cy="1786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Segoe UI Black"/>
              </a:rPr>
              <a:t>Reinventing Bengaluru: From a Monolithic BBMP to a Five-Corporation 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788" y="5018070"/>
            <a:ext cx="3181927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759879"/>
            <a:ext cx="10606424" cy="390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Segoe UI"/>
              </a:rPr>
              <a:t>A strategic roadmap for the decentralization of India's tech capital to enhance administrative agility, urban governance, and citizen-centric service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4785" y="7963260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60"/>
                </a:lnTo>
                <a:lnTo>
                  <a:pt x="0" y="344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1424" y="3951238"/>
            <a:ext cx="11285152" cy="250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4" id="4"/>
          <p:cNvSpPr txBox="true"/>
          <p:nvPr/>
        </p:nvSpPr>
        <p:spPr>
          <a:xfrm rot="0">
            <a:off x="4576842" y="1989742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AutoShape 5" id="5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4722092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0" y="3631872"/>
                </a:moveTo>
                <a:lnTo>
                  <a:pt x="4093298" y="3631872"/>
                </a:lnTo>
                <a:lnTo>
                  <a:pt x="4093298" y="0"/>
                </a:lnTo>
                <a:lnTo>
                  <a:pt x="0" y="0"/>
                </a:lnTo>
                <a:lnTo>
                  <a:pt x="0" y="36318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576842" y="1989742"/>
            <a:ext cx="9134316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Segoe UI Black"/>
              </a:rPr>
              <a:t>The Breaking Point: Why the Single-Corporation BBMP Model is Obsolete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6842" y="2913413"/>
            <a:ext cx="2740294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1424" y="3951238"/>
            <a:ext cx="11285152" cy="250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Scale Crisis: Managing 714 square kilometers through a single administrative lens has led to 'diseconomies of scale,' where the size of the city hampers rather than helps operations.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Demographic Pressure: With a population surge exceeding 13 million, the current ratio of one Municipal Commissioner per several million residents is the lowest among global megacities.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Administrative Bottlenecks: Centralized decision-making causes extreme delays in ward-level approvals, leading to a breakdown in essential services like waste management and pothole repair.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Regional Divergence: A centralized model fails to differentiate between the high-growth infrastructure needs of the Mahadevapura IT corridor and the heritage conservation requirements of Malleshwaram.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1424" y="3324448"/>
            <a:ext cx="11285152" cy="200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3" id="3"/>
          <p:cNvSpPr txBox="true"/>
          <p:nvPr/>
        </p:nvSpPr>
        <p:spPr>
          <a:xfrm rot="0">
            <a:off x="4576842" y="1362951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4" id="4"/>
          <p:cNvSpPr txBox="true"/>
          <p:nvPr/>
        </p:nvSpPr>
        <p:spPr>
          <a:xfrm rot="0">
            <a:off x="3501424" y="5477729"/>
            <a:ext cx="11285152" cy="351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AutoShape 5" id="5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-527390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4093298" y="3631872"/>
                </a:moveTo>
                <a:lnTo>
                  <a:pt x="0" y="3631872"/>
                </a:lnTo>
                <a:lnTo>
                  <a:pt x="0" y="0"/>
                </a:lnTo>
                <a:lnTo>
                  <a:pt x="4093298" y="0"/>
                </a:lnTo>
                <a:lnTo>
                  <a:pt x="4093298" y="36318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722092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0" y="3631872"/>
                </a:moveTo>
                <a:lnTo>
                  <a:pt x="4093298" y="3631872"/>
                </a:lnTo>
                <a:lnTo>
                  <a:pt x="4093298" y="0"/>
                </a:lnTo>
                <a:lnTo>
                  <a:pt x="0" y="0"/>
                </a:lnTo>
                <a:lnTo>
                  <a:pt x="0" y="36318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154785" y="7963260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60"/>
                </a:lnTo>
                <a:lnTo>
                  <a:pt x="0" y="3448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TextBox 11"/>
          <p:cNvSpPr txBox="1"/>
          <p:nvPr/>
        </p:nvSpPr>
        <p:spPr>
          <a:xfrm>
            <a:off x="4576842" y="1362951"/>
            <a:ext cx="9134316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Segoe UI Black"/>
              </a:rPr>
              <a:t>The Road to Reform: B.S. Patil Committee and the 2024 Governance Bill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6842" y="2286622"/>
            <a:ext cx="2740294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01424" y="5477729"/>
            <a:ext cx="11285152" cy="3518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The 2015 Blueprint: The B.S. Patil Restructuring Committee originally identified that a 5-way split is the 'Goldilocks zone' for effective municipal management in Bengaluru.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Legislative Momentum: The 2024 Greater Bengaluru Governance Bill codifies these recommendations, moving away from a 150-year-old centralized colonial administrative legacy.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Global Benchmarking: The transition draws heavily from the 'London Model,' which utilizes a two-tier system to manage complex metropolitan needs without losing local responsiveness.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Agility through Autonomy: Smaller corporations (approx. 2.5 million residents each) are designed to be more nimble in responding to public health crises and urban flooding.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6198" y="3497710"/>
            <a:ext cx="11848782" cy="553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3" id="3"/>
          <p:cNvSpPr txBox="true"/>
          <p:nvPr/>
        </p:nvSpPr>
        <p:spPr>
          <a:xfrm rot="0">
            <a:off x="5073456" y="1362951"/>
            <a:ext cx="8141087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1205693" y="753264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4637582" y="0"/>
                </a:moveTo>
                <a:lnTo>
                  <a:pt x="0" y="0"/>
                </a:lnTo>
                <a:lnTo>
                  <a:pt x="0" y="4114800"/>
                </a:lnTo>
                <a:lnTo>
                  <a:pt x="4637582" y="4114800"/>
                </a:lnTo>
                <a:lnTo>
                  <a:pt x="46375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006666" y="-1124920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60"/>
                </a:lnTo>
                <a:lnTo>
                  <a:pt x="0" y="3448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073456" y="1362951"/>
            <a:ext cx="8141087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Segoe UI Black"/>
              </a:rPr>
              <a:t>The Pentafurcation Framework: Defining the Five New Entities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73456" y="2286622"/>
            <a:ext cx="2442326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66198" y="3497710"/>
            <a:ext cx="11848782" cy="553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500" b="0">
                <a:solidFill>
                  <a:srgbClr val="000000"/>
                </a:solidFill>
                <a:latin typeface="Segoe UI"/>
              </a:rPr>
              <a:t>Structural Independence: Each of the five corporations will operate with its own Mayor, Commissioner, and Budgetary Council to ensure local accountability.</a:t>
            </a:r>
          </a:p>
          <a:p>
            <a:pPr algn="l">
              <a:spcAft>
                <a:spcPts val="2800"/>
              </a:spcAft>
            </a:pPr>
            <a:r>
              <a:rPr sz="1500" b="0">
                <a:solidFill>
                  <a:srgbClr val="000000"/>
                </a:solidFill>
                <a:latin typeface="Segoe UI"/>
              </a:rPr>
              <a:t>Specialized Mandates: The East Corporation will focus on 'Innovation Zones,' while the Central Corporation prioritizes high-density urban transit and commercial revitalization.</a:t>
            </a:r>
          </a:p>
          <a:p>
            <a:pPr algn="l">
              <a:spcAft>
                <a:spcPts val="2800"/>
              </a:spcAft>
            </a:pPr>
            <a:r>
              <a:rPr sz="1500" b="0">
                <a:solidFill>
                  <a:srgbClr val="000000"/>
                </a:solidFill>
                <a:latin typeface="Segoe UI"/>
              </a:rPr>
              <a:t>Inter-City Competition: The split will introduce the 'Competition for Excellence,' where corporations compete for rankings in the Swachh Survekshan and Ease of Living indices.</a:t>
            </a:r>
          </a:p>
        </p:txBody>
      </p:sp>
      <p:pic>
        <p:nvPicPr>
          <p:cNvPr id="14" name="Picture 13" descr="chart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234439"/>
            <a:ext cx="8412480" cy="80238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3227" y="3726457"/>
            <a:ext cx="13441546" cy="3169610"/>
            <a:chOff x="0" y="0"/>
            <a:chExt cx="17922062" cy="422614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922062" cy="4226146"/>
              <a:chOff x="0" y="0"/>
              <a:chExt cx="2765750" cy="65218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65750" cy="652183"/>
              </a:xfrm>
              <a:custGeom>
                <a:avLst/>
                <a:gdLst/>
                <a:ahLst/>
                <a:cxnLst/>
                <a:rect r="r" b="b" t="t" l="l"/>
                <a:pathLst>
                  <a:path h="652183" w="2765750">
                    <a:moveTo>
                      <a:pt x="11249" y="0"/>
                    </a:moveTo>
                    <a:lnTo>
                      <a:pt x="2754501" y="0"/>
                    </a:lnTo>
                    <a:cubicBezTo>
                      <a:pt x="2757485" y="0"/>
                      <a:pt x="2760346" y="1185"/>
                      <a:pt x="2762455" y="3295"/>
                    </a:cubicBezTo>
                    <a:cubicBezTo>
                      <a:pt x="2764565" y="5405"/>
                      <a:pt x="2765750" y="8266"/>
                      <a:pt x="2765750" y="11249"/>
                    </a:cubicBezTo>
                    <a:lnTo>
                      <a:pt x="2765750" y="640934"/>
                    </a:lnTo>
                    <a:cubicBezTo>
                      <a:pt x="2765750" y="643917"/>
                      <a:pt x="2764565" y="646778"/>
                      <a:pt x="2762455" y="648888"/>
                    </a:cubicBezTo>
                    <a:cubicBezTo>
                      <a:pt x="2760346" y="650998"/>
                      <a:pt x="2757485" y="652183"/>
                      <a:pt x="2754501" y="652183"/>
                    </a:cubicBezTo>
                    <a:lnTo>
                      <a:pt x="11249" y="652183"/>
                    </a:lnTo>
                    <a:cubicBezTo>
                      <a:pt x="8266" y="652183"/>
                      <a:pt x="5405" y="650998"/>
                      <a:pt x="3295" y="648888"/>
                    </a:cubicBezTo>
                    <a:cubicBezTo>
                      <a:pt x="1185" y="646778"/>
                      <a:pt x="0" y="643917"/>
                      <a:pt x="0" y="640934"/>
                    </a:cubicBezTo>
                    <a:lnTo>
                      <a:pt x="0" y="11249"/>
                    </a:lnTo>
                    <a:cubicBezTo>
                      <a:pt x="0" y="8266"/>
                      <a:pt x="1185" y="5405"/>
                      <a:pt x="3295" y="3295"/>
                    </a:cubicBezTo>
                    <a:cubicBezTo>
                      <a:pt x="5405" y="1185"/>
                      <a:pt x="8266" y="0"/>
                      <a:pt x="11249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765750" cy="6902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437597" y="318758"/>
              <a:ext cx="15046869" cy="33256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07"/>
                </a:lnSpc>
              </a:pPr>
              <a:r>
                <a:rPr lang="en-US" sz="2862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Lorem ipsum dolor sit amet, consectetur adipiscing elit</a:t>
              </a:r>
              <a:r>
                <a:rPr lang="en-US" sz="2862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. Quisque non elit mauris. Cras euismod, metus ac finibus finibus, felis dui suscipit purus, a maximus leo ligula at dolor. Morbi et malesuada purus. Phasellus a lacus sit amet urna tempor sollicitudin. Cras pretium tempor elit blandit egestas. Donec sed dignissim augue. Suspendisse ac vulputate leo.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576842" y="1989742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293482" y="3153080"/>
            <a:ext cx="1142582" cy="1146752"/>
          </a:xfrm>
          <a:custGeom>
            <a:avLst/>
            <a:gdLst/>
            <a:ahLst/>
            <a:cxnLst/>
            <a:rect r="r" b="b" t="t" l="l"/>
            <a:pathLst>
              <a:path h="1146752" w="1142582">
                <a:moveTo>
                  <a:pt x="0" y="0"/>
                </a:moveTo>
                <a:lnTo>
                  <a:pt x="1142582" y="0"/>
                </a:lnTo>
                <a:lnTo>
                  <a:pt x="1142582" y="1146753"/>
                </a:lnTo>
                <a:lnTo>
                  <a:pt x="0" y="1146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51936" y="6322690"/>
            <a:ext cx="1142582" cy="1146752"/>
          </a:xfrm>
          <a:custGeom>
            <a:avLst/>
            <a:gdLst/>
            <a:ahLst/>
            <a:cxnLst/>
            <a:rect r="r" b="b" t="t" l="l"/>
            <a:pathLst>
              <a:path h="1146752" w="1142582">
                <a:moveTo>
                  <a:pt x="0" y="0"/>
                </a:moveTo>
                <a:lnTo>
                  <a:pt x="1142582" y="0"/>
                </a:lnTo>
                <a:lnTo>
                  <a:pt x="1142582" y="1146752"/>
                </a:lnTo>
                <a:lnTo>
                  <a:pt x="0" y="1146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-527390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4093298" y="3631872"/>
                </a:moveTo>
                <a:lnTo>
                  <a:pt x="0" y="3631872"/>
                </a:lnTo>
                <a:lnTo>
                  <a:pt x="0" y="0"/>
                </a:lnTo>
                <a:lnTo>
                  <a:pt x="4093298" y="0"/>
                </a:lnTo>
                <a:lnTo>
                  <a:pt x="4093298" y="36318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576842" y="1989742"/>
            <a:ext cx="9134316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Segoe UI Black"/>
              </a:rPr>
              <a:t>The Greater Bengaluru Authority (GBA): The Integrative Glue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6842" y="2913413"/>
            <a:ext cx="2740294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515012"/>
            <a:ext cx="9134316" cy="6154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Tiered Governance: The GBA acts as the 'Upper Tier' body, chaired by the Chief Minister, to manage city-wide strategic planning and prevent administrative silos.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Unified Infrastructure: Large-scale projects such as the Peripheral Ring Road, Metro expansion (BMRCL), and primary storm-water drains remain under GBA oversight.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Resource Synchronization: The GBA ensures that the five corporations do not work at cross-purposes regarding water supply (BWSSB) and public transport (BMTC).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Conflict Resolution: Acts as the primary mediator for inter-corporation disputes regarding boundary management and shared environmental resources.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1424" y="3951238"/>
            <a:ext cx="11285152" cy="301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3" id="3"/>
          <p:cNvSpPr txBox="true"/>
          <p:nvPr/>
        </p:nvSpPr>
        <p:spPr>
          <a:xfrm rot="0">
            <a:off x="4576842" y="1989742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AutoShape 4" id="4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13922464" y="-1230664"/>
            <a:ext cx="5092829" cy="4518728"/>
          </a:xfrm>
          <a:custGeom>
            <a:avLst/>
            <a:gdLst/>
            <a:ahLst/>
            <a:cxnLst/>
            <a:rect r="r" b="b" t="t" l="l"/>
            <a:pathLst>
              <a:path h="4518728" w="5092829">
                <a:moveTo>
                  <a:pt x="0" y="4518728"/>
                </a:moveTo>
                <a:lnTo>
                  <a:pt x="5092829" y="4518728"/>
                </a:lnTo>
                <a:lnTo>
                  <a:pt x="5092829" y="0"/>
                </a:lnTo>
                <a:lnTo>
                  <a:pt x="0" y="0"/>
                </a:lnTo>
                <a:lnTo>
                  <a:pt x="0" y="45187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9229" y="8717925"/>
            <a:ext cx="2390293" cy="2399017"/>
          </a:xfrm>
          <a:custGeom>
            <a:avLst/>
            <a:gdLst/>
            <a:ahLst/>
            <a:cxnLst/>
            <a:rect r="r" b="b" t="t" l="l"/>
            <a:pathLst>
              <a:path h="2399017" w="2390293">
                <a:moveTo>
                  <a:pt x="0" y="0"/>
                </a:moveTo>
                <a:lnTo>
                  <a:pt x="2390293" y="0"/>
                </a:lnTo>
                <a:lnTo>
                  <a:pt x="2390293" y="2399016"/>
                </a:lnTo>
                <a:lnTo>
                  <a:pt x="0" y="2399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576842" y="1989742"/>
            <a:ext cx="9134316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Segoe UI Black"/>
              </a:rPr>
              <a:t>Efficiency Projections: Gains from Localized Administration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6842" y="2913413"/>
            <a:ext cx="2740294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1424" y="3951238"/>
            <a:ext cx="11285152" cy="3013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Hyper-Local Budgeting: Corporations can allocate funds instantly to localized hotspots rather than waiting for a centralized BBMP budget cycle.</a:t>
            </a:r>
          </a:p>
          <a:p>
            <a:pPr algn="l">
              <a:spcAft>
                <a:spcPts val="28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Granular Monitoring: With five commissioners, the span of control over ward-level contractors and junior engineers becomes significantly more manageable.</a:t>
            </a:r>
          </a:p>
          <a:p>
            <a:pPr algn="l">
              <a:spcAft>
                <a:spcPts val="28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Digitized Citizen Interface: The transition enables five distinct digital windows for grievance redressal, reducing the technical load on a single server infrastructure.</a:t>
            </a:r>
          </a:p>
        </p:txBody>
      </p:sp>
      <p:pic>
        <p:nvPicPr>
          <p:cNvPr id="14" name="Picture 13" descr="chart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234439"/>
            <a:ext cx="8412480" cy="80238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5693" y="753264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4637582" y="0"/>
                </a:moveTo>
                <a:lnTo>
                  <a:pt x="0" y="0"/>
                </a:lnTo>
                <a:lnTo>
                  <a:pt x="0" y="4114800"/>
                </a:lnTo>
                <a:lnTo>
                  <a:pt x="4637582" y="4114800"/>
                </a:lnTo>
                <a:lnTo>
                  <a:pt x="46375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856111" y="-136044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4114800"/>
                </a:moveTo>
                <a:lnTo>
                  <a:pt x="4637582" y="4114800"/>
                </a:lnTo>
                <a:lnTo>
                  <a:pt x="46375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05693" y="-1259583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59"/>
                </a:lnTo>
                <a:lnTo>
                  <a:pt x="0" y="34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40788" y="3698255"/>
            <a:ext cx="10606424" cy="209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6" id="6"/>
          <p:cNvSpPr txBox="true"/>
          <p:nvPr/>
        </p:nvSpPr>
        <p:spPr>
          <a:xfrm rot="0">
            <a:off x="6312618" y="971550"/>
            <a:ext cx="5662765" cy="47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057574" y="8097924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59"/>
                </a:lnTo>
                <a:lnTo>
                  <a:pt x="0" y="34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6312618" y="971550"/>
            <a:ext cx="5662765" cy="47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Segoe UI Black"/>
              </a:rPr>
              <a:t>Fiscal Strategy: Balancing Revenue and Equity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12618" y="1302475"/>
            <a:ext cx="169882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40788" y="3698255"/>
            <a:ext cx="10606424" cy="2093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Addressing Revenue Disparity: Since the East and South generate disproportionate property tax, a 'Revenue Equalization Fund' will be established under the GBA.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Municipal Bond Readiness: Smaller, more transparent corporations can achieve better credit ratings, allowing them to float independent municipal bonds for local projects.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Economic Self-Sufficiency: Encouraging each corporation to develop unique revenue streams, such as specialized trade licenses and advertising premiums.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Cost-Benefit of Transition: While initial overheads for five headquarters will rise, the long-term reduction in operational leakage and corruption is expected to provide a 3x ROI.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4785" y="7963260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60"/>
                </a:lnTo>
                <a:lnTo>
                  <a:pt x="0" y="344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1424" y="3951238"/>
            <a:ext cx="11285152" cy="250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4" id="4"/>
          <p:cNvSpPr txBox="true"/>
          <p:nvPr/>
        </p:nvSpPr>
        <p:spPr>
          <a:xfrm rot="0">
            <a:off x="4576842" y="1989742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AutoShape 5" id="5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4722092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0" y="3631872"/>
                </a:moveTo>
                <a:lnTo>
                  <a:pt x="4093298" y="3631872"/>
                </a:lnTo>
                <a:lnTo>
                  <a:pt x="4093298" y="0"/>
                </a:lnTo>
                <a:lnTo>
                  <a:pt x="0" y="0"/>
                </a:lnTo>
                <a:lnTo>
                  <a:pt x="0" y="36318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576842" y="1989742"/>
            <a:ext cx="9134316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Segoe UI Black"/>
              </a:rPr>
              <a:t>The Breaking Point: Why the Single-Corporation BBMP Model is Obsolete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6842" y="2913413"/>
            <a:ext cx="2740294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1424" y="3951238"/>
            <a:ext cx="11285152" cy="250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Scale Crisis: Managing 714 square kilometers through a single administrative lens has led to 'diseconomies of scale,' where the size of the city hampers rather than helps operations.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Demographic Pressure: With a population surge exceeding 13 million, the current ratio of one Municipal Commissioner per several million residents is the lowest among global megacities.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Administrative Bottlenecks: Centralized decision-making causes extreme delays in ward-level approvals, leading to a breakdown in essential services like waste management and pothole repair.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Regional Divergence: A centralized model fails to differentiate between the high-growth infrastructure needs of the Mahadevapura IT corridor and the heritage conservation requirements of Malleshwaram.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4785" y="7963260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60"/>
                </a:lnTo>
                <a:lnTo>
                  <a:pt x="0" y="344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1424" y="3951238"/>
            <a:ext cx="11285152" cy="250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4" id="4"/>
          <p:cNvSpPr txBox="true"/>
          <p:nvPr/>
        </p:nvSpPr>
        <p:spPr>
          <a:xfrm rot="0">
            <a:off x="4576842" y="1989742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AutoShape 5" id="5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4722092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0" y="3631872"/>
                </a:moveTo>
                <a:lnTo>
                  <a:pt x="4093298" y="3631872"/>
                </a:lnTo>
                <a:lnTo>
                  <a:pt x="4093298" y="0"/>
                </a:lnTo>
                <a:lnTo>
                  <a:pt x="0" y="0"/>
                </a:lnTo>
                <a:lnTo>
                  <a:pt x="0" y="36318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576842" y="1989742"/>
            <a:ext cx="9134316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Segoe UI Black"/>
              </a:rPr>
              <a:t>The Breaking Point: Why the Single-Corporation BBMP Model is Obsolete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6842" y="2913413"/>
            <a:ext cx="2740294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1424" y="3951238"/>
            <a:ext cx="11285152" cy="250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Scale Crisis: Managing 714 square kilometers through a single administrative lens has led to 'diseconomies of scale,' where the size of the city hampers rather than helps operations.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Demographic Pressure: With a population surge exceeding 13 million, the current ratio of one Municipal Commissioner per several million residents is the lowest among global megacities.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Administrative Bottlenecks: Centralized decision-making causes extreme delays in ward-level approvals, leading to a breakdown in essential services like waste management and pothole repair.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Regional Divergence: A centralized model fails to differentiate between the high-growth infrastructure needs of the Mahadevapura IT corridor and the heritage conservation requirements of Malleshwaram.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4785" y="7963260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60"/>
                </a:lnTo>
                <a:lnTo>
                  <a:pt x="0" y="344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1424" y="3951238"/>
            <a:ext cx="11285152" cy="250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4" id="4"/>
          <p:cNvSpPr txBox="true"/>
          <p:nvPr/>
        </p:nvSpPr>
        <p:spPr>
          <a:xfrm rot="0">
            <a:off x="4576842" y="1989742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AutoShape 5" id="5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4722092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0" y="3631872"/>
                </a:moveTo>
                <a:lnTo>
                  <a:pt x="4093298" y="3631872"/>
                </a:lnTo>
                <a:lnTo>
                  <a:pt x="4093298" y="0"/>
                </a:lnTo>
                <a:lnTo>
                  <a:pt x="0" y="0"/>
                </a:lnTo>
                <a:lnTo>
                  <a:pt x="0" y="36318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576842" y="1989742"/>
            <a:ext cx="9134316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Segoe UI Black"/>
              </a:rPr>
              <a:t>The Breaking Point: Why the Single-Corporation BBMP Model is Obsolete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6842" y="2913413"/>
            <a:ext cx="2740294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1424" y="3951238"/>
            <a:ext cx="11285152" cy="250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Scale Crisis: Managing 714 square kilometers through a single administrative lens has led to 'diseconomies of scale,' where the size of the city hampers rather than helps operations.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Demographic Pressure: With a population surge exceeding 13 million, the current ratio of one Municipal Commissioner per several million residents is the lowest among global megacities.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Administrative Bottlenecks: Centralized decision-making causes extreme delays in ward-level approvals, leading to a breakdown in essential services like waste management and pothole repair.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Regional Divergence: A centralized model fails to differentiate between the high-growth infrastructure needs of the Mahadevapura IT corridor and the heritage conservation requirements of Malleshwaram.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DAHEA_bXjKI</dc:identifier>
  <dcterms:modified xsi:type="dcterms:W3CDTF">2011-08-01T06:04:30Z</dcterms:modified>
  <cp:revision>1</cp:revision>
  <dc:title>Lorem ipsum dolor sit amet, consectetur adipiscing elit. Quisque non elit mauris. Cras euismod, metus ac finibus finibus, felis dui suscipit purus, a maximus leo ligula at dolor. Morbi et malesuada purus. Phasellus a lacus sit amet urna tempor</dc:title>
</cp:coreProperties>
</file>