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Happy Font TH Italics" charset="1" panose="02000503000000000000"/>
      <p:regular r:id="rId17"/>
    </p:embeddedFont>
    <p:embeddedFont>
      <p:font typeface="Cakerolli Ultra-Bold" charset="1" panose="00000000000000000000"/>
      <p:regular r:id="rId18"/>
    </p:embeddedFont>
    <p:embeddedFont>
      <p:font typeface="Cakerolli" charset="1" panose="00000000000000000000"/>
      <p:regular r:id="rId19"/>
    </p:embeddedFont>
    <p:embeddedFont>
      <p:font typeface="Cakerolli Bold" charset="1" panose="00000000000000000000"/>
      <p:regular r:id="rId20"/>
    </p:embeddedFont>
    <p:embeddedFont>
      <p:font typeface="Cakerolli Medium" charset="1" panose="00000000000000000000"/>
      <p:regular r:id="rId21"/>
    </p:embeddedFont>
    <p:embeddedFont>
      <p:font typeface="Cakerolli Medium Italics" charset="1" panose="00000000000000000000"/>
      <p:regular r:id="rId22"/>
    </p:embeddedFont>
    <p:embeddedFont>
      <p:font typeface="Cakerolli Bold Italics" charset="1" panose="00000000000000000000"/>
      <p:regular r:id="rId23"/>
    </p:embeddedFont>
    <p:embeddedFont>
      <p:font typeface="Cakerolli Semi-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7.png"/><Relationship Id="rId9" Type="http://schemas.openxmlformats.org/officeDocument/2006/relationships/image" Target="../media/image8.svg"/><Relationship Id="rId10" Type="http://schemas.openxmlformats.org/officeDocument/2006/relationships/image" Target="../media/image9.png"/><Relationship Id="rId11" Type="http://schemas.openxmlformats.org/officeDocument/2006/relationships/image" Target="../media/image10.svg"/><Relationship Id="rId12" Type="http://schemas.openxmlformats.org/officeDocument/2006/relationships/image" Target="../media/image11.png"/><Relationship Id="rId13" Type="http://schemas.openxmlformats.org/officeDocument/2006/relationships/image" Target="../media/image12.svg"/><Relationship Id="rId14" Type="http://schemas.openxmlformats.org/officeDocument/2006/relationships/image" Target="../media/image13.png"/><Relationship Id="rId15" Type="http://schemas.openxmlformats.org/officeDocument/2006/relationships/image" Target="../media/image1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2.svg"/><Relationship Id="rId8" Type="http://schemas.openxmlformats.org/officeDocument/2006/relationships/image" Target="../media/image15.png"/><Relationship Id="rId9" Type="http://schemas.openxmlformats.org/officeDocument/2006/relationships/image" Target="../media/image16.svg"/><Relationship Id="rId10" Type="http://schemas.openxmlformats.org/officeDocument/2006/relationships/image" Target="../media/image17.png"/><Relationship Id="rId11" Type="http://schemas.openxmlformats.org/officeDocument/2006/relationships/image" Target="../media/image18.svg"/><Relationship Id="rId12" Type="http://schemas.openxmlformats.org/officeDocument/2006/relationships/image" Target="../media/image19.png"/><Relationship Id="rId13" Type="http://schemas.openxmlformats.org/officeDocument/2006/relationships/image" Target="../media/image20.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9.png"/><Relationship Id="rId9" Type="http://schemas.openxmlformats.org/officeDocument/2006/relationships/image" Target="../media/image10.svg"/><Relationship Id="rId10" Type="http://schemas.openxmlformats.org/officeDocument/2006/relationships/image" Target="../media/image11.png"/><Relationship Id="rId11" Type="http://schemas.openxmlformats.org/officeDocument/2006/relationships/image" Target="../media/image12.svg"/><Relationship Id="rId12" Type="http://schemas.openxmlformats.org/officeDocument/2006/relationships/image" Target="../media/image13.png"/><Relationship Id="rId13" Type="http://schemas.openxmlformats.org/officeDocument/2006/relationships/image" Target="../media/image14.svg"/><Relationship Id="rId14" Type="http://schemas.openxmlformats.org/officeDocument/2006/relationships/image" Target="../media/image3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9.png"/><Relationship Id="rId9" Type="http://schemas.openxmlformats.org/officeDocument/2006/relationships/image" Target="../media/image10.svg"/><Relationship Id="rId10" Type="http://schemas.openxmlformats.org/officeDocument/2006/relationships/image" Target="../media/image11.png"/><Relationship Id="rId11" Type="http://schemas.openxmlformats.org/officeDocument/2006/relationships/image" Target="../media/image12.svg"/><Relationship Id="rId12" Type="http://schemas.openxmlformats.org/officeDocument/2006/relationships/image" Target="../media/image13.png"/><Relationship Id="rId13" Type="http://schemas.openxmlformats.org/officeDocument/2006/relationships/image" Target="../media/image1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9.png"/><Relationship Id="rId9" Type="http://schemas.openxmlformats.org/officeDocument/2006/relationships/image" Target="../media/image10.svg"/><Relationship Id="rId10" Type="http://schemas.openxmlformats.org/officeDocument/2006/relationships/image" Target="../media/image11.png"/><Relationship Id="rId11" Type="http://schemas.openxmlformats.org/officeDocument/2006/relationships/image" Target="../media/image12.svg"/><Relationship Id="rId12" Type="http://schemas.openxmlformats.org/officeDocument/2006/relationships/image" Target="../media/image13.png"/><Relationship Id="rId13" Type="http://schemas.openxmlformats.org/officeDocument/2006/relationships/image" Target="../media/image14.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grpSp>
        <p:nvGrpSpPr>
          <p:cNvPr name="Group 2" id="2"/>
          <p:cNvGrpSpPr/>
          <p:nvPr/>
        </p:nvGrpSpPr>
        <p:grpSpPr>
          <a:xfrm rot="0">
            <a:off x="358401" y="584106"/>
            <a:ext cx="17542623" cy="9163507"/>
            <a:chOff x="0" y="0"/>
            <a:chExt cx="23390165" cy="12218010"/>
          </a:xfrm>
        </p:grpSpPr>
        <p:sp>
          <p:nvSpPr>
            <p:cNvPr name="Freeform 3" id="3"/>
            <p:cNvSpPr/>
            <p:nvPr/>
          </p:nvSpPr>
          <p:spPr>
            <a:xfrm flipH="false" flipV="false" rot="0">
              <a:off x="1205521"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5096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892507"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23405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05521"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55096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892507"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23405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05521"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55096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1892507"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723405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05521"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655096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1892507"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723405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0"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0"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0"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0"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22578344"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22578344"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22578344"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0">
              <a:off x="22578344"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grpSp>
      <p:sp>
        <p:nvSpPr>
          <p:cNvPr name="Freeform 27" id="27"/>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8" id="28"/>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9" id="29"/>
          <p:cNvSpPr/>
          <p:nvPr/>
        </p:nvSpPr>
        <p:spPr>
          <a:xfrm flipH="false" flipV="false" rot="0">
            <a:off x="13902170" y="703063"/>
            <a:ext cx="1386381" cy="1665323"/>
          </a:xfrm>
          <a:custGeom>
            <a:avLst/>
            <a:gdLst/>
            <a:ahLst/>
            <a:cxnLst/>
            <a:rect r="r" b="b" t="t" l="l"/>
            <a:pathLst>
              <a:path h="1665323" w="1386381">
                <a:moveTo>
                  <a:pt x="0" y="0"/>
                </a:moveTo>
                <a:lnTo>
                  <a:pt x="1386381" y="0"/>
                </a:lnTo>
                <a:lnTo>
                  <a:pt x="1386381" y="1665323"/>
                </a:lnTo>
                <a:lnTo>
                  <a:pt x="0" y="16653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true" flipV="true" rot="-781863">
            <a:off x="989217" y="7189741"/>
            <a:ext cx="1386381" cy="1665323"/>
          </a:xfrm>
          <a:custGeom>
            <a:avLst/>
            <a:gdLst/>
            <a:ahLst/>
            <a:cxnLst/>
            <a:rect r="r" b="b" t="t" l="l"/>
            <a:pathLst>
              <a:path h="1665323" w="1386381">
                <a:moveTo>
                  <a:pt x="1386381" y="1665322"/>
                </a:moveTo>
                <a:lnTo>
                  <a:pt x="0" y="1665322"/>
                </a:lnTo>
                <a:lnTo>
                  <a:pt x="0" y="0"/>
                </a:lnTo>
                <a:lnTo>
                  <a:pt x="1386381" y="0"/>
                </a:lnTo>
                <a:lnTo>
                  <a:pt x="1386381" y="166532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32" id="32"/>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3" id="33"/>
          <p:cNvSpPr/>
          <p:nvPr/>
        </p:nvSpPr>
        <p:spPr>
          <a:xfrm flipH="false" flipV="false" rot="0">
            <a:off x="1863251" y="1735683"/>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4" id="34"/>
          <p:cNvSpPr/>
          <p:nvPr/>
        </p:nvSpPr>
        <p:spPr>
          <a:xfrm flipH="false" flipV="false" rot="-2473926">
            <a:off x="16489660" y="3493500"/>
            <a:ext cx="2325515" cy="598820"/>
          </a:xfrm>
          <a:custGeom>
            <a:avLst/>
            <a:gdLst/>
            <a:ahLst/>
            <a:cxnLst/>
            <a:rect r="r" b="b" t="t" l="l"/>
            <a:pathLst>
              <a:path h="598820" w="2325515">
                <a:moveTo>
                  <a:pt x="0" y="0"/>
                </a:moveTo>
                <a:lnTo>
                  <a:pt x="2325516" y="0"/>
                </a:lnTo>
                <a:lnTo>
                  <a:pt x="2325516" y="598820"/>
                </a:lnTo>
                <a:lnTo>
                  <a:pt x="0" y="59882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5" id="35"/>
          <p:cNvSpPr/>
          <p:nvPr/>
        </p:nvSpPr>
        <p:spPr>
          <a:xfrm flipH="false" flipV="false" rot="323603">
            <a:off x="16241593" y="7121058"/>
            <a:ext cx="1132716" cy="2093553"/>
          </a:xfrm>
          <a:custGeom>
            <a:avLst/>
            <a:gdLst/>
            <a:ahLst/>
            <a:cxnLst/>
            <a:rect r="r" b="b" t="t" l="l"/>
            <a:pathLst>
              <a:path h="2093553" w="1132716">
                <a:moveTo>
                  <a:pt x="0" y="0"/>
                </a:moveTo>
                <a:lnTo>
                  <a:pt x="1132716" y="0"/>
                </a:lnTo>
                <a:lnTo>
                  <a:pt x="1132716" y="2093553"/>
                </a:lnTo>
                <a:lnTo>
                  <a:pt x="0" y="2093553"/>
                </a:lnTo>
                <a:lnTo>
                  <a:pt x="0" y="0"/>
                </a:lnTo>
                <a:close/>
              </a:path>
            </a:pathLst>
          </a:custGeom>
          <a:blipFill>
            <a:blip r:embed="rId12">
              <a:extLst>
                <a:ext uri="{96DAC541-7B7A-43D3-8B79-37D633B846F1}">
                  <asvg:svgBlip xmlns:asvg="http://schemas.microsoft.com/office/drawing/2016/SVG/main" r:embed="rId13"/>
                </a:ext>
              </a:extLst>
            </a:blip>
            <a:stretch>
              <a:fillRect l="-130590" t="0" r="0" b="-48746"/>
            </a:stretch>
          </a:blipFill>
        </p:spPr>
      </p:sp>
      <p:sp>
        <p:nvSpPr>
          <p:cNvPr name="Freeform 36" id="36"/>
          <p:cNvSpPr/>
          <p:nvPr/>
        </p:nvSpPr>
        <p:spPr>
          <a:xfrm flipH="false" flipV="false" rot="323603">
            <a:off x="17692802" y="5966897"/>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2">
              <a:extLst>
                <a:ext uri="{96DAC541-7B7A-43D3-8B79-37D633B846F1}">
                  <asvg:svgBlip xmlns:asvg="http://schemas.microsoft.com/office/drawing/2016/SVG/main" r:embed="rId13"/>
                </a:ext>
              </a:extLst>
            </a:blip>
            <a:stretch>
              <a:fillRect l="-127975" t="-28590" r="-17420" b="-104172"/>
            </a:stretch>
          </a:blipFill>
        </p:spPr>
      </p:sp>
      <p:sp>
        <p:nvSpPr>
          <p:cNvPr name="Freeform 37" id="37"/>
          <p:cNvSpPr/>
          <p:nvPr/>
        </p:nvSpPr>
        <p:spPr>
          <a:xfrm flipH="true" flipV="false" rot="-873099">
            <a:off x="-4988" y="4159379"/>
            <a:ext cx="1428017" cy="1622746"/>
          </a:xfrm>
          <a:custGeom>
            <a:avLst/>
            <a:gdLst/>
            <a:ahLst/>
            <a:cxnLst/>
            <a:rect r="r" b="b" t="t" l="l"/>
            <a:pathLst>
              <a:path h="1622746" w="1428017">
                <a:moveTo>
                  <a:pt x="1428017" y="0"/>
                </a:moveTo>
                <a:lnTo>
                  <a:pt x="0" y="0"/>
                </a:lnTo>
                <a:lnTo>
                  <a:pt x="0" y="1622746"/>
                </a:lnTo>
                <a:lnTo>
                  <a:pt x="1428017" y="1622746"/>
                </a:lnTo>
                <a:lnTo>
                  <a:pt x="1428017"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38" id="38"/>
          <p:cNvGrpSpPr/>
          <p:nvPr/>
        </p:nvGrpSpPr>
        <p:grpSpPr>
          <a:xfrm rot="0">
            <a:off x="3200636" y="8031118"/>
            <a:ext cx="5496395" cy="798862"/>
            <a:chOff x="0" y="0"/>
            <a:chExt cx="1447610" cy="210400"/>
          </a:xfrm>
        </p:grpSpPr>
        <p:sp>
          <p:nvSpPr>
            <p:cNvPr name="Freeform 39" id="39"/>
            <p:cNvSpPr/>
            <p:nvPr/>
          </p:nvSpPr>
          <p:spPr>
            <a:xfrm flipH="false" flipV="false" rot="0">
              <a:off x="0" y="0"/>
              <a:ext cx="1447610" cy="210400"/>
            </a:xfrm>
            <a:custGeom>
              <a:avLst/>
              <a:gdLst/>
              <a:ahLst/>
              <a:cxnLst/>
              <a:rect r="r" b="b" t="t" l="l"/>
              <a:pathLst>
                <a:path h="210400" w="1447610">
                  <a:moveTo>
                    <a:pt x="0" y="0"/>
                  </a:moveTo>
                  <a:lnTo>
                    <a:pt x="1447610" y="0"/>
                  </a:lnTo>
                  <a:lnTo>
                    <a:pt x="1447610" y="210400"/>
                  </a:lnTo>
                  <a:lnTo>
                    <a:pt x="0" y="210400"/>
                  </a:lnTo>
                  <a:close/>
                </a:path>
              </a:pathLst>
            </a:custGeom>
            <a:solidFill>
              <a:srgbClr val="E080B4"/>
            </a:solidFill>
          </p:spPr>
        </p:sp>
        <p:sp>
          <p:nvSpPr>
            <p:cNvPr name="TextBox 40" id="40"/>
            <p:cNvSpPr txBox="true"/>
            <p:nvPr/>
          </p:nvSpPr>
          <p:spPr>
            <a:xfrm>
              <a:off x="0" y="-180975"/>
              <a:ext cx="1447610" cy="391375"/>
            </a:xfrm>
            <a:prstGeom prst="rect">
              <a:avLst/>
            </a:prstGeom>
          </p:spPr>
          <p:txBody>
            <a:bodyPr anchor="ctr" rtlCol="false" tIns="50800" lIns="50800" bIns="50800" rIns="50800"/>
            <a:lstStyle/>
            <a:p>
              <a:pPr algn="ctr">
                <a:lnSpc>
                  <a:spcPts val="2659"/>
                </a:lnSpc>
                <a:spcBef>
                  <a:spcPct val="0"/>
                </a:spcBef>
              </a:pPr>
            </a:p>
          </p:txBody>
        </p:sp>
      </p:grpSp>
      <p:grpSp>
        <p:nvGrpSpPr>
          <p:cNvPr name="Group 41" id="41"/>
          <p:cNvGrpSpPr/>
          <p:nvPr/>
        </p:nvGrpSpPr>
        <p:grpSpPr>
          <a:xfrm rot="0">
            <a:off x="3310609" y="7923646"/>
            <a:ext cx="5496395" cy="798862"/>
            <a:chOff x="0" y="0"/>
            <a:chExt cx="1447610" cy="210400"/>
          </a:xfrm>
        </p:grpSpPr>
        <p:sp>
          <p:nvSpPr>
            <p:cNvPr name="Freeform 42" id="42"/>
            <p:cNvSpPr/>
            <p:nvPr/>
          </p:nvSpPr>
          <p:spPr>
            <a:xfrm flipH="false" flipV="false" rot="0">
              <a:off x="0" y="0"/>
              <a:ext cx="1447610" cy="210400"/>
            </a:xfrm>
            <a:custGeom>
              <a:avLst/>
              <a:gdLst/>
              <a:ahLst/>
              <a:cxnLst/>
              <a:rect r="r" b="b" t="t" l="l"/>
              <a:pathLst>
                <a:path h="210400" w="1447610">
                  <a:moveTo>
                    <a:pt x="0" y="0"/>
                  </a:moveTo>
                  <a:lnTo>
                    <a:pt x="1447610" y="0"/>
                  </a:lnTo>
                  <a:lnTo>
                    <a:pt x="1447610" y="210400"/>
                  </a:lnTo>
                  <a:lnTo>
                    <a:pt x="0" y="210400"/>
                  </a:lnTo>
                  <a:close/>
                </a:path>
              </a:pathLst>
            </a:custGeom>
            <a:solidFill>
              <a:srgbClr val="485B90"/>
            </a:solidFill>
          </p:spPr>
        </p:sp>
        <p:sp>
          <p:nvSpPr>
            <p:cNvPr name="TextBox 43" id="43"/>
            <p:cNvSpPr txBox="true"/>
            <p:nvPr/>
          </p:nvSpPr>
          <p:spPr>
            <a:xfrm>
              <a:off x="0" y="-180975"/>
              <a:ext cx="1447610" cy="391375"/>
            </a:xfrm>
            <a:prstGeom prst="rect">
              <a:avLst/>
            </a:prstGeom>
          </p:spPr>
          <p:txBody>
            <a:bodyPr anchor="ctr" rtlCol="false" tIns="50800" lIns="50800" bIns="50800" rIns="50800"/>
            <a:lstStyle/>
            <a:p>
              <a:pPr algn="ctr">
                <a:lnSpc>
                  <a:spcPts val="2659"/>
                </a:lnSpc>
                <a:spcBef>
                  <a:spcPct val="0"/>
                </a:spcBef>
              </a:pPr>
            </a:p>
          </p:txBody>
        </p:sp>
      </p:grpSp>
      <p:sp>
        <p:nvSpPr>
          <p:cNvPr name="TextBox 44" id="44"/>
          <p:cNvSpPr txBox="true"/>
          <p:nvPr/>
        </p:nvSpPr>
        <p:spPr>
          <a:xfrm rot="0">
            <a:off x="3546318" y="7932389"/>
            <a:ext cx="4972668" cy="580390"/>
          </a:xfrm>
          <a:prstGeom prst="rect">
            <a:avLst/>
          </a:prstGeom>
        </p:spPr>
        <p:txBody>
          <a:bodyPr anchor="t" rtlCol="false" tIns="0" lIns="0" bIns="0" rIns="0">
            <a:spAutoFit/>
          </a:bodyPr>
          <a:lstStyle/>
          <a:p>
            <a:endParaRPr/>
          </a:p>
        </p:txBody>
      </p:sp>
      <p:sp>
        <p:nvSpPr>
          <p:cNvPr name="TextBox 45" id="45"/>
          <p:cNvSpPr txBox="true"/>
          <p:nvPr/>
        </p:nvSpPr>
        <p:spPr>
          <a:xfrm rot="0">
            <a:off x="3200636" y="2356032"/>
            <a:ext cx="7951882" cy="4535025"/>
          </a:xfrm>
          <a:prstGeom prst="rect">
            <a:avLst/>
          </a:prstGeom>
        </p:spPr>
        <p:txBody>
          <a:bodyPr anchor="t" rtlCol="false" tIns="0" lIns="0" bIns="0" rIns="0">
            <a:spAutoFit/>
          </a:bodyPr>
          <a:lstStyle/>
          <a:p>
            <a:endParaRPr/>
          </a:p>
        </p:txBody>
      </p:sp>
      <p:sp>
        <p:nvSpPr>
          <p:cNvPr id="46" name="TextBox 45"/>
          <p:cNvSpPr txBox="1"/>
          <p:nvPr/>
        </p:nvSpPr>
        <p:spPr>
          <a:xfrm>
            <a:off x="3200636" y="2356032"/>
            <a:ext cx="7951882" cy="4535025"/>
          </a:xfrm>
          <a:prstGeom prst="rect">
            <a:avLst/>
          </a:prstGeom>
          <a:noFill/>
        </p:spPr>
        <p:txBody>
          <a:bodyPr wrap="square">
            <a:spAutoFit/>
          </a:bodyPr>
          <a:lstStyle/>
          <a:p>
            <a:pPr algn="l"/>
            <a:r>
              <a:rPr sz="3800" b="1">
                <a:solidFill>
                  <a:srgbClr val="000000"/>
                </a:solidFill>
                <a:latin typeface="Segoe UI Black"/>
              </a:rPr>
              <a:t>Current: The Future of AI-Driven Banking</a:t>
            </a:r>
          </a:p>
        </p:txBody>
      </p:sp>
      <p:cxnSp>
        <p:nvCxnSpPr>
          <p:cNvPr id="47" name="Connector 46"/>
          <p:cNvCxnSpPr/>
          <p:nvPr/>
        </p:nvCxnSpPr>
        <p:spPr>
          <a:xfrm>
            <a:off x="3200636" y="5530549"/>
            <a:ext cx="2385564"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546318" y="7932388"/>
            <a:ext cx="4972668" cy="580390"/>
          </a:xfrm>
          <a:prstGeom prst="rect">
            <a:avLst/>
          </a:prstGeom>
          <a:noFill/>
        </p:spPr>
        <p:txBody>
          <a:bodyPr wrap="square">
            <a:spAutoFit/>
          </a:bodyPr>
          <a:lstStyle/>
          <a:p>
            <a:pPr algn="l"/>
            <a:r>
              <a:rPr sz="2200" b="0">
                <a:solidFill>
                  <a:srgbClr val="000000"/>
                </a:solidFill>
                <a:latin typeface="Segoe UI"/>
              </a:rPr>
              <a:t>Leveraging digital innovation as the #1 banking app for paychecks.</a:t>
            </a:r>
          </a:p>
        </p:txBody>
      </p:sp>
      <p:sp>
        <p:nvSpPr>
          <p:cNvPr id="49" name="TextBox 48"/>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grpSp>
        <p:nvGrpSpPr>
          <p:cNvPr name="Group 2" id="2"/>
          <p:cNvGrpSpPr/>
          <p:nvPr/>
        </p:nvGrpSpPr>
        <p:grpSpPr>
          <a:xfrm rot="0">
            <a:off x="358401" y="584106"/>
            <a:ext cx="17542623" cy="9163507"/>
            <a:chOff x="0" y="0"/>
            <a:chExt cx="23390165" cy="12218010"/>
          </a:xfrm>
        </p:grpSpPr>
        <p:sp>
          <p:nvSpPr>
            <p:cNvPr name="Freeform 3" id="3"/>
            <p:cNvSpPr/>
            <p:nvPr/>
          </p:nvSpPr>
          <p:spPr>
            <a:xfrm flipH="false" flipV="false" rot="0">
              <a:off x="1205521"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5096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892507"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23405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05521"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55096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892507"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23405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05521"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55096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1892507"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723405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05521"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655096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1892507"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723405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0"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0"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0"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0"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22578344"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22578344"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22578344"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0">
              <a:off x="22578344"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grpSp>
      <p:sp>
        <p:nvSpPr>
          <p:cNvPr name="Freeform 27" id="27"/>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8" id="28"/>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9" id="29"/>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30" id="30"/>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1" id="31"/>
          <p:cNvSpPr/>
          <p:nvPr/>
        </p:nvSpPr>
        <p:spPr>
          <a:xfrm flipH="false" flipV="false" rot="323603">
            <a:off x="523534" y="9015883"/>
            <a:ext cx="710251" cy="892756"/>
          </a:xfrm>
          <a:custGeom>
            <a:avLst/>
            <a:gdLst/>
            <a:ahLst/>
            <a:cxnLst/>
            <a:rect r="r" b="b" t="t" l="l"/>
            <a:pathLst>
              <a:path h="892756" w="710251">
                <a:moveTo>
                  <a:pt x="0" y="0"/>
                </a:moveTo>
                <a:lnTo>
                  <a:pt x="710250" y="0"/>
                </a:lnTo>
                <a:lnTo>
                  <a:pt x="710250" y="892757"/>
                </a:lnTo>
                <a:lnTo>
                  <a:pt x="0" y="892757"/>
                </a:lnTo>
                <a:lnTo>
                  <a:pt x="0" y="0"/>
                </a:lnTo>
                <a:close/>
              </a:path>
            </a:pathLst>
          </a:custGeom>
          <a:blipFill>
            <a:blip r:embed="rId6">
              <a:extLst>
                <a:ext uri="{96DAC541-7B7A-43D3-8B79-37D633B846F1}">
                  <asvg:svgBlip xmlns:asvg="http://schemas.microsoft.com/office/drawing/2016/SVG/main" r:embed="rId7"/>
                </a:ext>
              </a:extLst>
            </a:blip>
            <a:stretch>
              <a:fillRect l="-127975" t="-28590" r="-17420" b="-104172"/>
            </a:stretch>
          </a:blipFill>
        </p:spPr>
      </p:sp>
      <p:sp>
        <p:nvSpPr>
          <p:cNvPr name="Freeform 32" id="32"/>
          <p:cNvSpPr/>
          <p:nvPr/>
        </p:nvSpPr>
        <p:spPr>
          <a:xfrm flipH="false" flipV="false" rot="0">
            <a:off x="-1935087" y="5494736"/>
            <a:ext cx="4836473" cy="1204721"/>
          </a:xfrm>
          <a:custGeom>
            <a:avLst/>
            <a:gdLst/>
            <a:ahLst/>
            <a:cxnLst/>
            <a:rect r="r" b="b" t="t" l="l"/>
            <a:pathLst>
              <a:path h="1204721" w="4836473">
                <a:moveTo>
                  <a:pt x="0" y="0"/>
                </a:moveTo>
                <a:lnTo>
                  <a:pt x="4836473" y="0"/>
                </a:lnTo>
                <a:lnTo>
                  <a:pt x="4836473" y="1204721"/>
                </a:lnTo>
                <a:lnTo>
                  <a:pt x="0" y="12047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3" id="33"/>
          <p:cNvSpPr/>
          <p:nvPr/>
        </p:nvSpPr>
        <p:spPr>
          <a:xfrm flipH="true" flipV="false" rot="0">
            <a:off x="15384803" y="5494736"/>
            <a:ext cx="4836473" cy="1204721"/>
          </a:xfrm>
          <a:custGeom>
            <a:avLst/>
            <a:gdLst/>
            <a:ahLst/>
            <a:cxnLst/>
            <a:rect r="r" b="b" t="t" l="l"/>
            <a:pathLst>
              <a:path h="1204721" w="4836473">
                <a:moveTo>
                  <a:pt x="4836472" y="0"/>
                </a:moveTo>
                <a:lnTo>
                  <a:pt x="0" y="0"/>
                </a:lnTo>
                <a:lnTo>
                  <a:pt x="0" y="1204721"/>
                </a:lnTo>
                <a:lnTo>
                  <a:pt x="4836472" y="1204721"/>
                </a:lnTo>
                <a:lnTo>
                  <a:pt x="483647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4" id="34"/>
          <p:cNvSpPr/>
          <p:nvPr/>
        </p:nvSpPr>
        <p:spPr>
          <a:xfrm flipH="false" flipV="false" rot="323603">
            <a:off x="17843423" y="1060103"/>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6">
              <a:extLst>
                <a:ext uri="{96DAC541-7B7A-43D3-8B79-37D633B846F1}">
                  <asvg:svgBlip xmlns:asvg="http://schemas.microsoft.com/office/drawing/2016/SVG/main" r:embed="rId7"/>
                </a:ext>
              </a:extLst>
            </a:blip>
            <a:stretch>
              <a:fillRect l="-127975" t="-28590" r="-17420" b="-104172"/>
            </a:stretch>
          </a:blipFill>
        </p:spPr>
      </p:sp>
      <p:sp>
        <p:nvSpPr>
          <p:cNvPr name="Freeform 35" id="35"/>
          <p:cNvSpPr/>
          <p:nvPr/>
        </p:nvSpPr>
        <p:spPr>
          <a:xfrm flipH="false" flipV="false" rot="0">
            <a:off x="4000061" y="3288071"/>
            <a:ext cx="10077222" cy="5618051"/>
          </a:xfrm>
          <a:custGeom>
            <a:avLst/>
            <a:gdLst/>
            <a:ahLst/>
            <a:cxnLst/>
            <a:rect r="r" b="b" t="t" l="l"/>
            <a:pathLst>
              <a:path h="5618051" w="10077222">
                <a:moveTo>
                  <a:pt x="0" y="0"/>
                </a:moveTo>
                <a:lnTo>
                  <a:pt x="10077222" y="0"/>
                </a:lnTo>
                <a:lnTo>
                  <a:pt x="10077222" y="5618051"/>
                </a:lnTo>
                <a:lnTo>
                  <a:pt x="0" y="56180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6" id="36"/>
          <p:cNvSpPr/>
          <p:nvPr/>
        </p:nvSpPr>
        <p:spPr>
          <a:xfrm flipH="false" flipV="false" rot="0">
            <a:off x="4492007" y="3602114"/>
            <a:ext cx="9093330" cy="4989965"/>
          </a:xfrm>
          <a:custGeom>
            <a:avLst/>
            <a:gdLst/>
            <a:ahLst/>
            <a:cxnLst/>
            <a:rect r="r" b="b" t="t" l="l"/>
            <a:pathLst>
              <a:path h="4989965" w="9093330">
                <a:moveTo>
                  <a:pt x="0" y="0"/>
                </a:moveTo>
                <a:lnTo>
                  <a:pt x="9093330" y="0"/>
                </a:lnTo>
                <a:lnTo>
                  <a:pt x="9093330" y="4989965"/>
                </a:lnTo>
                <a:lnTo>
                  <a:pt x="0" y="498996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7" id="37"/>
          <p:cNvSpPr txBox="true"/>
          <p:nvPr/>
        </p:nvSpPr>
        <p:spPr>
          <a:xfrm rot="0">
            <a:off x="5163345" y="3958546"/>
            <a:ext cx="7961309" cy="2330577"/>
          </a:xfrm>
          <a:prstGeom prst="rect">
            <a:avLst/>
          </a:prstGeom>
        </p:spPr>
        <p:txBody>
          <a:bodyPr anchor="t" rtlCol="false" tIns="0" lIns="0" bIns="0" rIns="0">
            <a:spAutoFit/>
          </a:bodyPr>
          <a:lstStyle/>
          <a:p>
            <a:endParaRPr/>
          </a:p>
        </p:txBody>
      </p:sp>
      <p:sp>
        <p:nvSpPr>
          <p:cNvPr name="TextBox 38" id="38"/>
          <p:cNvSpPr txBox="true"/>
          <p:nvPr/>
        </p:nvSpPr>
        <p:spPr>
          <a:xfrm rot="0">
            <a:off x="7064194" y="1441338"/>
            <a:ext cx="4159612" cy="1391285"/>
          </a:xfrm>
          <a:prstGeom prst="rect">
            <a:avLst/>
          </a:prstGeom>
        </p:spPr>
        <p:txBody>
          <a:bodyPr anchor="t" rtlCol="false" tIns="0" lIns="0" bIns="0" rIns="0">
            <a:spAutoFit/>
          </a:bodyPr>
          <a:lstStyle/>
          <a:p>
            <a:endParaRPr/>
          </a:p>
        </p:txBody>
      </p:sp>
      <p:sp>
        <p:nvSpPr>
          <p:cNvPr id="39" name="TextBox 38"/>
          <p:cNvSpPr txBox="1"/>
          <p:nvPr/>
        </p:nvSpPr>
        <p:spPr>
          <a:xfrm>
            <a:off x="7064194" y="1441338"/>
            <a:ext cx="4159612" cy="1391285"/>
          </a:xfrm>
          <a:prstGeom prst="rect">
            <a:avLst/>
          </a:prstGeom>
          <a:noFill/>
        </p:spPr>
        <p:txBody>
          <a:bodyPr wrap="square">
            <a:spAutoFit/>
          </a:bodyPr>
          <a:lstStyle/>
          <a:p>
            <a:pPr algn="l"/>
            <a:r>
              <a:rPr sz="3600" b="1">
                <a:solidFill>
                  <a:srgbClr val="000000"/>
                </a:solidFill>
                <a:latin typeface="Segoe UI Black"/>
              </a:rPr>
              <a:t>Biometric Security &amp; AI Integration</a:t>
            </a:r>
          </a:p>
        </p:txBody>
      </p:sp>
      <p:cxnSp>
        <p:nvCxnSpPr>
          <p:cNvPr id="40" name="Connector 39"/>
          <p:cNvCxnSpPr/>
          <p:nvPr/>
        </p:nvCxnSpPr>
        <p:spPr>
          <a:xfrm>
            <a:off x="7064194" y="2415237"/>
            <a:ext cx="1247883"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163345" y="3958545"/>
            <a:ext cx="7961309" cy="2330577"/>
          </a:xfrm>
          <a:prstGeom prst="rect">
            <a:avLst/>
          </a:prstGeom>
          <a:noFill/>
        </p:spPr>
        <p:txBody>
          <a:bodyPr wrap="square">
            <a:spAutoFit/>
          </a:bodyPr>
          <a:lstStyle/>
          <a:p>
            <a:pPr algn="l">
              <a:spcAft>
                <a:spcPts val="2800"/>
              </a:spcAft>
            </a:pPr>
            <a:r>
              <a:rPr sz="2000" b="0">
                <a:solidFill>
                  <a:srgbClr val="000000"/>
                </a:solidFill>
                <a:latin typeface="Segoe UI"/>
              </a:rPr>
              <a:t>Face ID: Automated biometric authentication for account security.</a:t>
            </a:r>
          </a:p>
          <a:p>
            <a:pPr algn="l">
              <a:spcAft>
                <a:spcPts val="2800"/>
              </a:spcAft>
            </a:pPr>
            <a:r>
              <a:rPr sz="2000" b="0">
                <a:solidFill>
                  <a:srgbClr val="000000"/>
                </a:solidFill>
                <a:latin typeface="Segoe UI"/>
              </a:rPr>
              <a:t>Passkey Deployment: Advanced cryptographic security to replace traditional passwords.</a:t>
            </a:r>
          </a:p>
          <a:p>
            <a:pPr algn="l">
              <a:spcAft>
                <a:spcPts val="2800"/>
              </a:spcAft>
            </a:pPr>
            <a:r>
              <a:rPr sz="2000" b="0">
                <a:solidFill>
                  <a:srgbClr val="000000"/>
                </a:solidFill>
                <a:latin typeface="Segoe UI"/>
              </a:rPr>
              <a:t>Real-time System Notifications: Intelligent monitoring of account activity and security settings.</a:t>
            </a:r>
          </a:p>
        </p:txBody>
      </p:sp>
      <p:sp>
        <p:nvSpPr>
          <p:cNvPr id="42" name="TextBox 41"/>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grpSp>
        <p:nvGrpSpPr>
          <p:cNvPr name="Group 2" id="2"/>
          <p:cNvGrpSpPr/>
          <p:nvPr/>
        </p:nvGrpSpPr>
        <p:grpSpPr>
          <a:xfrm rot="0">
            <a:off x="358401" y="584106"/>
            <a:ext cx="17542623" cy="9163507"/>
            <a:chOff x="0" y="0"/>
            <a:chExt cx="23390165" cy="12218010"/>
          </a:xfrm>
        </p:grpSpPr>
        <p:sp>
          <p:nvSpPr>
            <p:cNvPr name="Freeform 3" id="3"/>
            <p:cNvSpPr/>
            <p:nvPr/>
          </p:nvSpPr>
          <p:spPr>
            <a:xfrm flipH="false" flipV="false" rot="0">
              <a:off x="1205521"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5096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892507"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23405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05521"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55096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892507"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23405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05521"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55096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1892507"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723405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05521"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655096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1892507"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723405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0"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0"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0"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0"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22578344"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22578344"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22578344"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0">
              <a:off x="22578344"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grpSp>
      <p:sp>
        <p:nvSpPr>
          <p:cNvPr name="Freeform 27" id="27"/>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8" id="28"/>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9" id="29"/>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30" id="30"/>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1" id="31"/>
          <p:cNvSpPr/>
          <p:nvPr/>
        </p:nvSpPr>
        <p:spPr>
          <a:xfrm flipH="false" flipV="false" rot="0">
            <a:off x="-83719" y="1777369"/>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2433344">
            <a:off x="-626247" y="7986328"/>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3" id="33"/>
          <p:cNvSpPr/>
          <p:nvPr/>
        </p:nvSpPr>
        <p:spPr>
          <a:xfrm flipH="false" flipV="false" rot="323603">
            <a:off x="16904175" y="6172657"/>
            <a:ext cx="710251" cy="892756"/>
          </a:xfrm>
          <a:custGeom>
            <a:avLst/>
            <a:gdLst/>
            <a:ahLst/>
            <a:cxnLst/>
            <a:rect r="r" b="b" t="t" l="l"/>
            <a:pathLst>
              <a:path h="892756" w="710251">
                <a:moveTo>
                  <a:pt x="0" y="0"/>
                </a:moveTo>
                <a:lnTo>
                  <a:pt x="710250" y="0"/>
                </a:lnTo>
                <a:lnTo>
                  <a:pt x="710250"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4" id="34"/>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5" id="35"/>
          <p:cNvSpPr txBox="true"/>
          <p:nvPr/>
        </p:nvSpPr>
        <p:spPr>
          <a:xfrm rot="0">
            <a:off x="1614616" y="4459026"/>
            <a:ext cx="15071396" cy="2637790"/>
          </a:xfrm>
          <a:prstGeom prst="rect">
            <a:avLst/>
          </a:prstGeom>
        </p:spPr>
        <p:txBody>
          <a:bodyPr anchor="t" rtlCol="false" tIns="0" lIns="0" bIns="0" rIns="0">
            <a:spAutoFit/>
          </a:bodyPr>
          <a:lstStyle/>
          <a:p>
            <a:endParaRPr/>
          </a:p>
        </p:txBody>
      </p:sp>
      <p:sp>
        <p:nvSpPr>
          <p:cNvPr name="TextBox 36" id="36"/>
          <p:cNvSpPr txBox="true"/>
          <p:nvPr/>
        </p:nvSpPr>
        <p:spPr>
          <a:xfrm rot="0">
            <a:off x="3708347" y="2258429"/>
            <a:ext cx="10442377" cy="1391285"/>
          </a:xfrm>
          <a:prstGeom prst="rect">
            <a:avLst/>
          </a:prstGeom>
        </p:spPr>
        <p:txBody>
          <a:bodyPr anchor="t" rtlCol="false" tIns="0" lIns="0" bIns="0" rIns="0">
            <a:spAutoFit/>
          </a:bodyPr>
          <a:lstStyle/>
          <a:p>
            <a:endParaRPr/>
          </a:p>
        </p:txBody>
      </p:sp>
      <p:sp>
        <p:nvSpPr>
          <p:cNvPr id="37" name="Rectangle 36"/>
          <p:cNvSpPr/>
          <p:nvPr/>
        </p:nvSpPr>
        <p:spPr>
          <a:xfrm>
            <a:off x="914400" y="1028700"/>
            <a:ext cx="16459200" cy="8229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08347" y="2258429"/>
            <a:ext cx="10442377" cy="1391285"/>
          </a:xfrm>
          <a:prstGeom prst="rect">
            <a:avLst/>
          </a:prstGeom>
          <a:noFill/>
        </p:spPr>
        <p:txBody>
          <a:bodyPr wrap="square">
            <a:spAutoFit/>
          </a:bodyPr>
          <a:lstStyle/>
          <a:p>
            <a:pPr algn="l"/>
            <a:r>
              <a:rPr sz="3600" b="1">
                <a:solidFill>
                  <a:srgbClr val="000000"/>
                </a:solidFill>
                <a:latin typeface="Segoe UI Black"/>
              </a:rPr>
              <a:t>Liquidity and Advance Capital</a:t>
            </a:r>
          </a:p>
        </p:txBody>
      </p:sp>
      <p:cxnSp>
        <p:nvCxnSpPr>
          <p:cNvPr id="39" name="Connector 38"/>
          <p:cNvCxnSpPr/>
          <p:nvPr/>
        </p:nvCxnSpPr>
        <p:spPr>
          <a:xfrm>
            <a:off x="3708347" y="3232328"/>
            <a:ext cx="3132713"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614616" y="4459026"/>
            <a:ext cx="15071396" cy="2637790"/>
          </a:xfrm>
          <a:prstGeom prst="rect">
            <a:avLst/>
          </a:prstGeom>
          <a:noFill/>
        </p:spPr>
        <p:txBody>
          <a:bodyPr wrap="square">
            <a:spAutoFit/>
          </a:bodyPr>
          <a:lstStyle/>
          <a:p>
            <a:pPr algn="l">
              <a:spcAft>
                <a:spcPts val="2800"/>
              </a:spcAft>
            </a:pPr>
            <a:r>
              <a:rPr sz="2000" b="0">
                <a:solidFill>
                  <a:srgbClr val="000000"/>
                </a:solidFill>
                <a:latin typeface="Segoe UI"/>
              </a:rPr>
              <a:t>Access up to $750 in paycheck advances for eligible users.</a:t>
            </a:r>
          </a:p>
          <a:p>
            <a:pPr algn="l">
              <a:spcAft>
                <a:spcPts val="2800"/>
              </a:spcAft>
            </a:pPr>
            <a:r>
              <a:rPr sz="2000" b="0">
                <a:solidFill>
                  <a:srgbClr val="000000"/>
                </a:solidFill>
                <a:latin typeface="Segoe UI"/>
              </a:rPr>
              <a:t>Finco Advance LLC provides technology-driven financial options.</a:t>
            </a:r>
          </a:p>
          <a:p>
            <a:pPr algn="l">
              <a:spcAft>
                <a:spcPts val="2800"/>
              </a:spcAft>
            </a:pPr>
            <a:r>
              <a:rPr sz="2000" b="0">
                <a:solidFill>
                  <a:srgbClr val="000000"/>
                </a:solidFill>
                <a:latin typeface="Segoe UI"/>
              </a:rPr>
              <a:t>Instant qualification based on paycheck direct deposit history.</a:t>
            </a:r>
          </a:p>
        </p:txBody>
      </p:sp>
      <p:pic>
        <p:nvPicPr>
          <p:cNvPr id="41" name="Picture 40" descr="chart_3.png"/>
          <p:cNvPicPr>
            <a:picLocks noChangeAspect="1"/>
          </p:cNvPicPr>
          <p:nvPr/>
        </p:nvPicPr>
        <p:blipFill>
          <a:blip r:embed="rId14"/>
          <a:stretch>
            <a:fillRect/>
          </a:stretch>
        </p:blipFill>
        <p:spPr>
          <a:xfrm>
            <a:off x="9144000" y="1234439"/>
            <a:ext cx="8412480" cy="8023860"/>
          </a:xfrm>
          <a:prstGeom prst="rect">
            <a:avLst/>
          </a:prstGeom>
        </p:spPr>
      </p:pic>
      <p:sp>
        <p:nvSpPr>
          <p:cNvPr id="42" name="TextBox 41"/>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grpSp>
        <p:nvGrpSpPr>
          <p:cNvPr name="Group 2" id="2"/>
          <p:cNvGrpSpPr/>
          <p:nvPr/>
        </p:nvGrpSpPr>
        <p:grpSpPr>
          <a:xfrm rot="0">
            <a:off x="358401" y="584106"/>
            <a:ext cx="17542623" cy="9163507"/>
            <a:chOff x="0" y="0"/>
            <a:chExt cx="23390165" cy="12218010"/>
          </a:xfrm>
        </p:grpSpPr>
        <p:sp>
          <p:nvSpPr>
            <p:cNvPr name="Freeform 3" id="3"/>
            <p:cNvSpPr/>
            <p:nvPr/>
          </p:nvSpPr>
          <p:spPr>
            <a:xfrm flipH="false" flipV="false" rot="0">
              <a:off x="1205521"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5096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892507"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23405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05521"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55096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892507"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23405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05521"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55096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1892507"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723405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05521"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655096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1892507"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723405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0"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0"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0"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0"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22578344"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22578344"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22578344"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0">
              <a:off x="22578344"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grpSp>
      <p:sp>
        <p:nvSpPr>
          <p:cNvPr name="Freeform 27" id="27"/>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8" id="28"/>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9" id="29"/>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30" id="30"/>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1" id="31"/>
          <p:cNvSpPr/>
          <p:nvPr/>
        </p:nvSpPr>
        <p:spPr>
          <a:xfrm flipH="false" flipV="false" rot="0">
            <a:off x="-83719" y="1777369"/>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2433344">
            <a:off x="-626247" y="7986328"/>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3" id="33"/>
          <p:cNvSpPr/>
          <p:nvPr/>
        </p:nvSpPr>
        <p:spPr>
          <a:xfrm flipH="false" flipV="false" rot="323603">
            <a:off x="16904175" y="6172657"/>
            <a:ext cx="710251" cy="892756"/>
          </a:xfrm>
          <a:custGeom>
            <a:avLst/>
            <a:gdLst/>
            <a:ahLst/>
            <a:cxnLst/>
            <a:rect r="r" b="b" t="t" l="l"/>
            <a:pathLst>
              <a:path h="892756" w="710251">
                <a:moveTo>
                  <a:pt x="0" y="0"/>
                </a:moveTo>
                <a:lnTo>
                  <a:pt x="710250" y="0"/>
                </a:lnTo>
                <a:lnTo>
                  <a:pt x="710250"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4" id="34"/>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5" id="35"/>
          <p:cNvSpPr txBox="true"/>
          <p:nvPr/>
        </p:nvSpPr>
        <p:spPr>
          <a:xfrm rot="0">
            <a:off x="1614616" y="4459026"/>
            <a:ext cx="15071396" cy="837565"/>
          </a:xfrm>
          <a:prstGeom prst="rect">
            <a:avLst/>
          </a:prstGeom>
        </p:spPr>
        <p:txBody>
          <a:bodyPr anchor="t" rtlCol="false" tIns="0" lIns="0" bIns="0" rIns="0">
            <a:spAutoFit/>
          </a:bodyPr>
          <a:lstStyle/>
          <a:p>
            <a:endParaRPr/>
          </a:p>
        </p:txBody>
      </p:sp>
      <p:sp>
        <p:nvSpPr>
          <p:cNvPr name="TextBox 36" id="36"/>
          <p:cNvSpPr txBox="true"/>
          <p:nvPr/>
        </p:nvSpPr>
        <p:spPr>
          <a:xfrm rot="0">
            <a:off x="3088276" y="2258429"/>
            <a:ext cx="11062448" cy="2381885"/>
          </a:xfrm>
          <a:prstGeom prst="rect">
            <a:avLst/>
          </a:prstGeom>
        </p:spPr>
        <p:txBody>
          <a:bodyPr anchor="t" rtlCol="false" tIns="0" lIns="0" bIns="0" rIns="0">
            <a:spAutoFit/>
          </a:bodyPr>
          <a:lstStyle/>
          <a:p>
            <a:endParaRPr/>
          </a:p>
        </p:txBody>
      </p:sp>
      <p:sp>
        <p:nvSpPr>
          <p:cNvPr name="TextBox 37" id="37"/>
          <p:cNvSpPr txBox="true"/>
          <p:nvPr/>
        </p:nvSpPr>
        <p:spPr>
          <a:xfrm rot="0">
            <a:off x="1594014" y="5115616"/>
            <a:ext cx="15071396" cy="837565"/>
          </a:xfrm>
          <a:prstGeom prst="rect">
            <a:avLst/>
          </a:prstGeom>
        </p:spPr>
        <p:txBody>
          <a:bodyPr anchor="t" rtlCol="false" tIns="0" lIns="0" bIns="0" rIns="0">
            <a:spAutoFit/>
          </a:bodyPr>
          <a:lstStyle/>
          <a:p>
            <a:endParaRPr/>
          </a:p>
        </p:txBody>
      </p:sp>
      <p:sp>
        <p:nvSpPr>
          <p:cNvPr name="TextBox 38" id="38"/>
          <p:cNvSpPr txBox="true"/>
          <p:nvPr/>
        </p:nvSpPr>
        <p:spPr>
          <a:xfrm rot="0">
            <a:off x="1594014" y="5905556"/>
            <a:ext cx="15071396" cy="837565"/>
          </a:xfrm>
          <a:prstGeom prst="rect">
            <a:avLst/>
          </a:prstGeom>
        </p:spPr>
        <p:txBody>
          <a:bodyPr anchor="t" rtlCol="false" tIns="0" lIns="0" bIns="0" rIns="0">
            <a:spAutoFit/>
          </a:bodyPr>
          <a:lstStyle/>
          <a:p>
            <a:endParaRPr/>
          </a:p>
        </p:txBody>
      </p:sp>
      <p:sp>
        <p:nvSpPr>
          <p:cNvPr name="TextBox 39" id="39"/>
          <p:cNvSpPr txBox="true"/>
          <p:nvPr/>
        </p:nvSpPr>
        <p:spPr>
          <a:xfrm rot="0">
            <a:off x="1614616" y="6695496"/>
            <a:ext cx="15071396" cy="837565"/>
          </a:xfrm>
          <a:prstGeom prst="rect">
            <a:avLst/>
          </a:prstGeom>
        </p:spPr>
        <p:txBody>
          <a:bodyPr anchor="t" rtlCol="false" tIns="0" lIns="0" bIns="0" rIns="0">
            <a:spAutoFit/>
          </a:bodyPr>
          <a:lstStyle/>
          <a:p>
            <a:endParaRPr/>
          </a:p>
        </p:txBody>
      </p:sp>
      <p:sp>
        <p:nvSpPr>
          <p:cNvPr name="TextBox 40" id="40"/>
          <p:cNvSpPr txBox="true"/>
          <p:nvPr/>
        </p:nvSpPr>
        <p:spPr>
          <a:xfrm rot="0">
            <a:off x="1594014" y="7485511"/>
            <a:ext cx="15071396" cy="837565"/>
          </a:xfrm>
          <a:prstGeom prst="rect">
            <a:avLst/>
          </a:prstGeom>
        </p:spPr>
        <p:txBody>
          <a:bodyPr anchor="t" rtlCol="false" tIns="0" lIns="0" bIns="0" rIns="0">
            <a:spAutoFit/>
          </a:bodyPr>
          <a:lstStyle/>
          <a:p>
            <a:endParaRPr/>
          </a:p>
        </p:txBody>
      </p:sp>
      <p:sp>
        <p:nvSpPr>
          <p:cNvPr id="41" name="TextBox 40"/>
          <p:cNvSpPr txBox="1"/>
          <p:nvPr/>
        </p:nvSpPr>
        <p:spPr>
          <a:xfrm>
            <a:off x="3088276" y="2258429"/>
            <a:ext cx="11062448" cy="2381885"/>
          </a:xfrm>
          <a:prstGeom prst="rect">
            <a:avLst/>
          </a:prstGeom>
          <a:noFill/>
        </p:spPr>
        <p:txBody>
          <a:bodyPr wrap="square">
            <a:spAutoFit/>
          </a:bodyPr>
          <a:lstStyle/>
          <a:p>
            <a:pPr algn="l"/>
            <a:r>
              <a:rPr sz="3600" b="1">
                <a:solidFill>
                  <a:srgbClr val="000000"/>
                </a:solidFill>
                <a:latin typeface="Segoe UI Black"/>
              </a:rPr>
              <a:t>Institutional Reliability &amp; Infrastructure</a:t>
            </a:r>
          </a:p>
        </p:txBody>
      </p:sp>
      <p:cxnSp>
        <p:nvCxnSpPr>
          <p:cNvPr id="42" name="Connector 41"/>
          <p:cNvCxnSpPr/>
          <p:nvPr/>
        </p:nvCxnSpPr>
        <p:spPr>
          <a:xfrm>
            <a:off x="3088276" y="3925748"/>
            <a:ext cx="3318734"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614616" y="4459026"/>
            <a:ext cx="15071396" cy="837565"/>
          </a:xfrm>
          <a:prstGeom prst="rect">
            <a:avLst/>
          </a:prstGeom>
          <a:noFill/>
        </p:spPr>
        <p:txBody>
          <a:bodyPr wrap="square">
            <a:spAutoFit/>
          </a:bodyPr>
          <a:lstStyle/>
          <a:p>
            <a:pPr algn="l">
              <a:spcAft>
                <a:spcPts val="2800"/>
              </a:spcAft>
            </a:pPr>
            <a:r>
              <a:rPr sz="2000" b="0">
                <a:solidFill>
                  <a:srgbClr val="000000"/>
                </a:solidFill>
                <a:latin typeface="Segoe UI"/>
              </a:rPr>
              <a:t>FDIC-Insured: High-level protection for user funds through partner banks.</a:t>
            </a:r>
          </a:p>
          <a:p>
            <a:pPr algn="l">
              <a:spcAft>
                <a:spcPts val="2800"/>
              </a:spcAft>
            </a:pPr>
            <a:r>
              <a:rPr sz="2000" b="0">
                <a:solidFill>
                  <a:srgbClr val="000000"/>
                </a:solidFill>
                <a:latin typeface="Segoe UI"/>
              </a:rPr>
              <a:t>Global Utility: Integrated card services usable across international networks.</a:t>
            </a:r>
          </a:p>
          <a:p>
            <a:pPr algn="l">
              <a:spcAft>
                <a:spcPts val="2800"/>
              </a:spcAft>
            </a:pPr>
            <a:r>
              <a:rPr sz="2000" b="0">
                <a:solidFill>
                  <a:srgbClr val="000000"/>
                </a:solidFill>
                <a:latin typeface="Segoe UI"/>
              </a:rPr>
              <a:t>Zero Thresholds: No minimum or maximum balance requirements for account maintenance.</a:t>
            </a:r>
          </a:p>
        </p:txBody>
      </p:sp>
      <p:sp>
        <p:nvSpPr>
          <p:cNvPr id="44" name="TextBox 43"/>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4" id="34"/>
          <p:cNvSpPr txBox="true"/>
          <p:nvPr/>
        </p:nvSpPr>
        <p:spPr>
          <a:xfrm rot="0">
            <a:off x="6282144" y="1987117"/>
            <a:ext cx="5461995" cy="1391285"/>
          </a:xfrm>
          <a:prstGeom prst="rect">
            <a:avLst/>
          </a:prstGeom>
        </p:spPr>
        <p:txBody>
          <a:bodyPr anchor="t" rtlCol="false" tIns="0" lIns="0" bIns="0" rIns="0">
            <a:spAutoFit/>
          </a:bodyPr>
          <a:lstStyle/>
          <a:p>
            <a:endParaRPr/>
          </a:p>
        </p:txBody>
      </p:sp>
      <p:sp>
        <p:nvSpPr>
          <p:cNvPr name="TextBox 35" id="35"/>
          <p:cNvSpPr txBox="true"/>
          <p:nvPr/>
        </p:nvSpPr>
        <p:spPr>
          <a:xfrm rot="0">
            <a:off x="3638648" y="3793829"/>
            <a:ext cx="11010705" cy="1349671"/>
          </a:xfrm>
          <a:prstGeom prst="rect">
            <a:avLst/>
          </a:prstGeom>
        </p:spPr>
        <p:txBody>
          <a:bodyPr anchor="t" rtlCol="false" tIns="0" lIns="0" bIns="0" rIns="0">
            <a:spAutoFit/>
          </a:bodyPr>
          <a:lstStyle/>
          <a:p>
            <a:endParaRPr/>
          </a:p>
        </p:txBody>
      </p:sp>
      <p:sp>
        <p:nvSpPr>
          <p:cNvPr id="36" name="Rectangle 35"/>
          <p:cNvSpPr/>
          <p:nvPr/>
        </p:nvSpPr>
        <p:spPr>
          <a:xfrm>
            <a:off x="914400" y="1028700"/>
            <a:ext cx="164592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463040" y="3291840"/>
            <a:ext cx="15361920" cy="2263140"/>
          </a:xfrm>
          <a:prstGeom prst="rect">
            <a:avLst/>
          </a:prstGeom>
          <a:noFill/>
        </p:spPr>
        <p:txBody>
          <a:bodyPr wrap="square">
            <a:spAutoFit/>
          </a:bodyPr>
          <a:lstStyle/>
          <a:p>
            <a:pPr algn="ctr"/>
            <a:r>
              <a:rPr sz="5200" b="1">
                <a:solidFill>
                  <a:srgbClr val="FFFFFF"/>
                </a:solidFill>
                <a:latin typeface="Segoe UI Black"/>
              </a:rPr>
              <a:t>Onboarding &amp; System Deployment</a:t>
            </a:r>
          </a:p>
        </p:txBody>
      </p:sp>
      <p:sp>
        <p:nvSpPr>
          <p:cNvPr id="38" name="TextBox 37"/>
          <p:cNvSpPr txBox="1"/>
          <p:nvPr/>
        </p:nvSpPr>
        <p:spPr>
          <a:xfrm>
            <a:off x="914400" y="5760720"/>
            <a:ext cx="15361920" cy="3909060"/>
          </a:xfrm>
          <a:prstGeom prst="rect">
            <a:avLst/>
          </a:prstGeom>
          <a:noFill/>
        </p:spPr>
        <p:txBody>
          <a:bodyPr wrap="square">
            <a:spAutoFit/>
          </a:bodyPr>
          <a:lstStyle/>
          <a:p>
            <a:pPr algn="ctr">
              <a:spcAft>
                <a:spcPts val="2800"/>
              </a:spcAft>
            </a:pPr>
            <a:r>
              <a:rPr sz="2600" b="0">
                <a:solidFill>
                  <a:srgbClr val="DCE6F5"/>
                </a:solidFill>
                <a:latin typeface="Segoe UI"/>
              </a:rPr>
              <a:t>Streamlined mobile-first sign-up and card arrival tracking.</a:t>
            </a:r>
          </a:p>
          <a:p>
            <a:pPr algn="ctr">
              <a:spcAft>
                <a:spcPts val="2800"/>
              </a:spcAft>
            </a:pPr>
            <a:r>
              <a:rPr sz="2600" b="0">
                <a:solidFill>
                  <a:srgbClr val="DCE6F5"/>
                </a:solidFill>
                <a:latin typeface="Segoe UI"/>
              </a:rPr>
              <a:t>Full integration of Spend, Save, Invest, and Advance modules.</a:t>
            </a:r>
          </a:p>
          <a:p>
            <a:pPr algn="ctr">
              <a:spcAft>
                <a:spcPts val="2800"/>
              </a:spcAft>
            </a:pPr>
            <a:r>
              <a:rPr sz="2600" b="0">
                <a:solidFill>
                  <a:srgbClr val="DCE6F5"/>
                </a:solidFill>
                <a:latin typeface="Segoe UI"/>
              </a:rPr>
              <a:t>Secure login infrastructure managed via the Current Support Center.</a:t>
            </a:r>
          </a:p>
        </p:txBody>
      </p:sp>
      <p:sp>
        <p:nvSpPr>
          <p:cNvPr id="39" name="TextBox 38"/>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DAHEAPACS3g</dc:identifier>
  <dcterms:modified xsi:type="dcterms:W3CDTF">2011-08-01T06:04:30Z</dcterms:modified>
  <cp:revision>1</cp:revision>
  <dc:title>Lorem ipsum dolor sit amet, consectetur adipiscing elit. Duis vel dolor ante. Nullam feugiat egestas elit et vehicula. Proin venenatis, orci nec cursus tristique, nulla risus mattis eros, id accumsan massa elit eu augue. Mauris massa ipsum, pharetra id</dc:title>
</cp:coreProperties>
</file>