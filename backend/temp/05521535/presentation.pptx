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7"/>
    <p:sldId id="267" r:id="rId18"/>
    <p:sldId id="268" r:id="rId19"/>
    <p:sldId id="269" r:id="rId20"/>
    <p:sldId id="270" r:id="rId21"/>
  </p:sldIdLst>
  <p:sldSz cx="18288000" cy="10287000"/>
  <p:notesSz cx="6858000" cy="9144000"/>
  <p:embeddedFontLst>
    <p:embeddedFont>
      <p:font typeface="Telegraf"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font" Target="fonts/font16.fntdata"/><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eg"/><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2.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59" r="0" b="-9259"/>
            </a:stretch>
          </a:blipFill>
        </p:spPr>
      </p:sp>
      <p:sp>
        <p:nvSpPr>
          <p:cNvPr name="Freeform 3" id="3"/>
          <p:cNvSpPr/>
          <p:nvPr/>
        </p:nvSpPr>
        <p:spPr>
          <a:xfrm flipH="false" flipV="false" rot="0">
            <a:off x="10416465" y="879937"/>
            <a:ext cx="7453924" cy="9407063"/>
          </a:xfrm>
          <a:custGeom>
            <a:avLst/>
            <a:gdLst/>
            <a:ahLst/>
            <a:cxnLst/>
            <a:rect r="r" b="b" t="t" l="l"/>
            <a:pathLst>
              <a:path h="9407063" w="7453924">
                <a:moveTo>
                  <a:pt x="0" y="0"/>
                </a:moveTo>
                <a:lnTo>
                  <a:pt x="7453924" y="0"/>
                </a:lnTo>
                <a:lnTo>
                  <a:pt x="7453924" y="9407063"/>
                </a:lnTo>
                <a:lnTo>
                  <a:pt x="0" y="9407063"/>
                </a:lnTo>
                <a:lnTo>
                  <a:pt x="0" y="0"/>
                </a:lnTo>
                <a:close/>
              </a:path>
            </a:pathLst>
          </a:custGeom>
          <a:blipFill>
            <a:blip r:embed="rId3"/>
            <a:stretch>
              <a:fillRect l="-146518" t="-3109" r="-13735" b="0"/>
            </a:stretch>
          </a:blipFill>
        </p:spPr>
      </p:sp>
      <p:sp>
        <p:nvSpPr>
          <p:cNvPr name="TextBox 4" id="4"/>
          <p:cNvSpPr txBox="true"/>
          <p:nvPr/>
        </p:nvSpPr>
        <p:spPr>
          <a:xfrm rot="0">
            <a:off x="1028700" y="1841526"/>
            <a:ext cx="7597578" cy="4429353"/>
          </a:xfrm>
          <a:prstGeom prst="rect">
            <a:avLst/>
          </a:prstGeom>
        </p:spPr>
        <p:txBody>
          <a:bodyPr anchor="t" rtlCol="false" tIns="0" lIns="0" bIns="0" rIns="0">
            <a:spAutoFit/>
          </a:bodyPr>
          <a:lstStyle/>
          <a:p>
            <a:endParaRPr/>
          </a:p>
        </p:txBody>
      </p:sp>
      <p:sp>
        <p:nvSpPr>
          <p:cNvPr name="TextBox 5" id="5"/>
          <p:cNvSpPr txBox="true"/>
          <p:nvPr/>
        </p:nvSpPr>
        <p:spPr>
          <a:xfrm rot="0">
            <a:off x="1028700" y="6783015"/>
            <a:ext cx="8053372" cy="1193269"/>
          </a:xfrm>
          <a:prstGeom prst="rect">
            <a:avLst/>
          </a:prstGeom>
        </p:spPr>
        <p:txBody>
          <a:bodyPr anchor="t" rtlCol="false" tIns="0" lIns="0" bIns="0" rIns="0">
            <a:spAutoFit/>
          </a:bodyPr>
          <a:lstStyle/>
          <a:p>
            <a:endParaRPr/>
          </a:p>
        </p:txBody>
      </p:sp>
      <p:sp>
        <p:nvSpPr>
          <p:cNvPr id="6" name="TextBox 5"/>
          <p:cNvSpPr txBox="1"/>
          <p:nvPr/>
        </p:nvSpPr>
        <p:spPr>
          <a:xfrm>
            <a:off x="1028700" y="1841526"/>
            <a:ext cx="7597578" cy="4429353"/>
          </a:xfrm>
          <a:prstGeom prst="rect">
            <a:avLst/>
          </a:prstGeom>
          <a:noFill/>
        </p:spPr>
        <p:txBody>
          <a:bodyPr wrap="square">
            <a:spAutoFit/>
          </a:bodyPr>
          <a:lstStyle/>
          <a:p>
            <a:pPr algn="l"/>
            <a:r>
              <a:rPr sz="3800" b="1">
                <a:solidFill>
                  <a:srgbClr val="000000"/>
                </a:solidFill>
                <a:latin typeface="Segoe UI Black"/>
              </a:rPr>
              <a:t>The Intelligent Classroom: Orchestrating the AI Revolution in Pedagogy</a:t>
            </a:r>
          </a:p>
        </p:txBody>
      </p:sp>
      <p:cxnSp>
        <p:nvCxnSpPr>
          <p:cNvPr id="7" name="Connector 6"/>
          <p:cNvCxnSpPr/>
          <p:nvPr/>
        </p:nvCxnSpPr>
        <p:spPr>
          <a:xfrm>
            <a:off x="1028700" y="4942073"/>
            <a:ext cx="2279273"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28700" y="6783015"/>
            <a:ext cx="8053372" cy="1193269"/>
          </a:xfrm>
          <a:prstGeom prst="rect">
            <a:avLst/>
          </a:prstGeom>
          <a:noFill/>
        </p:spPr>
        <p:txBody>
          <a:bodyPr wrap="square">
            <a:spAutoFit/>
          </a:bodyPr>
          <a:lstStyle/>
          <a:p>
            <a:pPr algn="l"/>
            <a:r>
              <a:rPr sz="2200" b="0">
                <a:solidFill>
                  <a:srgbClr val="000000"/>
                </a:solidFill>
                <a:latin typeface="Segoe UI"/>
              </a:rPr>
              <a:t>Navigating the transition from standardized 'one-size-fits-all' teaching to personalized, data-driven cognitive empowerment across the global educational spectrum.</a:t>
            </a:r>
          </a:p>
        </p:txBody>
      </p:sp>
      <p:sp>
        <p:nvSpPr>
          <p:cNvPr id="9" name="TextBox 8"/>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sp>
        <p:nvSpPr>
          <p:cNvPr name="TextBox 3" id="3"/>
          <p:cNvSpPr txBox="true"/>
          <p:nvPr/>
        </p:nvSpPr>
        <p:spPr>
          <a:xfrm rot="0">
            <a:off x="1273506" y="1019175"/>
            <a:ext cx="5777796" cy="2275625"/>
          </a:xfrm>
          <a:prstGeom prst="rect">
            <a:avLst/>
          </a:prstGeom>
        </p:spPr>
        <p:txBody>
          <a:bodyPr anchor="t" rtlCol="false" tIns="0" lIns="0" bIns="0" rIns="0">
            <a:spAutoFit/>
          </a:bodyPr>
          <a:lstStyle/>
          <a:p>
            <a:endParaRPr/>
          </a:p>
        </p:txBody>
      </p:sp>
      <p:grpSp>
        <p:nvGrpSpPr>
          <p:cNvPr name="Group 4" id="4"/>
          <p:cNvGrpSpPr/>
          <p:nvPr/>
        </p:nvGrpSpPr>
        <p:grpSpPr>
          <a:xfrm rot="0">
            <a:off x="8676173" y="1482064"/>
            <a:ext cx="8583127" cy="7363298"/>
            <a:chOff x="0" y="0"/>
            <a:chExt cx="1257627" cy="1078894"/>
          </a:xfrm>
        </p:grpSpPr>
        <p:sp>
          <p:nvSpPr>
            <p:cNvPr name="Freeform 5" id="5"/>
            <p:cNvSpPr/>
            <p:nvPr/>
          </p:nvSpPr>
          <p:spPr>
            <a:xfrm flipH="false" flipV="false" rot="0">
              <a:off x="0" y="0"/>
              <a:ext cx="1257627" cy="1078894"/>
            </a:xfrm>
            <a:custGeom>
              <a:avLst/>
              <a:gdLst/>
              <a:ahLst/>
              <a:cxnLst/>
              <a:rect r="r" b="b" t="t" l="l"/>
              <a:pathLst>
                <a:path h="1078894" w="1257627">
                  <a:moveTo>
                    <a:pt x="35178" y="0"/>
                  </a:moveTo>
                  <a:lnTo>
                    <a:pt x="1222449" y="0"/>
                  </a:lnTo>
                  <a:cubicBezTo>
                    <a:pt x="1231779" y="0"/>
                    <a:pt x="1240726" y="3706"/>
                    <a:pt x="1247323" y="10303"/>
                  </a:cubicBezTo>
                  <a:cubicBezTo>
                    <a:pt x="1253921" y="16900"/>
                    <a:pt x="1257627" y="25848"/>
                    <a:pt x="1257627" y="35178"/>
                  </a:cubicBezTo>
                  <a:lnTo>
                    <a:pt x="1257627" y="1043716"/>
                  </a:lnTo>
                  <a:cubicBezTo>
                    <a:pt x="1257627" y="1053046"/>
                    <a:pt x="1253921" y="1061993"/>
                    <a:pt x="1247323" y="1068590"/>
                  </a:cubicBezTo>
                  <a:cubicBezTo>
                    <a:pt x="1240726" y="1075187"/>
                    <a:pt x="1231779" y="1078894"/>
                    <a:pt x="1222449" y="1078894"/>
                  </a:cubicBezTo>
                  <a:lnTo>
                    <a:pt x="35178" y="1078894"/>
                  </a:lnTo>
                  <a:cubicBezTo>
                    <a:pt x="25848" y="1078894"/>
                    <a:pt x="16900" y="1075187"/>
                    <a:pt x="10303" y="1068590"/>
                  </a:cubicBezTo>
                  <a:cubicBezTo>
                    <a:pt x="3706" y="1061993"/>
                    <a:pt x="0" y="1053046"/>
                    <a:pt x="0" y="1043716"/>
                  </a:cubicBezTo>
                  <a:lnTo>
                    <a:pt x="0" y="35178"/>
                  </a:lnTo>
                  <a:cubicBezTo>
                    <a:pt x="0" y="25848"/>
                    <a:pt x="3706" y="16900"/>
                    <a:pt x="10303" y="10303"/>
                  </a:cubicBezTo>
                  <a:cubicBezTo>
                    <a:pt x="16900" y="3706"/>
                    <a:pt x="25848" y="0"/>
                    <a:pt x="35178" y="0"/>
                  </a:cubicBezTo>
                  <a:close/>
                </a:path>
              </a:pathLst>
            </a:custGeom>
            <a:blipFill>
              <a:blip r:embed="rId3"/>
              <a:stretch>
                <a:fillRect l="-7192" t="0" r="-7192" b="0"/>
              </a:stretch>
            </a:blipFill>
            <a:ln cap="rnd">
              <a:noFill/>
              <a:prstDash val="solid"/>
              <a:round/>
            </a:ln>
          </p:spPr>
        </p:sp>
      </p:grpSp>
      <p:sp>
        <p:nvSpPr>
          <p:cNvPr name="TextBox 6" id="6"/>
          <p:cNvSpPr txBox="true"/>
          <p:nvPr/>
        </p:nvSpPr>
        <p:spPr>
          <a:xfrm rot="0">
            <a:off x="1289511" y="3956296"/>
            <a:ext cx="6194128" cy="3549650"/>
          </a:xfrm>
          <a:prstGeom prst="rect">
            <a:avLst/>
          </a:prstGeom>
        </p:spPr>
        <p:txBody>
          <a:bodyPr anchor="t" rtlCol="false" tIns="0" lIns="0" bIns="0" rIns="0">
            <a:spAutoFit/>
          </a:bodyPr>
          <a:lstStyle/>
          <a:p>
            <a:endParaRPr/>
          </a:p>
        </p:txBody>
      </p:sp>
      <p:sp>
        <p:nvSpPr>
          <p:cNvPr id="7" name="Rectangle 6"/>
          <p:cNvSpPr/>
          <p:nvPr/>
        </p:nvSpPr>
        <p:spPr>
          <a:xfrm>
            <a:off x="914400" y="1028700"/>
            <a:ext cx="164592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3291840"/>
            <a:ext cx="15361920" cy="2263140"/>
          </a:xfrm>
          <a:prstGeom prst="rect">
            <a:avLst/>
          </a:prstGeom>
          <a:noFill/>
        </p:spPr>
        <p:txBody>
          <a:bodyPr wrap="square">
            <a:spAutoFit/>
          </a:bodyPr>
          <a:lstStyle/>
          <a:p>
            <a:pPr algn="ctr"/>
            <a:r>
              <a:rPr sz="5200" b="1">
                <a:solidFill>
                  <a:srgbClr val="FFFFFF"/>
                </a:solidFill>
                <a:latin typeface="Segoe UI Black"/>
              </a:rPr>
              <a:t>The Fourth Industrial Revolution: AI as the New Foundational Infrastructure</a:t>
            </a:r>
          </a:p>
        </p:txBody>
      </p:sp>
      <p:sp>
        <p:nvSpPr>
          <p:cNvPr id="9" name="TextBox 8"/>
          <p:cNvSpPr txBox="1"/>
          <p:nvPr/>
        </p:nvSpPr>
        <p:spPr>
          <a:xfrm>
            <a:off x="1463040" y="5760720"/>
            <a:ext cx="15361920" cy="1028700"/>
          </a:xfrm>
          <a:prstGeom prst="rect">
            <a:avLst/>
          </a:prstGeom>
          <a:noFill/>
        </p:spPr>
        <p:txBody>
          <a:bodyPr wrap="square">
            <a:spAutoFit/>
          </a:bodyPr>
          <a:lstStyle/>
          <a:p>
            <a:pPr algn="ctr"/>
            <a:r>
              <a:rPr sz="2600" b="0">
                <a:solidFill>
                  <a:srgbClr val="DCE6F5"/>
                </a:solidFill>
                <a:latin typeface="Segoe UI"/>
              </a:rPr>
              <a:t>Moving beyond static digital textbooks toward dynamic, reactive intelligence systems that interpret student intent, emotional state, and mastery levels in real-time.</a:t>
            </a:r>
          </a:p>
        </p:txBody>
      </p:sp>
      <p:sp>
        <p:nvSpPr>
          <p:cNvPr id="10" name="TextBox 9"/>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2657579" y="2473781"/>
            <a:ext cx="12972843" cy="5339439"/>
            <a:chOff x="0" y="0"/>
            <a:chExt cx="3416716" cy="1406272"/>
          </a:xfrm>
        </p:grpSpPr>
        <p:sp>
          <p:nvSpPr>
            <p:cNvPr name="Freeform 4" id="4"/>
            <p:cNvSpPr/>
            <p:nvPr/>
          </p:nvSpPr>
          <p:spPr>
            <a:xfrm flipH="false" flipV="false" rot="0">
              <a:off x="0" y="0"/>
              <a:ext cx="3416716" cy="1406272"/>
            </a:xfrm>
            <a:custGeom>
              <a:avLst/>
              <a:gdLst/>
              <a:ahLst/>
              <a:cxnLst/>
              <a:rect r="r" b="b" t="t" l="l"/>
              <a:pathLst>
                <a:path h="1406272" w="3416716">
                  <a:moveTo>
                    <a:pt x="0" y="0"/>
                  </a:moveTo>
                  <a:lnTo>
                    <a:pt x="3416716" y="0"/>
                  </a:lnTo>
                  <a:lnTo>
                    <a:pt x="3416716" y="1406272"/>
                  </a:lnTo>
                  <a:lnTo>
                    <a:pt x="0" y="1406272"/>
                  </a:ln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sp>
        <p:sp>
          <p:nvSpPr>
            <p:cNvPr name="TextBox 5" id="5"/>
            <p:cNvSpPr txBox="true"/>
            <p:nvPr/>
          </p:nvSpPr>
          <p:spPr>
            <a:xfrm>
              <a:off x="0" y="-76200"/>
              <a:ext cx="3416716" cy="1482472"/>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4250869" y="3259772"/>
            <a:ext cx="9786261" cy="1037299"/>
          </a:xfrm>
          <a:prstGeom prst="rect">
            <a:avLst/>
          </a:prstGeom>
        </p:spPr>
        <p:txBody>
          <a:bodyPr anchor="t" rtlCol="false" tIns="0" lIns="0" bIns="0" rIns="0">
            <a:spAutoFit/>
          </a:bodyPr>
          <a:lstStyle/>
          <a:p>
            <a:endParaRPr/>
          </a:p>
        </p:txBody>
      </p:sp>
      <p:sp>
        <p:nvSpPr>
          <p:cNvPr name="TextBox 7" id="7"/>
          <p:cNvSpPr txBox="true"/>
          <p:nvPr/>
        </p:nvSpPr>
        <p:spPr>
          <a:xfrm rot="0">
            <a:off x="3829843" y="4921375"/>
            <a:ext cx="10628314" cy="1916812"/>
          </a:xfrm>
          <a:prstGeom prst="rect">
            <a:avLst/>
          </a:prstGeom>
        </p:spPr>
        <p:txBody>
          <a:bodyPr anchor="t" rtlCol="false" tIns="0" lIns="0" bIns="0" rIns="0">
            <a:spAutoFit/>
          </a:bodyPr>
          <a:lstStyle/>
          <a:p>
            <a:endParaRPr/>
          </a:p>
        </p:txBody>
      </p:sp>
      <p:sp>
        <p:nvSpPr>
          <p:cNvPr id="8" name="TextBox 7"/>
          <p:cNvSpPr txBox="1"/>
          <p:nvPr/>
        </p:nvSpPr>
        <p:spPr>
          <a:xfrm>
            <a:off x="4250869" y="3259772"/>
            <a:ext cx="9786261" cy="1037299"/>
          </a:xfrm>
          <a:prstGeom prst="rect">
            <a:avLst/>
          </a:prstGeom>
          <a:noFill/>
        </p:spPr>
        <p:txBody>
          <a:bodyPr wrap="square">
            <a:spAutoFit/>
          </a:bodyPr>
          <a:lstStyle/>
          <a:p>
            <a:pPr algn="l"/>
            <a:r>
              <a:rPr sz="3600" b="1">
                <a:solidFill>
                  <a:srgbClr val="000000"/>
                </a:solidFill>
                <a:latin typeface="Segoe UI Black"/>
              </a:rPr>
              <a:t>Solving Bloom’s 2-Sigma Problem through Scalable Personalization</a:t>
            </a:r>
          </a:p>
        </p:txBody>
      </p:sp>
      <p:cxnSp>
        <p:nvCxnSpPr>
          <p:cNvPr id="9" name="Connector 8"/>
          <p:cNvCxnSpPr/>
          <p:nvPr/>
        </p:nvCxnSpPr>
        <p:spPr>
          <a:xfrm>
            <a:off x="4250869" y="3985881"/>
            <a:ext cx="2935878"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829843" y="4921375"/>
            <a:ext cx="10628314" cy="1916812"/>
          </a:xfrm>
          <a:prstGeom prst="rect">
            <a:avLst/>
          </a:prstGeom>
          <a:noFill/>
        </p:spPr>
        <p:txBody>
          <a:bodyPr wrap="square">
            <a:spAutoFit/>
          </a:bodyPr>
          <a:lstStyle/>
          <a:p>
            <a:pPr algn="l">
              <a:spcAft>
                <a:spcPts val="2800"/>
              </a:spcAft>
            </a:pPr>
            <a:r>
              <a:rPr sz="1700" b="0">
                <a:solidFill>
                  <a:srgbClr val="000000"/>
                </a:solidFill>
                <a:latin typeface="Segoe UI"/>
              </a:rPr>
              <a:t>Democratizing Elite Tutoring: AI bridges the gap between mass instruction and private tutoring, providing every student with a personalized cognitive guide previously accessible only to the top 2%.</a:t>
            </a:r>
          </a:p>
          <a:p>
            <a:pPr algn="l">
              <a:spcAft>
                <a:spcPts val="2800"/>
              </a:spcAft>
            </a:pPr>
            <a:r>
              <a:rPr sz="1700" b="0">
                <a:solidFill>
                  <a:srgbClr val="000000"/>
                </a:solidFill>
                <a:latin typeface="Segoe UI"/>
              </a:rPr>
              <a:t>Cognitive Load Optimization: Adaptive algorithms modulate content density and delivery speed, ensuring students remain in the 'Zone of Proximal Development' without burnout or boredom.</a:t>
            </a:r>
          </a:p>
          <a:p>
            <a:pPr algn="l">
              <a:spcAft>
                <a:spcPts val="2800"/>
              </a:spcAft>
            </a:pPr>
            <a:r>
              <a:rPr sz="1700" b="0">
                <a:solidFill>
                  <a:srgbClr val="000000"/>
                </a:solidFill>
                <a:latin typeface="Segoe UI"/>
              </a:rPr>
              <a:t>Predictive Micro-Interventions: Machine learning models analyze behavioral patterns to identify 'at-risk' knowledge gaps 72 hours before they manifest in assessment failures.</a:t>
            </a:r>
          </a:p>
        </p:txBody>
      </p:sp>
      <p:sp>
        <p:nvSpPr>
          <p:cNvPr id="11" name="TextBox 10"/>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4375865" y="1917083"/>
            <a:ext cx="9536271" cy="984211"/>
          </a:xfrm>
          <a:prstGeom prst="rect">
            <a:avLst/>
          </a:prstGeom>
        </p:spPr>
        <p:txBody>
          <a:bodyPr anchor="t" rtlCol="false" tIns="0" lIns="0" bIns="0" rIns="0">
            <a:spAutoFit/>
          </a:bodyPr>
          <a:lstStyle/>
          <a:p>
            <a:endParaRPr/>
          </a:p>
        </p:txBody>
      </p:sp>
      <p:grpSp>
        <p:nvGrpSpPr>
          <p:cNvPr name="Group 4" id="4"/>
          <p:cNvGrpSpPr/>
          <p:nvPr/>
        </p:nvGrpSpPr>
        <p:grpSpPr>
          <a:xfrm rot="0">
            <a:off x="5323627" y="3687193"/>
            <a:ext cx="7718298" cy="4887140"/>
            <a:chOff x="0" y="0"/>
            <a:chExt cx="10291064" cy="6516186"/>
          </a:xfrm>
        </p:grpSpPr>
        <p:grpSp>
          <p:nvGrpSpPr>
            <p:cNvPr name="Group 5" id="5"/>
            <p:cNvGrpSpPr/>
            <p:nvPr/>
          </p:nvGrpSpPr>
          <p:grpSpPr>
            <a:xfrm rot="0">
              <a:off x="0" y="0"/>
              <a:ext cx="10291064" cy="6516186"/>
              <a:chOff x="0" y="0"/>
              <a:chExt cx="1646931" cy="1042818"/>
            </a:xfrm>
          </p:grpSpPr>
          <p:sp>
            <p:nvSpPr>
              <p:cNvPr name="Freeform 6" id="6"/>
              <p:cNvSpPr/>
              <p:nvPr/>
            </p:nvSpPr>
            <p:spPr>
              <a:xfrm flipH="false" flipV="false" rot="0">
                <a:off x="0" y="0"/>
                <a:ext cx="1646931" cy="1042818"/>
              </a:xfrm>
              <a:custGeom>
                <a:avLst/>
                <a:gdLst/>
                <a:ahLst/>
                <a:cxnLst/>
                <a:rect r="r" b="b" t="t" l="l"/>
                <a:pathLst>
                  <a:path h="1042818" w="1646931">
                    <a:moveTo>
                      <a:pt x="14043" y="0"/>
                    </a:moveTo>
                    <a:lnTo>
                      <a:pt x="1632888" y="0"/>
                    </a:lnTo>
                    <a:cubicBezTo>
                      <a:pt x="1640644" y="0"/>
                      <a:pt x="1646931" y="6287"/>
                      <a:pt x="1646931" y="14043"/>
                    </a:cubicBezTo>
                    <a:lnTo>
                      <a:pt x="1646931" y="1028775"/>
                    </a:lnTo>
                    <a:cubicBezTo>
                      <a:pt x="1646931" y="1036531"/>
                      <a:pt x="1640644" y="1042818"/>
                      <a:pt x="1632888" y="1042818"/>
                    </a:cubicBezTo>
                    <a:lnTo>
                      <a:pt x="14043" y="1042818"/>
                    </a:lnTo>
                    <a:cubicBezTo>
                      <a:pt x="6287" y="1042818"/>
                      <a:pt x="0" y="1036531"/>
                      <a:pt x="0" y="1028775"/>
                    </a:cubicBezTo>
                    <a:lnTo>
                      <a:pt x="0" y="14043"/>
                    </a:lnTo>
                    <a:cubicBezTo>
                      <a:pt x="0" y="6287"/>
                      <a:pt x="6287" y="0"/>
                      <a:pt x="14043" y="0"/>
                    </a:cubicBez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sp>
          <p:sp>
            <p:nvSpPr>
              <p:cNvPr name="TextBox 7" id="7"/>
              <p:cNvSpPr txBox="true"/>
              <p:nvPr/>
            </p:nvSpPr>
            <p:spPr>
              <a:xfrm>
                <a:off x="0" y="-66675"/>
                <a:ext cx="1646931" cy="1109493"/>
              </a:xfrm>
              <a:prstGeom prst="rect">
                <a:avLst/>
              </a:prstGeom>
            </p:spPr>
            <p:txBody>
              <a:bodyPr anchor="ctr" rtlCol="false" tIns="58084" lIns="58084" bIns="58084" rIns="58084"/>
              <a:lstStyle/>
              <a:p>
                <a:pPr algn="ctr">
                  <a:lnSpc>
                    <a:spcPts val="2799"/>
                  </a:lnSpc>
                </a:pPr>
              </a:p>
            </p:txBody>
          </p:sp>
        </p:grpSp>
        <p:sp>
          <p:nvSpPr>
            <p:cNvPr name="TextBox 8" id="8"/>
            <p:cNvSpPr txBox="true"/>
            <p:nvPr/>
          </p:nvSpPr>
          <p:spPr>
            <a:xfrm rot="0">
              <a:off x="634951" y="809577"/>
              <a:ext cx="8619462" cy="4249129"/>
            </a:xfrm>
            <a:prstGeom prst="rect">
              <a:avLst/>
            </a:prstGeom>
          </p:spPr>
          <p:txBody>
            <a:bodyPr anchor="t" rtlCol="false" tIns="0" lIns="0" bIns="0" rIns="0">
              <a:spAutoFit/>
            </a:bodyPr>
            <a:lstStyle/>
            <a:p>
              <a:pPr algn="l" marL="430219" indent="-215110" lvl="1">
                <a:lnSpc>
                  <a:spcPts val="2789"/>
                </a:lnSpc>
                <a:buFont typeface="Arial"/>
                <a:buChar char="•"/>
              </a:pPr>
              <a:r>
                <a:rPr lang="en-US" sz="1992" spc="83" strike="noStrike" u="none">
                  <a:solidFill>
                    <a:srgbClr val="FFFFFF"/>
                  </a:solidFill>
                  <a:latin typeface="Telegraf"/>
                  <a:ea typeface="Telegraf"/>
                  <a:cs typeface="Telegraf"/>
                  <a:sym typeface="Telegraf"/>
                </a:rPr>
                <a:t>Lorem ipsum dolor sit amet, consectetur adipiscing sagittis elit. Quisque facilisis tincidunt risus sit amet sagittis. Praesent tempus vitae felis maximus pretium.</a:t>
              </a:r>
            </a:p>
            <a:p>
              <a:pPr algn="l">
                <a:lnSpc>
                  <a:spcPts val="2789"/>
                </a:lnSpc>
              </a:pPr>
            </a:p>
            <a:p>
              <a:pPr algn="l" marL="430219" indent="-215110" lvl="1">
                <a:lnSpc>
                  <a:spcPts val="2789"/>
                </a:lnSpc>
                <a:buFont typeface="Arial"/>
                <a:buChar char="•"/>
              </a:pPr>
              <a:r>
                <a:rPr lang="en-US" sz="1992" spc="83" strike="noStrike" u="none">
                  <a:solidFill>
                    <a:srgbClr val="FFFFFF"/>
                  </a:solidFill>
                  <a:latin typeface="Telegraf"/>
                  <a:ea typeface="Telegraf"/>
                  <a:cs typeface="Telegraf"/>
                  <a:sym typeface="Telegraf"/>
                </a:rPr>
                <a:t>Lorem ipsum dolor sit amet, consectetur adipiscing sagittis elit. Quisque facilisis tincidunt risus sit amet sagittis. Praesent tempus vitae felis maximus pretiu.</a:t>
              </a:r>
            </a:p>
          </p:txBody>
        </p:sp>
      </p:grpSp>
      <p:sp>
        <p:nvSpPr>
          <p:cNvPr id="9" name="TextBox 8"/>
          <p:cNvSpPr txBox="1"/>
          <p:nvPr/>
        </p:nvSpPr>
        <p:spPr>
          <a:xfrm>
            <a:off x="4375865" y="1917083"/>
            <a:ext cx="9536271" cy="984211"/>
          </a:xfrm>
          <a:prstGeom prst="rect">
            <a:avLst/>
          </a:prstGeom>
          <a:noFill/>
        </p:spPr>
        <p:txBody>
          <a:bodyPr wrap="square">
            <a:spAutoFit/>
          </a:bodyPr>
          <a:lstStyle/>
          <a:p>
            <a:pPr algn="l"/>
            <a:r>
              <a:rPr sz="3400" b="1">
                <a:solidFill>
                  <a:srgbClr val="000000"/>
                </a:solidFill>
                <a:latin typeface="Segoe UI Black"/>
              </a:rPr>
              <a:t>Exponential Growth: Capital Investment in Educational AI</a:t>
            </a:r>
          </a:p>
        </p:txBody>
      </p:sp>
      <p:cxnSp>
        <p:nvCxnSpPr>
          <p:cNvPr id="10" name="Connector 9"/>
          <p:cNvCxnSpPr/>
          <p:nvPr/>
        </p:nvCxnSpPr>
        <p:spPr>
          <a:xfrm>
            <a:off x="4375865" y="2606030"/>
            <a:ext cx="2860881"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pic>
        <p:nvPicPr>
          <p:cNvPr id="11" name="Picture 10" descr="chart_4.png"/>
          <p:cNvPicPr>
            <a:picLocks noChangeAspect="1"/>
          </p:cNvPicPr>
          <p:nvPr/>
        </p:nvPicPr>
        <p:blipFill>
          <a:blip r:embed="rId3"/>
          <a:stretch>
            <a:fillRect/>
          </a:stretch>
        </p:blipFill>
        <p:spPr>
          <a:xfrm>
            <a:off x="9144000" y="1234439"/>
            <a:ext cx="8412480" cy="8023860"/>
          </a:xfrm>
          <a:prstGeom prst="rect">
            <a:avLst/>
          </a:prstGeom>
        </p:spPr>
      </p:pic>
      <p:sp>
        <p:nvSpPr>
          <p:cNvPr id="12" name="TextBox 11"/>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8518" r="0" b="0"/>
            </a:stretch>
          </a:blipFill>
        </p:spPr>
      </p:sp>
      <p:sp>
        <p:nvSpPr>
          <p:cNvPr name="Freeform 3" id="3"/>
          <p:cNvSpPr/>
          <p:nvPr/>
        </p:nvSpPr>
        <p:spPr>
          <a:xfrm flipH="false" flipV="false" rot="0">
            <a:off x="10939039" y="1194461"/>
            <a:ext cx="6872146" cy="9092539"/>
          </a:xfrm>
          <a:custGeom>
            <a:avLst/>
            <a:gdLst/>
            <a:ahLst/>
            <a:cxnLst/>
            <a:rect r="r" b="b" t="t" l="l"/>
            <a:pathLst>
              <a:path h="9092539" w="6872146">
                <a:moveTo>
                  <a:pt x="0" y="0"/>
                </a:moveTo>
                <a:lnTo>
                  <a:pt x="6872146" y="0"/>
                </a:lnTo>
                <a:lnTo>
                  <a:pt x="6872146" y="9092539"/>
                </a:lnTo>
                <a:lnTo>
                  <a:pt x="0" y="9092539"/>
                </a:lnTo>
                <a:lnTo>
                  <a:pt x="0" y="0"/>
                </a:lnTo>
                <a:close/>
              </a:path>
            </a:pathLst>
          </a:custGeom>
          <a:blipFill>
            <a:blip r:embed="rId3"/>
            <a:stretch>
              <a:fillRect l="-76413" t="0" r="0" b="0"/>
            </a:stretch>
          </a:blipFill>
        </p:spPr>
      </p:sp>
      <p:sp>
        <p:nvSpPr>
          <p:cNvPr name="TextBox 4" id="4"/>
          <p:cNvSpPr txBox="true"/>
          <p:nvPr/>
        </p:nvSpPr>
        <p:spPr>
          <a:xfrm rot="0">
            <a:off x="2032183" y="1220222"/>
            <a:ext cx="9536271" cy="1486524"/>
          </a:xfrm>
          <a:prstGeom prst="rect">
            <a:avLst/>
          </a:prstGeom>
        </p:spPr>
        <p:txBody>
          <a:bodyPr anchor="t" rtlCol="false" tIns="0" lIns="0" bIns="0" rIns="0">
            <a:spAutoFit/>
          </a:bodyPr>
          <a:lstStyle/>
          <a:p>
            <a:endParaRPr/>
          </a:p>
        </p:txBody>
      </p:sp>
      <p:sp>
        <p:nvSpPr>
          <p:cNvPr name="TextBox 5" id="5"/>
          <p:cNvSpPr txBox="true"/>
          <p:nvPr/>
        </p:nvSpPr>
        <p:spPr>
          <a:xfrm rot="0">
            <a:off x="2032183" y="3087746"/>
            <a:ext cx="8733675" cy="1191393"/>
          </a:xfrm>
          <a:prstGeom prst="rect">
            <a:avLst/>
          </a:prstGeom>
        </p:spPr>
        <p:txBody>
          <a:bodyPr anchor="t" rtlCol="false" tIns="0" lIns="0" bIns="0" rIns="0">
            <a:spAutoFit/>
          </a:bodyPr>
          <a:lstStyle/>
          <a:p>
            <a:endParaRPr/>
          </a:p>
        </p:txBody>
      </p:sp>
      <p:sp>
        <p:nvSpPr>
          <p:cNvPr name="TextBox 6" id="6"/>
          <p:cNvSpPr txBox="true"/>
          <p:nvPr/>
        </p:nvSpPr>
        <p:spPr>
          <a:xfrm rot="0">
            <a:off x="2032183" y="4604149"/>
            <a:ext cx="8733675" cy="1191393"/>
          </a:xfrm>
          <a:prstGeom prst="rect">
            <a:avLst/>
          </a:prstGeom>
        </p:spPr>
        <p:txBody>
          <a:bodyPr anchor="t" rtlCol="false" tIns="0" lIns="0" bIns="0" rIns="0">
            <a:spAutoFit/>
          </a:bodyPr>
          <a:lstStyle/>
          <a:p>
            <a:endParaRPr/>
          </a:p>
        </p:txBody>
      </p:sp>
      <p:sp>
        <p:nvSpPr>
          <p:cNvPr name="TextBox 7" id="7"/>
          <p:cNvSpPr txBox="true"/>
          <p:nvPr/>
        </p:nvSpPr>
        <p:spPr>
          <a:xfrm rot="0">
            <a:off x="2032183" y="6173411"/>
            <a:ext cx="8733675" cy="1191393"/>
          </a:xfrm>
          <a:prstGeom prst="rect">
            <a:avLst/>
          </a:prstGeom>
        </p:spPr>
        <p:txBody>
          <a:bodyPr anchor="t" rtlCol="false" tIns="0" lIns="0" bIns="0" rIns="0">
            <a:spAutoFit/>
          </a:bodyPr>
          <a:lstStyle/>
          <a:p>
            <a:endParaRPr/>
          </a:p>
        </p:txBody>
      </p:sp>
      <p:sp>
        <p:nvSpPr>
          <p:cNvPr name="TextBox 8" id="8"/>
          <p:cNvSpPr txBox="true"/>
          <p:nvPr/>
        </p:nvSpPr>
        <p:spPr>
          <a:xfrm rot="0">
            <a:off x="2032183" y="7688653"/>
            <a:ext cx="8733675" cy="1191393"/>
          </a:xfrm>
          <a:prstGeom prst="rect">
            <a:avLst/>
          </a:prstGeom>
        </p:spPr>
        <p:txBody>
          <a:bodyPr anchor="t" rtlCol="false" tIns="0" lIns="0" bIns="0" rIns="0">
            <a:spAutoFit/>
          </a:bodyPr>
          <a:lstStyle/>
          <a:p>
            <a:endParaRPr/>
          </a:p>
        </p:txBody>
      </p:sp>
      <p:sp>
        <p:nvSpPr>
          <p:cNvPr id="9" name="TextBox 8"/>
          <p:cNvSpPr txBox="1"/>
          <p:nvPr/>
        </p:nvSpPr>
        <p:spPr>
          <a:xfrm>
            <a:off x="2032182" y="1220222"/>
            <a:ext cx="9536271" cy="1486524"/>
          </a:xfrm>
          <a:prstGeom prst="rect">
            <a:avLst/>
          </a:prstGeom>
          <a:noFill/>
        </p:spPr>
        <p:txBody>
          <a:bodyPr wrap="square">
            <a:spAutoFit/>
          </a:bodyPr>
          <a:lstStyle/>
          <a:p>
            <a:pPr algn="l"/>
            <a:r>
              <a:rPr sz="3600" b="1">
                <a:solidFill>
                  <a:srgbClr val="000000"/>
                </a:solidFill>
                <a:latin typeface="Segoe UI Black"/>
              </a:rPr>
              <a:t>Intelligent Tutoring Systems (ITS): The 24/7 Digital Mentor</a:t>
            </a:r>
          </a:p>
        </p:txBody>
      </p:sp>
      <p:cxnSp>
        <p:nvCxnSpPr>
          <p:cNvPr id="10" name="Connector 9"/>
          <p:cNvCxnSpPr/>
          <p:nvPr/>
        </p:nvCxnSpPr>
        <p:spPr>
          <a:xfrm>
            <a:off x="2032182" y="2260788"/>
            <a:ext cx="2860882"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032182" y="3087746"/>
            <a:ext cx="8733675" cy="1191393"/>
          </a:xfrm>
          <a:prstGeom prst="rect">
            <a:avLst/>
          </a:prstGeom>
          <a:noFill/>
        </p:spPr>
        <p:txBody>
          <a:bodyPr wrap="square">
            <a:spAutoFit/>
          </a:bodyPr>
          <a:lstStyle/>
          <a:p>
            <a:pPr algn="l">
              <a:spcAft>
                <a:spcPts val="2800"/>
              </a:spcAft>
            </a:pPr>
            <a:r>
              <a:rPr sz="1700" b="0">
                <a:solidFill>
                  <a:srgbClr val="000000"/>
                </a:solidFill>
                <a:latin typeface="Segoe UI"/>
              </a:rPr>
              <a:t>Recursive Scaffolding: AI identifies when a student is struggling with a sub-concept (e.g., fractions) and pivots the curriculum to reinforce that foundation before returning to complex equations.</a:t>
            </a:r>
          </a:p>
          <a:p>
            <a:pPr algn="l">
              <a:spcAft>
                <a:spcPts val="2800"/>
              </a:spcAft>
            </a:pPr>
            <a:r>
              <a:rPr sz="1700" b="0">
                <a:solidFill>
                  <a:srgbClr val="000000"/>
                </a:solidFill>
                <a:latin typeface="Segoe UI"/>
              </a:rPr>
              <a:t>Competency-Based Milestones: Eliminating 'seat-time' requirements by allowing students to progress only after demonstrating 95%+ mastery through AI-verified performance tasks.</a:t>
            </a:r>
          </a:p>
          <a:p>
            <a:pPr algn="l">
              <a:spcAft>
                <a:spcPts val="2800"/>
              </a:spcAft>
            </a:pPr>
            <a:r>
              <a:rPr sz="1700" b="0">
                <a:solidFill>
                  <a:srgbClr val="000000"/>
                </a:solidFill>
                <a:latin typeface="Segoe UI"/>
              </a:rPr>
              <a:t>Affective Computing: Advanced ITS detect facial cues and typing cadences to recognize frustration, offering motivational encouragement or a conceptual shift to re-engage the learner.</a:t>
            </a:r>
          </a:p>
        </p:txBody>
      </p:sp>
      <p:sp>
        <p:nvSpPr>
          <p:cNvPr id="12" name="TextBox 11"/>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473596" y="313393"/>
            <a:ext cx="17501882" cy="5940392"/>
            <a:chOff x="0" y="0"/>
            <a:chExt cx="2564431" cy="870405"/>
          </a:xfrm>
        </p:grpSpPr>
        <p:sp>
          <p:nvSpPr>
            <p:cNvPr name="Freeform 4" id="4"/>
            <p:cNvSpPr/>
            <p:nvPr/>
          </p:nvSpPr>
          <p:spPr>
            <a:xfrm flipH="false" flipV="false" rot="0">
              <a:off x="0" y="0"/>
              <a:ext cx="2564431" cy="870405"/>
            </a:xfrm>
            <a:custGeom>
              <a:avLst/>
              <a:gdLst/>
              <a:ahLst/>
              <a:cxnLst/>
              <a:rect r="r" b="b" t="t" l="l"/>
              <a:pathLst>
                <a:path h="870405" w="2564431">
                  <a:moveTo>
                    <a:pt x="17252" y="0"/>
                  </a:moveTo>
                  <a:lnTo>
                    <a:pt x="2547179" y="0"/>
                  </a:lnTo>
                  <a:cubicBezTo>
                    <a:pt x="2551755" y="0"/>
                    <a:pt x="2556143" y="1818"/>
                    <a:pt x="2559378" y="5053"/>
                  </a:cubicBezTo>
                  <a:cubicBezTo>
                    <a:pt x="2562613" y="8288"/>
                    <a:pt x="2564431" y="12676"/>
                    <a:pt x="2564431" y="17252"/>
                  </a:cubicBezTo>
                  <a:lnTo>
                    <a:pt x="2564431" y="853153"/>
                  </a:lnTo>
                  <a:cubicBezTo>
                    <a:pt x="2564431" y="857729"/>
                    <a:pt x="2562613" y="862117"/>
                    <a:pt x="2559378" y="865352"/>
                  </a:cubicBezTo>
                  <a:cubicBezTo>
                    <a:pt x="2556143" y="868587"/>
                    <a:pt x="2551755" y="870405"/>
                    <a:pt x="2547179" y="870405"/>
                  </a:cubicBezTo>
                  <a:lnTo>
                    <a:pt x="17252" y="870405"/>
                  </a:lnTo>
                  <a:cubicBezTo>
                    <a:pt x="12676" y="870405"/>
                    <a:pt x="8288" y="868587"/>
                    <a:pt x="5053" y="865352"/>
                  </a:cubicBezTo>
                  <a:cubicBezTo>
                    <a:pt x="1818" y="862117"/>
                    <a:pt x="0" y="857729"/>
                    <a:pt x="0" y="853153"/>
                  </a:cubicBezTo>
                  <a:lnTo>
                    <a:pt x="0" y="17252"/>
                  </a:lnTo>
                  <a:cubicBezTo>
                    <a:pt x="0" y="12676"/>
                    <a:pt x="1818" y="8288"/>
                    <a:pt x="5053" y="5053"/>
                  </a:cubicBezTo>
                  <a:cubicBezTo>
                    <a:pt x="8288" y="1818"/>
                    <a:pt x="12676" y="0"/>
                    <a:pt x="17252" y="0"/>
                  </a:cubicBezTo>
                  <a:close/>
                </a:path>
              </a:pathLst>
            </a:custGeom>
            <a:blipFill>
              <a:blip r:embed="rId3"/>
              <a:stretch>
                <a:fillRect l="0" t="-48146" r="0" b="-48146"/>
              </a:stretch>
            </a:blipFill>
            <a:ln cap="rnd">
              <a:noFill/>
              <a:prstDash val="solid"/>
              <a:round/>
            </a:ln>
          </p:spPr>
        </p:sp>
      </p:grpSp>
      <p:sp>
        <p:nvSpPr>
          <p:cNvPr name="TextBox 5" id="5"/>
          <p:cNvSpPr txBox="true"/>
          <p:nvPr/>
        </p:nvSpPr>
        <p:spPr>
          <a:xfrm rot="0">
            <a:off x="1203377" y="6434821"/>
            <a:ext cx="6795667" cy="909400"/>
          </a:xfrm>
          <a:prstGeom prst="rect">
            <a:avLst/>
          </a:prstGeom>
        </p:spPr>
        <p:txBody>
          <a:bodyPr anchor="t" rtlCol="false" tIns="0" lIns="0" bIns="0" rIns="0">
            <a:spAutoFit/>
          </a:bodyPr>
          <a:lstStyle/>
          <a:p>
            <a:endParaRPr/>
          </a:p>
        </p:txBody>
      </p:sp>
      <p:sp>
        <p:nvSpPr>
          <p:cNvPr name="TextBox 6" id="6"/>
          <p:cNvSpPr txBox="true"/>
          <p:nvPr/>
        </p:nvSpPr>
        <p:spPr>
          <a:xfrm rot="0">
            <a:off x="1203377" y="7553833"/>
            <a:ext cx="15787808" cy="2126777"/>
          </a:xfrm>
          <a:prstGeom prst="rect">
            <a:avLst/>
          </a:prstGeom>
        </p:spPr>
        <p:txBody>
          <a:bodyPr anchor="t" rtlCol="false" tIns="0" lIns="0" bIns="0" rIns="0">
            <a:spAutoFit/>
          </a:bodyPr>
          <a:lstStyle/>
          <a:p>
            <a:endParaRPr/>
          </a:p>
        </p:txBody>
      </p:sp>
      <p:sp>
        <p:nvSpPr>
          <p:cNvPr id="7" name="Rectangle 6"/>
          <p:cNvSpPr/>
          <p:nvPr/>
        </p:nvSpPr>
        <p:spPr>
          <a:xfrm>
            <a:off x="914400" y="1028700"/>
            <a:ext cx="16459200" cy="8229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03377" y="6434821"/>
            <a:ext cx="6795667" cy="909400"/>
          </a:xfrm>
          <a:prstGeom prst="rect">
            <a:avLst/>
          </a:prstGeom>
          <a:noFill/>
        </p:spPr>
        <p:txBody>
          <a:bodyPr wrap="square">
            <a:spAutoFit/>
          </a:bodyPr>
          <a:lstStyle/>
          <a:p>
            <a:pPr algn="l"/>
            <a:r>
              <a:rPr sz="3600" b="1">
                <a:solidFill>
                  <a:srgbClr val="000000"/>
                </a:solidFill>
                <a:latin typeface="Segoe UI Black"/>
              </a:rPr>
              <a:t>The Teacher’s Dividend: Reclaiming Human Connection</a:t>
            </a:r>
          </a:p>
        </p:txBody>
      </p:sp>
      <p:cxnSp>
        <p:nvCxnSpPr>
          <p:cNvPr id="9" name="Connector 8"/>
          <p:cNvCxnSpPr/>
          <p:nvPr/>
        </p:nvCxnSpPr>
        <p:spPr>
          <a:xfrm>
            <a:off x="1203377" y="7071401"/>
            <a:ext cx="2038700"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203377" y="7553833"/>
            <a:ext cx="15787807" cy="2126777"/>
          </a:xfrm>
          <a:prstGeom prst="rect">
            <a:avLst/>
          </a:prstGeom>
          <a:noFill/>
        </p:spPr>
        <p:txBody>
          <a:bodyPr wrap="square">
            <a:spAutoFit/>
          </a:bodyPr>
          <a:lstStyle/>
          <a:p>
            <a:pPr algn="l">
              <a:spcAft>
                <a:spcPts val="2800"/>
              </a:spcAft>
            </a:pPr>
            <a:r>
              <a:rPr sz="2000" b="0">
                <a:solidFill>
                  <a:srgbClr val="000000"/>
                </a:solidFill>
                <a:latin typeface="Segoe UI"/>
              </a:rPr>
              <a:t>AI-driven automation handles up to 45% of administrative tasks, including complex subjective grading and attendance tracking, saving educators 15+ hours per week.</a:t>
            </a:r>
          </a:p>
          <a:p>
            <a:pPr algn="l">
              <a:spcAft>
                <a:spcPts val="2800"/>
              </a:spcAft>
            </a:pPr>
            <a:r>
              <a:rPr sz="2000" b="0">
                <a:solidFill>
                  <a:srgbClr val="000000"/>
                </a:solidFill>
                <a:latin typeface="Segoe UI"/>
              </a:rPr>
              <a:t>Neural-network grading for essays provides instant, rubric-aligned feedback, allowing teachers to focus on mentorship rather than technical correction.</a:t>
            </a:r>
          </a:p>
          <a:p>
            <a:pPr algn="l">
              <a:spcAft>
                <a:spcPts val="2800"/>
              </a:spcAft>
            </a:pPr>
            <a:r>
              <a:rPr sz="2000" b="0">
                <a:solidFill>
                  <a:srgbClr val="000000"/>
                </a:solidFill>
                <a:latin typeface="Segoe UI"/>
              </a:rPr>
              <a:t>Intelligent scheduling optimizes faculty workloads and classroom utilization, reducing institutional overhead by approximately 20% in high-enrollment settings.</a:t>
            </a:r>
          </a:p>
        </p:txBody>
      </p:sp>
      <p:sp>
        <p:nvSpPr>
          <p:cNvPr id="11" name="TextBox 10"/>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6</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32806" t="-48141" r="0" b="-9259"/>
            </a:stretch>
          </a:blipFill>
        </p:spPr>
      </p:sp>
      <p:sp>
        <p:nvSpPr>
          <p:cNvPr name="TextBox 3" id="3"/>
          <p:cNvSpPr txBox="true"/>
          <p:nvPr/>
        </p:nvSpPr>
        <p:spPr>
          <a:xfrm rot="0">
            <a:off x="2715061" y="1822585"/>
            <a:ext cx="12857878" cy="1046294"/>
          </a:xfrm>
          <a:prstGeom prst="rect">
            <a:avLst/>
          </a:prstGeom>
        </p:spPr>
        <p:txBody>
          <a:bodyPr anchor="t" rtlCol="false" tIns="0" lIns="0" bIns="0" rIns="0">
            <a:spAutoFit/>
          </a:bodyPr>
          <a:lstStyle/>
          <a:p>
            <a:endParaRPr/>
          </a:p>
        </p:txBody>
      </p:sp>
      <p:sp>
        <p:nvSpPr>
          <p:cNvPr name="TextBox 4" id="4"/>
          <p:cNvSpPr txBox="true"/>
          <p:nvPr/>
        </p:nvSpPr>
        <p:spPr>
          <a:xfrm rot="0">
            <a:off x="1594847" y="3854651"/>
            <a:ext cx="15098306" cy="1014228"/>
          </a:xfrm>
          <a:prstGeom prst="rect">
            <a:avLst/>
          </a:prstGeom>
        </p:spPr>
        <p:txBody>
          <a:bodyPr anchor="t" rtlCol="false" tIns="0" lIns="0" bIns="0" rIns="0">
            <a:spAutoFit/>
          </a:bodyPr>
          <a:lstStyle/>
          <a:p>
            <a:endParaRPr/>
          </a:p>
        </p:txBody>
      </p:sp>
      <p:sp>
        <p:nvSpPr>
          <p:cNvPr name="TextBox 5" id="5"/>
          <p:cNvSpPr txBox="true"/>
          <p:nvPr/>
        </p:nvSpPr>
        <p:spPr>
          <a:xfrm rot="0">
            <a:off x="3585912" y="5545978"/>
            <a:ext cx="11116176" cy="1629581"/>
          </a:xfrm>
          <a:prstGeom prst="rect">
            <a:avLst/>
          </a:prstGeom>
        </p:spPr>
        <p:txBody>
          <a:bodyPr anchor="t" rtlCol="false" tIns="0" lIns="0" bIns="0" rIns="0">
            <a:spAutoFit/>
          </a:bodyPr>
          <a:lstStyle/>
          <a:p>
            <a:endParaRPr/>
          </a:p>
        </p:txBody>
      </p:sp>
      <p:sp>
        <p:nvSpPr>
          <p:cNvPr id="6" name="TextBox 5"/>
          <p:cNvSpPr txBox="1"/>
          <p:nvPr/>
        </p:nvSpPr>
        <p:spPr>
          <a:xfrm>
            <a:off x="2715061" y="1822585"/>
            <a:ext cx="12857878" cy="1046293"/>
          </a:xfrm>
          <a:prstGeom prst="rect">
            <a:avLst/>
          </a:prstGeom>
          <a:noFill/>
        </p:spPr>
        <p:txBody>
          <a:bodyPr wrap="square">
            <a:spAutoFit/>
          </a:bodyPr>
          <a:lstStyle/>
          <a:p>
            <a:pPr algn="l"/>
            <a:r>
              <a:rPr sz="3600" b="1">
                <a:solidFill>
                  <a:srgbClr val="000000"/>
                </a:solidFill>
                <a:latin typeface="Segoe UI Black"/>
              </a:rPr>
              <a:t>NLP and LLMs: Revolutionizing Language and Literacy</a:t>
            </a:r>
          </a:p>
        </p:txBody>
      </p:sp>
      <p:cxnSp>
        <p:nvCxnSpPr>
          <p:cNvPr id="7" name="Connector 6"/>
          <p:cNvCxnSpPr/>
          <p:nvPr/>
        </p:nvCxnSpPr>
        <p:spPr>
          <a:xfrm>
            <a:off x="2715061" y="2554990"/>
            <a:ext cx="3857363"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585912" y="5545978"/>
            <a:ext cx="11116176" cy="1629581"/>
          </a:xfrm>
          <a:prstGeom prst="rect">
            <a:avLst/>
          </a:prstGeom>
          <a:noFill/>
        </p:spPr>
        <p:txBody>
          <a:bodyPr wrap="square">
            <a:spAutoFit/>
          </a:bodyPr>
          <a:lstStyle/>
          <a:p>
            <a:pPr algn="l">
              <a:spcAft>
                <a:spcPts val="2800"/>
              </a:spcAft>
            </a:pPr>
            <a:r>
              <a:rPr sz="1700" b="0">
                <a:solidFill>
                  <a:srgbClr val="000000"/>
                </a:solidFill>
                <a:latin typeface="Segoe UI"/>
              </a:rPr>
              <a:t>Safe Conversational Environments: Large Language Models act as non-judgmental practice partners, allowing students to build fluency in 50+ languages through natural dialogue.</a:t>
            </a:r>
          </a:p>
          <a:p>
            <a:pPr algn="l">
              <a:spcAft>
                <a:spcPts val="2800"/>
              </a:spcAft>
            </a:pPr>
            <a:r>
              <a:rPr sz="1700" b="0">
                <a:solidFill>
                  <a:srgbClr val="000000"/>
                </a:solidFill>
                <a:latin typeface="Segoe UI"/>
              </a:rPr>
              <a:t>Granular Phonetic Coaching: AI speech recognition identifies subtle mispronunciations at the phoneme level, providing visual feedback to accelerate accent acquisition and clarity.</a:t>
            </a:r>
          </a:p>
          <a:p>
            <a:pPr algn="l">
              <a:spcAft>
                <a:spcPts val="2800"/>
              </a:spcAft>
            </a:pPr>
            <a:r>
              <a:rPr sz="1700" b="0">
                <a:solidFill>
                  <a:srgbClr val="000000"/>
                </a:solidFill>
                <a:latin typeface="Segoe UI"/>
              </a:rPr>
              <a:t>Hyper-Localized Content Translation: Instant, context-aware translation allows ESL/ELL students to access technical STEM concepts in their native tongue while simultaneously learning English terminology.</a:t>
            </a:r>
          </a:p>
        </p:txBody>
      </p:sp>
      <p:sp>
        <p:nvSpPr>
          <p:cNvPr id="9" name="TextBox 8"/>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8444" r="0" b="0"/>
            </a:stretch>
          </a:blipFill>
        </p:spPr>
      </p:sp>
      <p:sp>
        <p:nvSpPr>
          <p:cNvPr name="TextBox 3" id="3"/>
          <p:cNvSpPr txBox="true"/>
          <p:nvPr/>
        </p:nvSpPr>
        <p:spPr>
          <a:xfrm rot="0">
            <a:off x="1375474" y="1448400"/>
            <a:ext cx="8074917" cy="2154170"/>
          </a:xfrm>
          <a:prstGeom prst="rect">
            <a:avLst/>
          </a:prstGeom>
        </p:spPr>
        <p:txBody>
          <a:bodyPr anchor="t" rtlCol="false" tIns="0" lIns="0" bIns="0" rIns="0">
            <a:spAutoFit/>
          </a:bodyPr>
          <a:lstStyle/>
          <a:p>
            <a:endParaRPr/>
          </a:p>
        </p:txBody>
      </p:sp>
      <p:sp>
        <p:nvSpPr>
          <p:cNvPr name="TextBox 4" id="4"/>
          <p:cNvSpPr txBox="true"/>
          <p:nvPr/>
        </p:nvSpPr>
        <p:spPr>
          <a:xfrm rot="0">
            <a:off x="2285454" y="4164545"/>
            <a:ext cx="8053372" cy="1581918"/>
          </a:xfrm>
          <a:prstGeom prst="rect">
            <a:avLst/>
          </a:prstGeom>
        </p:spPr>
        <p:txBody>
          <a:bodyPr anchor="t" rtlCol="false" tIns="0" lIns="0" bIns="0" rIns="0">
            <a:spAutoFit/>
          </a:bodyPr>
          <a:lstStyle/>
          <a:p>
            <a:endParaRPr/>
          </a:p>
        </p:txBody>
      </p:sp>
      <p:sp>
        <p:nvSpPr>
          <p:cNvPr name="TextBox 5" id="5"/>
          <p:cNvSpPr txBox="true"/>
          <p:nvPr/>
        </p:nvSpPr>
        <p:spPr>
          <a:xfrm rot="0">
            <a:off x="2285454" y="6309113"/>
            <a:ext cx="8053372" cy="1581918"/>
          </a:xfrm>
          <a:prstGeom prst="rect">
            <a:avLst/>
          </a:prstGeom>
        </p:spPr>
        <p:txBody>
          <a:bodyPr anchor="t" rtlCol="false" tIns="0" lIns="0" bIns="0" rIns="0">
            <a:spAutoFit/>
          </a:bodyPr>
          <a:lstStyle/>
          <a:p>
            <a:endParaRPr/>
          </a:p>
        </p:txBody>
      </p:sp>
      <p:sp>
        <p:nvSpPr>
          <p:cNvPr name="TextBox 6" id="6"/>
          <p:cNvSpPr txBox="true"/>
          <p:nvPr/>
        </p:nvSpPr>
        <p:spPr>
          <a:xfrm rot="0">
            <a:off x="2285454" y="8205356"/>
            <a:ext cx="8053372" cy="1581918"/>
          </a:xfrm>
          <a:prstGeom prst="rect">
            <a:avLst/>
          </a:prstGeom>
        </p:spPr>
        <p:txBody>
          <a:bodyPr anchor="t" rtlCol="false" tIns="0" lIns="0" bIns="0" rIns="0">
            <a:spAutoFit/>
          </a:bodyPr>
          <a:lstStyle/>
          <a:p>
            <a:endParaRPr/>
          </a:p>
        </p:txBody>
      </p:sp>
      <p:grpSp>
        <p:nvGrpSpPr>
          <p:cNvPr name="Group 7" id="7"/>
          <p:cNvGrpSpPr/>
          <p:nvPr/>
        </p:nvGrpSpPr>
        <p:grpSpPr>
          <a:xfrm rot="0">
            <a:off x="11769489" y="0"/>
            <a:ext cx="6518511" cy="10287000"/>
            <a:chOff x="0" y="0"/>
            <a:chExt cx="2210335" cy="3488176"/>
          </a:xfrm>
        </p:grpSpPr>
        <p:sp>
          <p:nvSpPr>
            <p:cNvPr name="Freeform 8" id="8"/>
            <p:cNvSpPr/>
            <p:nvPr/>
          </p:nvSpPr>
          <p:spPr>
            <a:xfrm flipH="false" flipV="false" rot="0">
              <a:off x="0" y="0"/>
              <a:ext cx="2210335" cy="3488176"/>
            </a:xfrm>
            <a:custGeom>
              <a:avLst/>
              <a:gdLst/>
              <a:ahLst/>
              <a:cxnLst/>
              <a:rect r="r" b="b" t="t" l="l"/>
              <a:pathLst>
                <a:path h="3488176" w="2210335">
                  <a:moveTo>
                    <a:pt x="0" y="0"/>
                  </a:moveTo>
                  <a:lnTo>
                    <a:pt x="2210335" y="0"/>
                  </a:lnTo>
                  <a:lnTo>
                    <a:pt x="2210335" y="3488176"/>
                  </a:lnTo>
                  <a:lnTo>
                    <a:pt x="0" y="3488176"/>
                  </a:lnTo>
                  <a:close/>
                </a:path>
              </a:pathLst>
            </a:custGeom>
            <a:blipFill>
              <a:blip r:embed="rId3"/>
              <a:stretch>
                <a:fillRect l="-90771" t="0" r="-19644" b="0"/>
              </a:stretch>
            </a:blipFill>
            <a:ln cap="sq">
              <a:noFill/>
              <a:prstDash val="solid"/>
              <a:miter/>
            </a:ln>
          </p:spPr>
        </p:sp>
      </p:grpSp>
      <p:sp>
        <p:nvSpPr>
          <p:cNvPr id="9" name="TextBox 8"/>
          <p:cNvSpPr txBox="1"/>
          <p:nvPr/>
        </p:nvSpPr>
        <p:spPr>
          <a:xfrm>
            <a:off x="1463040" y="2880360"/>
            <a:ext cx="15361920" cy="3600449"/>
          </a:xfrm>
          <a:prstGeom prst="rect">
            <a:avLst/>
          </a:prstGeom>
          <a:noFill/>
        </p:spPr>
        <p:txBody>
          <a:bodyPr wrap="square">
            <a:spAutoFit/>
          </a:bodyPr>
          <a:lstStyle/>
          <a:p>
            <a:pPr algn="ctr"/>
            <a:r>
              <a:rPr sz="3000" b="1">
                <a:solidFill>
                  <a:srgbClr val="FFFFFF"/>
                </a:solidFill>
                <a:latin typeface="Segoe UI Black"/>
              </a:rPr>
              <a:t>Defining the Augmented Educator</a:t>
            </a:r>
          </a:p>
        </p:txBody>
      </p:sp>
      <p:sp>
        <p:nvSpPr>
          <p:cNvPr id="10" name="TextBox 9"/>
          <p:cNvSpPr txBox="1"/>
          <p:nvPr/>
        </p:nvSpPr>
        <p:spPr>
          <a:xfrm>
            <a:off x="1463040" y="6686550"/>
            <a:ext cx="15361920" cy="1028700"/>
          </a:xfrm>
          <a:prstGeom prst="rect">
            <a:avLst/>
          </a:prstGeom>
          <a:noFill/>
        </p:spPr>
        <p:txBody>
          <a:bodyPr wrap="square">
            <a:spAutoFit/>
          </a:bodyPr>
          <a:lstStyle/>
          <a:p>
            <a:pPr algn="ctr"/>
            <a:r>
              <a:rPr sz="2200" b="0">
                <a:solidFill>
                  <a:srgbClr val="FFFFFF"/>
                </a:solidFill>
                <a:latin typeface="Segoe UI"/>
              </a:rPr>
              <a:t>AI will not replace the teacher; however, the teacher who utilizes AI to amplify their reach and empathy will inevitably supersede the one who does not. We are moving from 'Sage on the Stage' to 'Architect of the AI-Augmented Learning Experience'.</a:t>
            </a:r>
          </a:p>
        </p:txBody>
      </p:sp>
      <p:sp>
        <p:nvSpPr>
          <p:cNvPr id="11" name="TextBox 10"/>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1028700" y="4779718"/>
            <a:ext cx="7354667" cy="3443738"/>
          </a:xfrm>
          <a:prstGeom prst="rect">
            <a:avLst/>
          </a:prstGeom>
        </p:spPr>
        <p:txBody>
          <a:bodyPr anchor="t" rtlCol="false" tIns="0" lIns="0" bIns="0" rIns="0">
            <a:spAutoFit/>
          </a:bodyPr>
          <a:lstStyle/>
          <a:p>
            <a:endParaRPr/>
          </a:p>
        </p:txBody>
      </p:sp>
      <p:grpSp>
        <p:nvGrpSpPr>
          <p:cNvPr name="Group 4" id="4"/>
          <p:cNvGrpSpPr/>
          <p:nvPr/>
        </p:nvGrpSpPr>
        <p:grpSpPr>
          <a:xfrm rot="0">
            <a:off x="9309711" y="1028700"/>
            <a:ext cx="8499426" cy="6947584"/>
            <a:chOff x="0" y="0"/>
            <a:chExt cx="2882035" cy="2355827"/>
          </a:xfrm>
        </p:grpSpPr>
        <p:sp>
          <p:nvSpPr>
            <p:cNvPr name="Freeform 5" id="5"/>
            <p:cNvSpPr/>
            <p:nvPr/>
          </p:nvSpPr>
          <p:spPr>
            <a:xfrm flipH="false" flipV="false" rot="0">
              <a:off x="0" y="0"/>
              <a:ext cx="2882035" cy="2355827"/>
            </a:xfrm>
            <a:custGeom>
              <a:avLst/>
              <a:gdLst/>
              <a:ahLst/>
              <a:cxnLst/>
              <a:rect r="r" b="b" t="t" l="l"/>
              <a:pathLst>
                <a:path h="2355827" w="2882035">
                  <a:moveTo>
                    <a:pt x="12752" y="0"/>
                  </a:moveTo>
                  <a:lnTo>
                    <a:pt x="2869283" y="0"/>
                  </a:lnTo>
                  <a:cubicBezTo>
                    <a:pt x="2876326" y="0"/>
                    <a:pt x="2882035" y="5709"/>
                    <a:pt x="2882035" y="12752"/>
                  </a:cubicBezTo>
                  <a:lnTo>
                    <a:pt x="2882035" y="2343075"/>
                  </a:lnTo>
                  <a:cubicBezTo>
                    <a:pt x="2882035" y="2350118"/>
                    <a:pt x="2876326" y="2355827"/>
                    <a:pt x="2869283" y="2355827"/>
                  </a:cubicBezTo>
                  <a:lnTo>
                    <a:pt x="12752" y="2355827"/>
                  </a:lnTo>
                  <a:cubicBezTo>
                    <a:pt x="5709" y="2355827"/>
                    <a:pt x="0" y="2350118"/>
                    <a:pt x="0" y="2343075"/>
                  </a:cubicBezTo>
                  <a:lnTo>
                    <a:pt x="0" y="12752"/>
                  </a:lnTo>
                  <a:cubicBezTo>
                    <a:pt x="0" y="5709"/>
                    <a:pt x="5709" y="0"/>
                    <a:pt x="12752" y="0"/>
                  </a:cubicBezTo>
                  <a:close/>
                </a:path>
              </a:pathLst>
            </a:custGeom>
            <a:blipFill>
              <a:blip r:embed="rId3"/>
              <a:stretch>
                <a:fillRect l="-9665" t="0" r="-9665" b="0"/>
              </a:stretch>
            </a:blipFill>
            <a:ln cap="sq">
              <a:noFill/>
              <a:prstDash val="solid"/>
              <a:miter/>
            </a:ln>
          </p:spPr>
        </p:sp>
      </p:grpSp>
      <p:sp>
        <p:nvSpPr>
          <p:cNvPr name="TextBox 6" id="6"/>
          <p:cNvSpPr txBox="true"/>
          <p:nvPr/>
        </p:nvSpPr>
        <p:spPr>
          <a:xfrm rot="0">
            <a:off x="1028700" y="2294408"/>
            <a:ext cx="8053372" cy="2176053"/>
          </a:xfrm>
          <a:prstGeom prst="rect">
            <a:avLst/>
          </a:prstGeom>
        </p:spPr>
        <p:txBody>
          <a:bodyPr anchor="t" rtlCol="false" tIns="0" lIns="0" bIns="0" rIns="0">
            <a:spAutoFit/>
          </a:bodyPr>
          <a:lstStyle/>
          <a:p>
            <a:endParaRPr/>
          </a:p>
        </p:txBody>
      </p:sp>
      <p:sp>
        <p:nvSpPr>
          <p:cNvPr id="7" name="TextBox 6"/>
          <p:cNvSpPr txBox="1"/>
          <p:nvPr/>
        </p:nvSpPr>
        <p:spPr>
          <a:xfrm>
            <a:off x="1028700" y="2294408"/>
            <a:ext cx="8053372" cy="2176053"/>
          </a:xfrm>
          <a:prstGeom prst="rect">
            <a:avLst/>
          </a:prstGeom>
          <a:noFill/>
        </p:spPr>
        <p:txBody>
          <a:bodyPr wrap="square">
            <a:spAutoFit/>
          </a:bodyPr>
          <a:lstStyle/>
          <a:p>
            <a:pPr algn="l"/>
            <a:r>
              <a:rPr sz="3400" b="1">
                <a:solidFill>
                  <a:srgbClr val="000000"/>
                </a:solidFill>
                <a:latin typeface="Segoe UI Black"/>
              </a:rPr>
              <a:t>Student Sentiment: The Shift Toward AI Integration</a:t>
            </a:r>
          </a:p>
        </p:txBody>
      </p:sp>
      <p:cxnSp>
        <p:nvCxnSpPr>
          <p:cNvPr id="8" name="Connector 7"/>
          <p:cNvCxnSpPr/>
          <p:nvPr/>
        </p:nvCxnSpPr>
        <p:spPr>
          <a:xfrm>
            <a:off x="1028700" y="3817645"/>
            <a:ext cx="2416011"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pic>
        <p:nvPicPr>
          <p:cNvPr id="9" name="Picture 8" descr="chart_9.png"/>
          <p:cNvPicPr>
            <a:picLocks noChangeAspect="1"/>
          </p:cNvPicPr>
          <p:nvPr/>
        </p:nvPicPr>
        <p:blipFill>
          <a:blip r:embed="rId4"/>
          <a:stretch>
            <a:fillRect/>
          </a:stretch>
        </p:blipFill>
        <p:spPr>
          <a:xfrm>
            <a:off x="9144000" y="1234439"/>
            <a:ext cx="8412480" cy="8023860"/>
          </a:xfrm>
          <a:prstGeom prst="rect">
            <a:avLst/>
          </a:prstGeom>
        </p:spPr>
      </p:pic>
      <p:sp>
        <p:nvSpPr>
          <p:cNvPr id="10" name="TextBox 9"/>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22" r="0" b="-9222"/>
            </a:stretch>
          </a:blipFill>
        </p:spPr>
      </p:sp>
      <p:sp>
        <p:nvSpPr>
          <p:cNvPr name="TextBox 3" id="3"/>
          <p:cNvSpPr txBox="true"/>
          <p:nvPr/>
        </p:nvSpPr>
        <p:spPr>
          <a:xfrm rot="0">
            <a:off x="1485699" y="2207547"/>
            <a:ext cx="9536271" cy="1486524"/>
          </a:xfrm>
          <a:prstGeom prst="rect">
            <a:avLst/>
          </a:prstGeom>
        </p:spPr>
        <p:txBody>
          <a:bodyPr anchor="t" rtlCol="false" tIns="0" lIns="0" bIns="0" rIns="0">
            <a:spAutoFit/>
          </a:bodyPr>
          <a:lstStyle/>
          <a:p>
            <a:endParaRPr/>
          </a:p>
        </p:txBody>
      </p:sp>
      <p:sp>
        <p:nvSpPr>
          <p:cNvPr name="TextBox 4" id="4"/>
          <p:cNvSpPr txBox="true"/>
          <p:nvPr/>
        </p:nvSpPr>
        <p:spPr>
          <a:xfrm rot="0">
            <a:off x="1485699" y="4404815"/>
            <a:ext cx="8053372" cy="1193269"/>
          </a:xfrm>
          <a:prstGeom prst="rect">
            <a:avLst/>
          </a:prstGeom>
        </p:spPr>
        <p:txBody>
          <a:bodyPr anchor="t" rtlCol="false" tIns="0" lIns="0" bIns="0" rIns="0">
            <a:spAutoFit/>
          </a:bodyPr>
          <a:lstStyle/>
          <a:p>
            <a:endParaRPr/>
          </a:p>
        </p:txBody>
      </p:sp>
      <p:sp>
        <p:nvSpPr>
          <p:cNvPr name="TextBox 5" id="5"/>
          <p:cNvSpPr txBox="true"/>
          <p:nvPr/>
        </p:nvSpPr>
        <p:spPr>
          <a:xfrm rot="0">
            <a:off x="1485699" y="3544009"/>
            <a:ext cx="8053372" cy="476383"/>
          </a:xfrm>
          <a:prstGeom prst="rect">
            <a:avLst/>
          </a:prstGeom>
        </p:spPr>
        <p:txBody>
          <a:bodyPr anchor="t" rtlCol="false" tIns="0" lIns="0" bIns="0" rIns="0">
            <a:spAutoFit/>
          </a:bodyPr>
          <a:lstStyle/>
          <a:p>
            <a:endParaRPr/>
          </a:p>
        </p:txBody>
      </p:sp>
      <p:grpSp>
        <p:nvGrpSpPr>
          <p:cNvPr name="Group 6" id="6"/>
          <p:cNvGrpSpPr>
            <a:grpSpLocks noChangeAspect="true"/>
          </p:cNvGrpSpPr>
          <p:nvPr/>
        </p:nvGrpSpPr>
        <p:grpSpPr>
          <a:xfrm rot="0">
            <a:off x="9940065" y="1379932"/>
            <a:ext cx="7319235" cy="7319235"/>
            <a:chOff x="0" y="0"/>
            <a:chExt cx="8916670" cy="8916670"/>
          </a:xfrm>
        </p:grpSpPr>
        <p:sp>
          <p:nvSpPr>
            <p:cNvPr name="Freeform 7" id="7"/>
            <p:cNvSpPr/>
            <p:nvPr/>
          </p:nvSpPr>
          <p:spPr>
            <a:xfrm flipH="false" flipV="false" rot="0">
              <a:off x="154940" y="154940"/>
              <a:ext cx="8605520" cy="8605520"/>
            </a:xfrm>
            <a:custGeom>
              <a:avLst/>
              <a:gdLst/>
              <a:ahLst/>
              <a:cxnLst/>
              <a:rect r="r" b="b" t="t" l="l"/>
              <a:pathLst>
                <a:path h="8605520" w="8605520">
                  <a:moveTo>
                    <a:pt x="8605520" y="4302760"/>
                  </a:moveTo>
                  <a:cubicBezTo>
                    <a:pt x="8605520" y="6678930"/>
                    <a:pt x="6678930" y="8605520"/>
                    <a:pt x="4302760" y="8605520"/>
                  </a:cubicBezTo>
                  <a:cubicBezTo>
                    <a:pt x="1926590" y="8605520"/>
                    <a:pt x="0" y="6680200"/>
                    <a:pt x="0" y="4302760"/>
                  </a:cubicBezTo>
                  <a:cubicBezTo>
                    <a:pt x="0" y="1925320"/>
                    <a:pt x="1926590" y="0"/>
                    <a:pt x="4302760" y="0"/>
                  </a:cubicBezTo>
                  <a:cubicBezTo>
                    <a:pt x="6678930" y="0"/>
                    <a:pt x="8605520" y="1926590"/>
                    <a:pt x="8605520" y="4302760"/>
                  </a:cubicBezTo>
                  <a:close/>
                </a:path>
              </a:pathLst>
            </a:custGeom>
            <a:blipFill>
              <a:blip r:embed="rId3"/>
              <a:stretch>
                <a:fillRect l="-56842" t="0" r="0" b="-17489"/>
              </a:stretch>
            </a:blipFill>
          </p:spPr>
        </p:sp>
        <p:sp>
          <p:nvSpPr>
            <p:cNvPr name="Freeform 8" id="8"/>
            <p:cNvSpPr/>
            <p:nvPr/>
          </p:nvSpPr>
          <p:spPr>
            <a:xfrm flipH="false" flipV="false" rot="0">
              <a:off x="6350" y="6350"/>
              <a:ext cx="8903970" cy="8903970"/>
            </a:xfrm>
            <a:custGeom>
              <a:avLst/>
              <a:gdLst/>
              <a:ahLst/>
              <a:cxnLst/>
              <a:rect r="r" b="b" t="t" l="l"/>
              <a:pathLst>
                <a:path h="8903970" w="8903970">
                  <a:moveTo>
                    <a:pt x="4451350" y="8903970"/>
                  </a:moveTo>
                  <a:cubicBezTo>
                    <a:pt x="1997710" y="8903970"/>
                    <a:pt x="0" y="6906260"/>
                    <a:pt x="0" y="4451350"/>
                  </a:cubicBezTo>
                  <a:cubicBezTo>
                    <a:pt x="0" y="1996440"/>
                    <a:pt x="1997710" y="0"/>
                    <a:pt x="4451350" y="0"/>
                  </a:cubicBezTo>
                  <a:cubicBezTo>
                    <a:pt x="6904990" y="0"/>
                    <a:pt x="8903970" y="1997710"/>
                    <a:pt x="8903970" y="4451350"/>
                  </a:cubicBezTo>
                  <a:cubicBezTo>
                    <a:pt x="8903970" y="6904990"/>
                    <a:pt x="6906260" y="8903970"/>
                    <a:pt x="4451350" y="8903970"/>
                  </a:cubicBezTo>
                  <a:close/>
                  <a:moveTo>
                    <a:pt x="4451350" y="19050"/>
                  </a:moveTo>
                  <a:cubicBezTo>
                    <a:pt x="2007870" y="19050"/>
                    <a:pt x="19050" y="2007870"/>
                    <a:pt x="19050" y="4451350"/>
                  </a:cubicBezTo>
                  <a:cubicBezTo>
                    <a:pt x="19050" y="6894830"/>
                    <a:pt x="2007870" y="8883650"/>
                    <a:pt x="4451350" y="8883650"/>
                  </a:cubicBezTo>
                  <a:cubicBezTo>
                    <a:pt x="6894830" y="8883650"/>
                    <a:pt x="8883650" y="6894830"/>
                    <a:pt x="8883650" y="4451350"/>
                  </a:cubicBezTo>
                  <a:cubicBezTo>
                    <a:pt x="8883650" y="2007870"/>
                    <a:pt x="6896100" y="19050"/>
                    <a:pt x="4451350" y="19050"/>
                  </a:cubicBezTo>
                  <a:close/>
                  <a:moveTo>
                    <a:pt x="4451350" y="8764270"/>
                  </a:moveTo>
                  <a:cubicBezTo>
                    <a:pt x="2073910" y="8764270"/>
                    <a:pt x="139700" y="6830060"/>
                    <a:pt x="139700" y="4451350"/>
                  </a:cubicBezTo>
                  <a:cubicBezTo>
                    <a:pt x="139700" y="2072640"/>
                    <a:pt x="2073910" y="139700"/>
                    <a:pt x="4451350" y="139700"/>
                  </a:cubicBezTo>
                  <a:cubicBezTo>
                    <a:pt x="6828790" y="139700"/>
                    <a:pt x="8764270" y="2073910"/>
                    <a:pt x="8764270" y="4451350"/>
                  </a:cubicBezTo>
                  <a:cubicBezTo>
                    <a:pt x="8764270" y="6828790"/>
                    <a:pt x="6830060" y="8764270"/>
                    <a:pt x="4451350" y="8764270"/>
                  </a:cubicBezTo>
                  <a:close/>
                  <a:moveTo>
                    <a:pt x="4451350" y="158750"/>
                  </a:moveTo>
                  <a:cubicBezTo>
                    <a:pt x="2084070" y="158750"/>
                    <a:pt x="158750" y="2084070"/>
                    <a:pt x="158750" y="4451350"/>
                  </a:cubicBezTo>
                  <a:cubicBezTo>
                    <a:pt x="158750" y="6818630"/>
                    <a:pt x="2084070" y="8743950"/>
                    <a:pt x="4451350" y="8743950"/>
                  </a:cubicBezTo>
                  <a:cubicBezTo>
                    <a:pt x="6818630" y="8743950"/>
                    <a:pt x="8743950" y="6818630"/>
                    <a:pt x="8743950" y="4451350"/>
                  </a:cubicBezTo>
                  <a:cubicBezTo>
                    <a:pt x="8743950" y="2084070"/>
                    <a:pt x="6819900" y="158750"/>
                    <a:pt x="4451350" y="158750"/>
                  </a:cubicBezTo>
                  <a:close/>
                </a:path>
              </a:pathLst>
            </a:custGeom>
            <a:gradFill rotWithShape="true">
              <a:gsLst>
                <a:gs pos="0">
                  <a:srgbClr val="10A5FF">
                    <a:alpha val="100000"/>
                  </a:srgbClr>
                </a:gs>
                <a:gs pos="100000">
                  <a:srgbClr val="041E4E">
                    <a:alpha val="100000"/>
                  </a:srgbClr>
                </a:gs>
              </a:gsLst>
              <a:lin ang="5400000"/>
            </a:gradFill>
          </p:spPr>
        </p:sp>
      </p:grpSp>
      <p:sp>
        <p:nvSpPr>
          <p:cNvPr id="9" name="TextBox 8"/>
          <p:cNvSpPr txBox="1"/>
          <p:nvPr/>
        </p:nvSpPr>
        <p:spPr>
          <a:xfrm>
            <a:off x="1485699" y="2207547"/>
            <a:ext cx="9536271" cy="1486524"/>
          </a:xfrm>
          <a:prstGeom prst="rect">
            <a:avLst/>
          </a:prstGeom>
          <a:noFill/>
        </p:spPr>
        <p:txBody>
          <a:bodyPr wrap="square">
            <a:spAutoFit/>
          </a:bodyPr>
          <a:lstStyle/>
          <a:p>
            <a:pPr algn="l"/>
            <a:r>
              <a:rPr sz="3600" b="1">
                <a:solidFill>
                  <a:srgbClr val="000000"/>
                </a:solidFill>
                <a:latin typeface="Segoe UI Black"/>
              </a:rPr>
              <a:t>Radical Accessibility: AI as a Universal Learning Equalizer</a:t>
            </a:r>
          </a:p>
        </p:txBody>
      </p:sp>
      <p:cxnSp>
        <p:nvCxnSpPr>
          <p:cNvPr id="10" name="Connector 9"/>
          <p:cNvCxnSpPr/>
          <p:nvPr/>
        </p:nvCxnSpPr>
        <p:spPr>
          <a:xfrm>
            <a:off x="1485699" y="3248113"/>
            <a:ext cx="2860881"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485699" y="4404815"/>
            <a:ext cx="8053372" cy="1193269"/>
          </a:xfrm>
          <a:prstGeom prst="rect">
            <a:avLst/>
          </a:prstGeom>
          <a:noFill/>
        </p:spPr>
        <p:txBody>
          <a:bodyPr wrap="square">
            <a:spAutoFit/>
          </a:bodyPr>
          <a:lstStyle/>
          <a:p>
            <a:pPr algn="l">
              <a:spcAft>
                <a:spcPts val="2800"/>
              </a:spcAft>
            </a:pPr>
            <a:r>
              <a:rPr sz="1700" b="0">
                <a:solidFill>
                  <a:srgbClr val="000000"/>
                </a:solidFill>
                <a:latin typeface="Segoe UI"/>
              </a:rPr>
              <a:t>Sensory Augmentation: Real-time generative alt-text and haptic feedback tools allow students with visual impairments to 'see' complex diagrams and visual data.</a:t>
            </a:r>
          </a:p>
          <a:p>
            <a:pPr algn="l">
              <a:spcAft>
                <a:spcPts val="2800"/>
              </a:spcAft>
            </a:pPr>
            <a:r>
              <a:rPr sz="1700" b="0">
                <a:solidFill>
                  <a:srgbClr val="000000"/>
                </a:solidFill>
                <a:latin typeface="Segoe UI"/>
              </a:rPr>
              <a:t>Neurodivergent Support: AI summarizers and focus-timers assist students with ADHD or Dyslexia by stripping away 'cognitive noise' and restructuring texts for high readability.</a:t>
            </a:r>
          </a:p>
          <a:p>
            <a:pPr algn="l">
              <a:spcAft>
                <a:spcPts val="2800"/>
              </a:spcAft>
            </a:pPr>
            <a:r>
              <a:rPr sz="1700" b="0">
                <a:solidFill>
                  <a:srgbClr val="000000"/>
                </a:solidFill>
                <a:latin typeface="Segoe UI"/>
              </a:rPr>
              <a:t>Early Detection of Developmental Needs: Pattern recognition software monitors early childhood interaction data to flag potential learning disabilities years earlier than traditional observation.</a:t>
            </a:r>
          </a:p>
        </p:txBody>
      </p:sp>
      <p:sp>
        <p:nvSpPr>
          <p:cNvPr id="12" name="TextBox 11"/>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sp>
        <p:nvSpPr>
          <p:cNvPr name="TextBox 3" id="3"/>
          <p:cNvSpPr txBox="true"/>
          <p:nvPr/>
        </p:nvSpPr>
        <p:spPr>
          <a:xfrm rot="0">
            <a:off x="1273506" y="1019175"/>
            <a:ext cx="5777796" cy="2275625"/>
          </a:xfrm>
          <a:prstGeom prst="rect">
            <a:avLst/>
          </a:prstGeom>
        </p:spPr>
        <p:txBody>
          <a:bodyPr anchor="t" rtlCol="false" tIns="0" lIns="0" bIns="0" rIns="0">
            <a:spAutoFit/>
          </a:bodyPr>
          <a:lstStyle/>
          <a:p>
            <a:endParaRPr/>
          </a:p>
        </p:txBody>
      </p:sp>
      <p:grpSp>
        <p:nvGrpSpPr>
          <p:cNvPr name="Group 4" id="4"/>
          <p:cNvGrpSpPr/>
          <p:nvPr/>
        </p:nvGrpSpPr>
        <p:grpSpPr>
          <a:xfrm rot="0">
            <a:off x="8676173" y="1482064"/>
            <a:ext cx="8583127" cy="7363298"/>
            <a:chOff x="0" y="0"/>
            <a:chExt cx="1257627" cy="1078894"/>
          </a:xfrm>
        </p:grpSpPr>
        <p:sp>
          <p:nvSpPr>
            <p:cNvPr name="Freeform 5" id="5"/>
            <p:cNvSpPr/>
            <p:nvPr/>
          </p:nvSpPr>
          <p:spPr>
            <a:xfrm flipH="false" flipV="false" rot="0">
              <a:off x="0" y="0"/>
              <a:ext cx="1257627" cy="1078894"/>
            </a:xfrm>
            <a:custGeom>
              <a:avLst/>
              <a:gdLst/>
              <a:ahLst/>
              <a:cxnLst/>
              <a:rect r="r" b="b" t="t" l="l"/>
              <a:pathLst>
                <a:path h="1078894" w="1257627">
                  <a:moveTo>
                    <a:pt x="35178" y="0"/>
                  </a:moveTo>
                  <a:lnTo>
                    <a:pt x="1222449" y="0"/>
                  </a:lnTo>
                  <a:cubicBezTo>
                    <a:pt x="1231779" y="0"/>
                    <a:pt x="1240726" y="3706"/>
                    <a:pt x="1247323" y="10303"/>
                  </a:cubicBezTo>
                  <a:cubicBezTo>
                    <a:pt x="1253921" y="16900"/>
                    <a:pt x="1257627" y="25848"/>
                    <a:pt x="1257627" y="35178"/>
                  </a:cubicBezTo>
                  <a:lnTo>
                    <a:pt x="1257627" y="1043716"/>
                  </a:lnTo>
                  <a:cubicBezTo>
                    <a:pt x="1257627" y="1053046"/>
                    <a:pt x="1253921" y="1061993"/>
                    <a:pt x="1247323" y="1068590"/>
                  </a:cubicBezTo>
                  <a:cubicBezTo>
                    <a:pt x="1240726" y="1075187"/>
                    <a:pt x="1231779" y="1078894"/>
                    <a:pt x="1222449" y="1078894"/>
                  </a:cubicBezTo>
                  <a:lnTo>
                    <a:pt x="35178" y="1078894"/>
                  </a:lnTo>
                  <a:cubicBezTo>
                    <a:pt x="25848" y="1078894"/>
                    <a:pt x="16900" y="1075187"/>
                    <a:pt x="10303" y="1068590"/>
                  </a:cubicBezTo>
                  <a:cubicBezTo>
                    <a:pt x="3706" y="1061993"/>
                    <a:pt x="0" y="1053046"/>
                    <a:pt x="0" y="1043716"/>
                  </a:cubicBezTo>
                  <a:lnTo>
                    <a:pt x="0" y="35178"/>
                  </a:lnTo>
                  <a:cubicBezTo>
                    <a:pt x="0" y="25848"/>
                    <a:pt x="3706" y="16900"/>
                    <a:pt x="10303" y="10303"/>
                  </a:cubicBezTo>
                  <a:cubicBezTo>
                    <a:pt x="16900" y="3706"/>
                    <a:pt x="25848" y="0"/>
                    <a:pt x="35178" y="0"/>
                  </a:cubicBezTo>
                  <a:close/>
                </a:path>
              </a:pathLst>
            </a:custGeom>
            <a:blipFill>
              <a:blip r:embed="rId3"/>
              <a:stretch>
                <a:fillRect l="-7192" t="0" r="-7192" b="0"/>
              </a:stretch>
            </a:blipFill>
            <a:ln cap="rnd">
              <a:noFill/>
              <a:prstDash val="solid"/>
              <a:round/>
            </a:ln>
          </p:spPr>
        </p:sp>
      </p:grpSp>
      <p:sp>
        <p:nvSpPr>
          <p:cNvPr name="TextBox 6" id="6"/>
          <p:cNvSpPr txBox="true"/>
          <p:nvPr/>
        </p:nvSpPr>
        <p:spPr>
          <a:xfrm rot="0">
            <a:off x="1289511" y="3956296"/>
            <a:ext cx="6194128" cy="3549650"/>
          </a:xfrm>
          <a:prstGeom prst="rect">
            <a:avLst/>
          </a:prstGeom>
        </p:spPr>
        <p:txBody>
          <a:bodyPr anchor="t" rtlCol="false" tIns="0" lIns="0" bIns="0" rIns="0">
            <a:spAutoFit/>
          </a:bodyPr>
          <a:lstStyle/>
          <a:p>
            <a:endParaRPr/>
          </a:p>
        </p:txBody>
      </p:sp>
      <p:sp>
        <p:nvSpPr>
          <p:cNvPr id="7" name="Rectangle 6"/>
          <p:cNvSpPr/>
          <p:nvPr/>
        </p:nvSpPr>
        <p:spPr>
          <a:xfrm>
            <a:off x="914400" y="1028700"/>
            <a:ext cx="164592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3291840"/>
            <a:ext cx="15361920" cy="2263140"/>
          </a:xfrm>
          <a:prstGeom prst="rect">
            <a:avLst/>
          </a:prstGeom>
          <a:noFill/>
        </p:spPr>
        <p:txBody>
          <a:bodyPr wrap="square">
            <a:spAutoFit/>
          </a:bodyPr>
          <a:lstStyle/>
          <a:p>
            <a:pPr algn="ctr"/>
            <a:r>
              <a:rPr sz="5200" b="1">
                <a:solidFill>
                  <a:srgbClr val="FFFFFF"/>
                </a:solidFill>
                <a:latin typeface="Segoe UI Black"/>
              </a:rPr>
              <a:t>The Fourth Industrial Revolution: AI as the New Foundational Infrastructure</a:t>
            </a:r>
          </a:p>
        </p:txBody>
      </p:sp>
      <p:sp>
        <p:nvSpPr>
          <p:cNvPr id="9" name="TextBox 8"/>
          <p:cNvSpPr txBox="1"/>
          <p:nvPr/>
        </p:nvSpPr>
        <p:spPr>
          <a:xfrm>
            <a:off x="1463040" y="5760720"/>
            <a:ext cx="15361920" cy="1028700"/>
          </a:xfrm>
          <a:prstGeom prst="rect">
            <a:avLst/>
          </a:prstGeom>
          <a:noFill/>
        </p:spPr>
        <p:txBody>
          <a:bodyPr wrap="square">
            <a:spAutoFit/>
          </a:bodyPr>
          <a:lstStyle/>
          <a:p>
            <a:pPr algn="ctr"/>
            <a:r>
              <a:rPr sz="2600" b="0">
                <a:solidFill>
                  <a:srgbClr val="DCE6F5"/>
                </a:solidFill>
                <a:latin typeface="Segoe UI"/>
              </a:rPr>
              <a:t>Moving beyond static digital textbooks toward dynamic, reactive intelligence systems that interpret student intent, emotional state, and mastery levels in real-time.</a:t>
            </a:r>
          </a:p>
        </p:txBody>
      </p:sp>
      <p:sp>
        <p:nvSpPr>
          <p:cNvPr id="10" name="TextBox 9"/>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2</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sp>
        <p:nvSpPr>
          <p:cNvPr name="TextBox 3" id="3"/>
          <p:cNvSpPr txBox="true"/>
          <p:nvPr/>
        </p:nvSpPr>
        <p:spPr>
          <a:xfrm rot="0">
            <a:off x="1273506" y="1019175"/>
            <a:ext cx="5777796" cy="2275625"/>
          </a:xfrm>
          <a:prstGeom prst="rect">
            <a:avLst/>
          </a:prstGeom>
        </p:spPr>
        <p:txBody>
          <a:bodyPr anchor="t" rtlCol="false" tIns="0" lIns="0" bIns="0" rIns="0">
            <a:spAutoFit/>
          </a:bodyPr>
          <a:lstStyle/>
          <a:p>
            <a:endParaRPr/>
          </a:p>
        </p:txBody>
      </p:sp>
      <p:grpSp>
        <p:nvGrpSpPr>
          <p:cNvPr name="Group 4" id="4"/>
          <p:cNvGrpSpPr/>
          <p:nvPr/>
        </p:nvGrpSpPr>
        <p:grpSpPr>
          <a:xfrm rot="0">
            <a:off x="8676173" y="1482064"/>
            <a:ext cx="8583127" cy="7363298"/>
            <a:chOff x="0" y="0"/>
            <a:chExt cx="1257627" cy="1078894"/>
          </a:xfrm>
        </p:grpSpPr>
        <p:sp>
          <p:nvSpPr>
            <p:cNvPr name="Freeform 5" id="5"/>
            <p:cNvSpPr/>
            <p:nvPr/>
          </p:nvSpPr>
          <p:spPr>
            <a:xfrm flipH="false" flipV="false" rot="0">
              <a:off x="0" y="0"/>
              <a:ext cx="1257627" cy="1078894"/>
            </a:xfrm>
            <a:custGeom>
              <a:avLst/>
              <a:gdLst/>
              <a:ahLst/>
              <a:cxnLst/>
              <a:rect r="r" b="b" t="t" l="l"/>
              <a:pathLst>
                <a:path h="1078894" w="1257627">
                  <a:moveTo>
                    <a:pt x="35178" y="0"/>
                  </a:moveTo>
                  <a:lnTo>
                    <a:pt x="1222449" y="0"/>
                  </a:lnTo>
                  <a:cubicBezTo>
                    <a:pt x="1231779" y="0"/>
                    <a:pt x="1240726" y="3706"/>
                    <a:pt x="1247323" y="10303"/>
                  </a:cubicBezTo>
                  <a:cubicBezTo>
                    <a:pt x="1253921" y="16900"/>
                    <a:pt x="1257627" y="25848"/>
                    <a:pt x="1257627" y="35178"/>
                  </a:cubicBezTo>
                  <a:lnTo>
                    <a:pt x="1257627" y="1043716"/>
                  </a:lnTo>
                  <a:cubicBezTo>
                    <a:pt x="1257627" y="1053046"/>
                    <a:pt x="1253921" y="1061993"/>
                    <a:pt x="1247323" y="1068590"/>
                  </a:cubicBezTo>
                  <a:cubicBezTo>
                    <a:pt x="1240726" y="1075187"/>
                    <a:pt x="1231779" y="1078894"/>
                    <a:pt x="1222449" y="1078894"/>
                  </a:cubicBezTo>
                  <a:lnTo>
                    <a:pt x="35178" y="1078894"/>
                  </a:lnTo>
                  <a:cubicBezTo>
                    <a:pt x="25848" y="1078894"/>
                    <a:pt x="16900" y="1075187"/>
                    <a:pt x="10303" y="1068590"/>
                  </a:cubicBezTo>
                  <a:cubicBezTo>
                    <a:pt x="3706" y="1061993"/>
                    <a:pt x="0" y="1053046"/>
                    <a:pt x="0" y="1043716"/>
                  </a:cubicBezTo>
                  <a:lnTo>
                    <a:pt x="0" y="35178"/>
                  </a:lnTo>
                  <a:cubicBezTo>
                    <a:pt x="0" y="25848"/>
                    <a:pt x="3706" y="16900"/>
                    <a:pt x="10303" y="10303"/>
                  </a:cubicBezTo>
                  <a:cubicBezTo>
                    <a:pt x="16900" y="3706"/>
                    <a:pt x="25848" y="0"/>
                    <a:pt x="35178" y="0"/>
                  </a:cubicBezTo>
                  <a:close/>
                </a:path>
              </a:pathLst>
            </a:custGeom>
            <a:blipFill>
              <a:blip r:embed="rId3"/>
              <a:stretch>
                <a:fillRect l="-7192" t="0" r="-7192" b="0"/>
              </a:stretch>
            </a:blipFill>
            <a:ln cap="rnd">
              <a:noFill/>
              <a:prstDash val="solid"/>
              <a:round/>
            </a:ln>
          </p:spPr>
        </p:sp>
      </p:grpSp>
      <p:sp>
        <p:nvSpPr>
          <p:cNvPr name="TextBox 6" id="6"/>
          <p:cNvSpPr txBox="true"/>
          <p:nvPr/>
        </p:nvSpPr>
        <p:spPr>
          <a:xfrm rot="0">
            <a:off x="1289511" y="3956296"/>
            <a:ext cx="6194128" cy="3549650"/>
          </a:xfrm>
          <a:prstGeom prst="rect">
            <a:avLst/>
          </a:prstGeom>
        </p:spPr>
        <p:txBody>
          <a:bodyPr anchor="t" rtlCol="false" tIns="0" lIns="0" bIns="0" rIns="0">
            <a:spAutoFit/>
          </a:bodyPr>
          <a:lstStyle/>
          <a:p>
            <a:endParaRPr/>
          </a:p>
        </p:txBody>
      </p:sp>
      <p:sp>
        <p:nvSpPr>
          <p:cNvPr id="7" name="Rectangle 6"/>
          <p:cNvSpPr/>
          <p:nvPr/>
        </p:nvSpPr>
        <p:spPr>
          <a:xfrm>
            <a:off x="914400" y="1028700"/>
            <a:ext cx="164592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3291840"/>
            <a:ext cx="15361920" cy="2263140"/>
          </a:xfrm>
          <a:prstGeom prst="rect">
            <a:avLst/>
          </a:prstGeom>
          <a:noFill/>
        </p:spPr>
        <p:txBody>
          <a:bodyPr wrap="square">
            <a:spAutoFit/>
          </a:bodyPr>
          <a:lstStyle/>
          <a:p>
            <a:pPr algn="ctr"/>
            <a:r>
              <a:rPr sz="5200" b="1">
                <a:solidFill>
                  <a:srgbClr val="FFFFFF"/>
                </a:solidFill>
                <a:latin typeface="Segoe UI Black"/>
              </a:rPr>
              <a:t>The Fourth Industrial Revolution: AI as the New Foundational Infrastructure</a:t>
            </a:r>
          </a:p>
        </p:txBody>
      </p:sp>
      <p:sp>
        <p:nvSpPr>
          <p:cNvPr id="9" name="TextBox 8"/>
          <p:cNvSpPr txBox="1"/>
          <p:nvPr/>
        </p:nvSpPr>
        <p:spPr>
          <a:xfrm>
            <a:off x="1463040" y="5760720"/>
            <a:ext cx="15361920" cy="1028700"/>
          </a:xfrm>
          <a:prstGeom prst="rect">
            <a:avLst/>
          </a:prstGeom>
          <a:noFill/>
        </p:spPr>
        <p:txBody>
          <a:bodyPr wrap="square">
            <a:spAutoFit/>
          </a:bodyPr>
          <a:lstStyle/>
          <a:p>
            <a:pPr algn="ctr"/>
            <a:r>
              <a:rPr sz="2600" b="0">
                <a:solidFill>
                  <a:srgbClr val="DCE6F5"/>
                </a:solidFill>
                <a:latin typeface="Segoe UI"/>
              </a:rPr>
              <a:t>Moving beyond static digital textbooks toward dynamic, reactive intelligence systems that interpret student intent, emotional state, and mastery levels in real-time.</a:t>
            </a:r>
          </a:p>
        </p:txBody>
      </p:sp>
      <p:sp>
        <p:nvSpPr>
          <p:cNvPr id="10" name="TextBox 9"/>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sp>
        <p:nvSpPr>
          <p:cNvPr name="TextBox 3" id="3"/>
          <p:cNvSpPr txBox="true"/>
          <p:nvPr/>
        </p:nvSpPr>
        <p:spPr>
          <a:xfrm rot="0">
            <a:off x="1273506" y="1019175"/>
            <a:ext cx="5777796" cy="2275625"/>
          </a:xfrm>
          <a:prstGeom prst="rect">
            <a:avLst/>
          </a:prstGeom>
        </p:spPr>
        <p:txBody>
          <a:bodyPr anchor="t" rtlCol="false" tIns="0" lIns="0" bIns="0" rIns="0">
            <a:spAutoFit/>
          </a:bodyPr>
          <a:lstStyle/>
          <a:p>
            <a:endParaRPr/>
          </a:p>
        </p:txBody>
      </p:sp>
      <p:grpSp>
        <p:nvGrpSpPr>
          <p:cNvPr name="Group 4" id="4"/>
          <p:cNvGrpSpPr/>
          <p:nvPr/>
        </p:nvGrpSpPr>
        <p:grpSpPr>
          <a:xfrm rot="0">
            <a:off x="8676173" y="1482064"/>
            <a:ext cx="8583127" cy="7363298"/>
            <a:chOff x="0" y="0"/>
            <a:chExt cx="1257627" cy="1078894"/>
          </a:xfrm>
        </p:grpSpPr>
        <p:sp>
          <p:nvSpPr>
            <p:cNvPr name="Freeform 5" id="5"/>
            <p:cNvSpPr/>
            <p:nvPr/>
          </p:nvSpPr>
          <p:spPr>
            <a:xfrm flipH="false" flipV="false" rot="0">
              <a:off x="0" y="0"/>
              <a:ext cx="1257627" cy="1078894"/>
            </a:xfrm>
            <a:custGeom>
              <a:avLst/>
              <a:gdLst/>
              <a:ahLst/>
              <a:cxnLst/>
              <a:rect r="r" b="b" t="t" l="l"/>
              <a:pathLst>
                <a:path h="1078894" w="1257627">
                  <a:moveTo>
                    <a:pt x="35178" y="0"/>
                  </a:moveTo>
                  <a:lnTo>
                    <a:pt x="1222449" y="0"/>
                  </a:lnTo>
                  <a:cubicBezTo>
                    <a:pt x="1231779" y="0"/>
                    <a:pt x="1240726" y="3706"/>
                    <a:pt x="1247323" y="10303"/>
                  </a:cubicBezTo>
                  <a:cubicBezTo>
                    <a:pt x="1253921" y="16900"/>
                    <a:pt x="1257627" y="25848"/>
                    <a:pt x="1257627" y="35178"/>
                  </a:cubicBezTo>
                  <a:lnTo>
                    <a:pt x="1257627" y="1043716"/>
                  </a:lnTo>
                  <a:cubicBezTo>
                    <a:pt x="1257627" y="1053046"/>
                    <a:pt x="1253921" y="1061993"/>
                    <a:pt x="1247323" y="1068590"/>
                  </a:cubicBezTo>
                  <a:cubicBezTo>
                    <a:pt x="1240726" y="1075187"/>
                    <a:pt x="1231779" y="1078894"/>
                    <a:pt x="1222449" y="1078894"/>
                  </a:cubicBezTo>
                  <a:lnTo>
                    <a:pt x="35178" y="1078894"/>
                  </a:lnTo>
                  <a:cubicBezTo>
                    <a:pt x="25848" y="1078894"/>
                    <a:pt x="16900" y="1075187"/>
                    <a:pt x="10303" y="1068590"/>
                  </a:cubicBezTo>
                  <a:cubicBezTo>
                    <a:pt x="3706" y="1061993"/>
                    <a:pt x="0" y="1053046"/>
                    <a:pt x="0" y="1043716"/>
                  </a:cubicBezTo>
                  <a:lnTo>
                    <a:pt x="0" y="35178"/>
                  </a:lnTo>
                  <a:cubicBezTo>
                    <a:pt x="0" y="25848"/>
                    <a:pt x="3706" y="16900"/>
                    <a:pt x="10303" y="10303"/>
                  </a:cubicBezTo>
                  <a:cubicBezTo>
                    <a:pt x="16900" y="3706"/>
                    <a:pt x="25848" y="0"/>
                    <a:pt x="35178" y="0"/>
                  </a:cubicBezTo>
                  <a:close/>
                </a:path>
              </a:pathLst>
            </a:custGeom>
            <a:blipFill>
              <a:blip r:embed="rId3"/>
              <a:stretch>
                <a:fillRect l="-7192" t="0" r="-7192" b="0"/>
              </a:stretch>
            </a:blipFill>
            <a:ln cap="rnd">
              <a:noFill/>
              <a:prstDash val="solid"/>
              <a:round/>
            </a:ln>
          </p:spPr>
        </p:sp>
      </p:grpSp>
      <p:sp>
        <p:nvSpPr>
          <p:cNvPr name="TextBox 6" id="6"/>
          <p:cNvSpPr txBox="true"/>
          <p:nvPr/>
        </p:nvSpPr>
        <p:spPr>
          <a:xfrm rot="0">
            <a:off x="1289511" y="3956296"/>
            <a:ext cx="6194128" cy="3549650"/>
          </a:xfrm>
          <a:prstGeom prst="rect">
            <a:avLst/>
          </a:prstGeom>
        </p:spPr>
        <p:txBody>
          <a:bodyPr anchor="t" rtlCol="false" tIns="0" lIns="0" bIns="0" rIns="0">
            <a:spAutoFit/>
          </a:bodyPr>
          <a:lstStyle/>
          <a:p>
            <a:endParaRPr/>
          </a:p>
        </p:txBody>
      </p:sp>
      <p:sp>
        <p:nvSpPr>
          <p:cNvPr id="7" name="Rectangle 6"/>
          <p:cNvSpPr/>
          <p:nvPr/>
        </p:nvSpPr>
        <p:spPr>
          <a:xfrm>
            <a:off x="914400" y="1028700"/>
            <a:ext cx="164592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3291840"/>
            <a:ext cx="15361920" cy="2263140"/>
          </a:xfrm>
          <a:prstGeom prst="rect">
            <a:avLst/>
          </a:prstGeom>
          <a:noFill/>
        </p:spPr>
        <p:txBody>
          <a:bodyPr wrap="square">
            <a:spAutoFit/>
          </a:bodyPr>
          <a:lstStyle/>
          <a:p>
            <a:pPr algn="ctr"/>
            <a:r>
              <a:rPr sz="5200" b="1">
                <a:solidFill>
                  <a:srgbClr val="FFFFFF"/>
                </a:solidFill>
                <a:latin typeface="Segoe UI Black"/>
              </a:rPr>
              <a:t>The Fourth Industrial Revolution: AI as the New Foundational Infrastructure</a:t>
            </a:r>
          </a:p>
        </p:txBody>
      </p:sp>
      <p:sp>
        <p:nvSpPr>
          <p:cNvPr id="9" name="TextBox 8"/>
          <p:cNvSpPr txBox="1"/>
          <p:nvPr/>
        </p:nvSpPr>
        <p:spPr>
          <a:xfrm>
            <a:off x="1463040" y="5760720"/>
            <a:ext cx="15361920" cy="1028700"/>
          </a:xfrm>
          <a:prstGeom prst="rect">
            <a:avLst/>
          </a:prstGeom>
          <a:noFill/>
        </p:spPr>
        <p:txBody>
          <a:bodyPr wrap="square">
            <a:spAutoFit/>
          </a:bodyPr>
          <a:lstStyle/>
          <a:p>
            <a:pPr algn="ctr"/>
            <a:r>
              <a:rPr sz="2600" b="0">
                <a:solidFill>
                  <a:srgbClr val="DCE6F5"/>
                </a:solidFill>
                <a:latin typeface="Segoe UI"/>
              </a:rPr>
              <a:t>Moving beyond static digital textbooks toward dynamic, reactive intelligence systems that interpret student intent, emotional state, and mastery levels in real-time.</a:t>
            </a:r>
          </a:p>
        </p:txBody>
      </p:sp>
      <p:sp>
        <p:nvSpPr>
          <p:cNvPr id="10" name="TextBox 9"/>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sp>
        <p:nvSpPr>
          <p:cNvPr name="TextBox 3" id="3"/>
          <p:cNvSpPr txBox="true"/>
          <p:nvPr/>
        </p:nvSpPr>
        <p:spPr>
          <a:xfrm rot="0">
            <a:off x="1273506" y="1019175"/>
            <a:ext cx="5777796" cy="2275625"/>
          </a:xfrm>
          <a:prstGeom prst="rect">
            <a:avLst/>
          </a:prstGeom>
        </p:spPr>
        <p:txBody>
          <a:bodyPr anchor="t" rtlCol="false" tIns="0" lIns="0" bIns="0" rIns="0">
            <a:spAutoFit/>
          </a:bodyPr>
          <a:lstStyle/>
          <a:p>
            <a:endParaRPr/>
          </a:p>
        </p:txBody>
      </p:sp>
      <p:grpSp>
        <p:nvGrpSpPr>
          <p:cNvPr name="Group 4" id="4"/>
          <p:cNvGrpSpPr/>
          <p:nvPr/>
        </p:nvGrpSpPr>
        <p:grpSpPr>
          <a:xfrm rot="0">
            <a:off x="8676173" y="1482064"/>
            <a:ext cx="8583127" cy="7363298"/>
            <a:chOff x="0" y="0"/>
            <a:chExt cx="1257627" cy="1078894"/>
          </a:xfrm>
        </p:grpSpPr>
        <p:sp>
          <p:nvSpPr>
            <p:cNvPr name="Freeform 5" id="5"/>
            <p:cNvSpPr/>
            <p:nvPr/>
          </p:nvSpPr>
          <p:spPr>
            <a:xfrm flipH="false" flipV="false" rot="0">
              <a:off x="0" y="0"/>
              <a:ext cx="1257627" cy="1078894"/>
            </a:xfrm>
            <a:custGeom>
              <a:avLst/>
              <a:gdLst/>
              <a:ahLst/>
              <a:cxnLst/>
              <a:rect r="r" b="b" t="t" l="l"/>
              <a:pathLst>
                <a:path h="1078894" w="1257627">
                  <a:moveTo>
                    <a:pt x="35178" y="0"/>
                  </a:moveTo>
                  <a:lnTo>
                    <a:pt x="1222449" y="0"/>
                  </a:lnTo>
                  <a:cubicBezTo>
                    <a:pt x="1231779" y="0"/>
                    <a:pt x="1240726" y="3706"/>
                    <a:pt x="1247323" y="10303"/>
                  </a:cubicBezTo>
                  <a:cubicBezTo>
                    <a:pt x="1253921" y="16900"/>
                    <a:pt x="1257627" y="25848"/>
                    <a:pt x="1257627" y="35178"/>
                  </a:cubicBezTo>
                  <a:lnTo>
                    <a:pt x="1257627" y="1043716"/>
                  </a:lnTo>
                  <a:cubicBezTo>
                    <a:pt x="1257627" y="1053046"/>
                    <a:pt x="1253921" y="1061993"/>
                    <a:pt x="1247323" y="1068590"/>
                  </a:cubicBezTo>
                  <a:cubicBezTo>
                    <a:pt x="1240726" y="1075187"/>
                    <a:pt x="1231779" y="1078894"/>
                    <a:pt x="1222449" y="1078894"/>
                  </a:cubicBezTo>
                  <a:lnTo>
                    <a:pt x="35178" y="1078894"/>
                  </a:lnTo>
                  <a:cubicBezTo>
                    <a:pt x="25848" y="1078894"/>
                    <a:pt x="16900" y="1075187"/>
                    <a:pt x="10303" y="1068590"/>
                  </a:cubicBezTo>
                  <a:cubicBezTo>
                    <a:pt x="3706" y="1061993"/>
                    <a:pt x="0" y="1053046"/>
                    <a:pt x="0" y="1043716"/>
                  </a:cubicBezTo>
                  <a:lnTo>
                    <a:pt x="0" y="35178"/>
                  </a:lnTo>
                  <a:cubicBezTo>
                    <a:pt x="0" y="25848"/>
                    <a:pt x="3706" y="16900"/>
                    <a:pt x="10303" y="10303"/>
                  </a:cubicBezTo>
                  <a:cubicBezTo>
                    <a:pt x="16900" y="3706"/>
                    <a:pt x="25848" y="0"/>
                    <a:pt x="35178" y="0"/>
                  </a:cubicBezTo>
                  <a:close/>
                </a:path>
              </a:pathLst>
            </a:custGeom>
            <a:blipFill>
              <a:blip r:embed="rId3"/>
              <a:stretch>
                <a:fillRect l="-7192" t="0" r="-7192" b="0"/>
              </a:stretch>
            </a:blipFill>
            <a:ln cap="rnd">
              <a:noFill/>
              <a:prstDash val="solid"/>
              <a:round/>
            </a:ln>
          </p:spPr>
        </p:sp>
      </p:grpSp>
      <p:sp>
        <p:nvSpPr>
          <p:cNvPr name="TextBox 6" id="6"/>
          <p:cNvSpPr txBox="true"/>
          <p:nvPr/>
        </p:nvSpPr>
        <p:spPr>
          <a:xfrm rot="0">
            <a:off x="1289511" y="3956296"/>
            <a:ext cx="6194128" cy="3549650"/>
          </a:xfrm>
          <a:prstGeom prst="rect">
            <a:avLst/>
          </a:prstGeom>
        </p:spPr>
        <p:txBody>
          <a:bodyPr anchor="t" rtlCol="false" tIns="0" lIns="0" bIns="0" rIns="0">
            <a:spAutoFit/>
          </a:bodyPr>
          <a:lstStyle/>
          <a:p>
            <a:endParaRPr/>
          </a:p>
        </p:txBody>
      </p:sp>
      <p:sp>
        <p:nvSpPr>
          <p:cNvPr id="7" name="Rectangle 6"/>
          <p:cNvSpPr/>
          <p:nvPr/>
        </p:nvSpPr>
        <p:spPr>
          <a:xfrm>
            <a:off x="914400" y="1028700"/>
            <a:ext cx="164592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3291840"/>
            <a:ext cx="15361920" cy="2263140"/>
          </a:xfrm>
          <a:prstGeom prst="rect">
            <a:avLst/>
          </a:prstGeom>
          <a:noFill/>
        </p:spPr>
        <p:txBody>
          <a:bodyPr wrap="square">
            <a:spAutoFit/>
          </a:bodyPr>
          <a:lstStyle/>
          <a:p>
            <a:pPr algn="ctr"/>
            <a:r>
              <a:rPr sz="5200" b="1">
                <a:solidFill>
                  <a:srgbClr val="FFFFFF"/>
                </a:solidFill>
                <a:latin typeface="Segoe UI Black"/>
              </a:rPr>
              <a:t>The Fourth Industrial Revolution: AI as the New Foundational Infrastructure</a:t>
            </a:r>
          </a:p>
        </p:txBody>
      </p:sp>
      <p:sp>
        <p:nvSpPr>
          <p:cNvPr id="9" name="TextBox 8"/>
          <p:cNvSpPr txBox="1"/>
          <p:nvPr/>
        </p:nvSpPr>
        <p:spPr>
          <a:xfrm>
            <a:off x="1463040" y="5760720"/>
            <a:ext cx="15361920" cy="1028700"/>
          </a:xfrm>
          <a:prstGeom prst="rect">
            <a:avLst/>
          </a:prstGeom>
          <a:noFill/>
        </p:spPr>
        <p:txBody>
          <a:bodyPr wrap="square">
            <a:spAutoFit/>
          </a:bodyPr>
          <a:lstStyle/>
          <a:p>
            <a:pPr algn="ctr"/>
            <a:r>
              <a:rPr sz="2600" b="0">
                <a:solidFill>
                  <a:srgbClr val="DCE6F5"/>
                </a:solidFill>
                <a:latin typeface="Segoe UI"/>
              </a:rPr>
              <a:t>Moving beyond static digital textbooks toward dynamic, reactive intelligence systems that interpret student intent, emotional state, and mastery levels in real-time.</a:t>
            </a:r>
          </a:p>
        </p:txBody>
      </p:sp>
      <p:sp>
        <p:nvSpPr>
          <p:cNvPr id="10" name="TextBox 9"/>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2</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sp>
        <p:nvSpPr>
          <p:cNvPr name="TextBox 3" id="3"/>
          <p:cNvSpPr txBox="true"/>
          <p:nvPr/>
        </p:nvSpPr>
        <p:spPr>
          <a:xfrm rot="0">
            <a:off x="1273506" y="1019175"/>
            <a:ext cx="5777796" cy="2275625"/>
          </a:xfrm>
          <a:prstGeom prst="rect">
            <a:avLst/>
          </a:prstGeom>
        </p:spPr>
        <p:txBody>
          <a:bodyPr anchor="t" rtlCol="false" tIns="0" lIns="0" bIns="0" rIns="0">
            <a:spAutoFit/>
          </a:bodyPr>
          <a:lstStyle/>
          <a:p>
            <a:endParaRPr/>
          </a:p>
        </p:txBody>
      </p:sp>
      <p:grpSp>
        <p:nvGrpSpPr>
          <p:cNvPr name="Group 4" id="4"/>
          <p:cNvGrpSpPr/>
          <p:nvPr/>
        </p:nvGrpSpPr>
        <p:grpSpPr>
          <a:xfrm rot="0">
            <a:off x="8676173" y="1482064"/>
            <a:ext cx="8583127" cy="7363298"/>
            <a:chOff x="0" y="0"/>
            <a:chExt cx="1257627" cy="1078894"/>
          </a:xfrm>
        </p:grpSpPr>
        <p:sp>
          <p:nvSpPr>
            <p:cNvPr name="Freeform 5" id="5"/>
            <p:cNvSpPr/>
            <p:nvPr/>
          </p:nvSpPr>
          <p:spPr>
            <a:xfrm flipH="false" flipV="false" rot="0">
              <a:off x="0" y="0"/>
              <a:ext cx="1257627" cy="1078894"/>
            </a:xfrm>
            <a:custGeom>
              <a:avLst/>
              <a:gdLst/>
              <a:ahLst/>
              <a:cxnLst/>
              <a:rect r="r" b="b" t="t" l="l"/>
              <a:pathLst>
                <a:path h="1078894" w="1257627">
                  <a:moveTo>
                    <a:pt x="35178" y="0"/>
                  </a:moveTo>
                  <a:lnTo>
                    <a:pt x="1222449" y="0"/>
                  </a:lnTo>
                  <a:cubicBezTo>
                    <a:pt x="1231779" y="0"/>
                    <a:pt x="1240726" y="3706"/>
                    <a:pt x="1247323" y="10303"/>
                  </a:cubicBezTo>
                  <a:cubicBezTo>
                    <a:pt x="1253921" y="16900"/>
                    <a:pt x="1257627" y="25848"/>
                    <a:pt x="1257627" y="35178"/>
                  </a:cubicBezTo>
                  <a:lnTo>
                    <a:pt x="1257627" y="1043716"/>
                  </a:lnTo>
                  <a:cubicBezTo>
                    <a:pt x="1257627" y="1053046"/>
                    <a:pt x="1253921" y="1061993"/>
                    <a:pt x="1247323" y="1068590"/>
                  </a:cubicBezTo>
                  <a:cubicBezTo>
                    <a:pt x="1240726" y="1075187"/>
                    <a:pt x="1231779" y="1078894"/>
                    <a:pt x="1222449" y="1078894"/>
                  </a:cubicBezTo>
                  <a:lnTo>
                    <a:pt x="35178" y="1078894"/>
                  </a:lnTo>
                  <a:cubicBezTo>
                    <a:pt x="25848" y="1078894"/>
                    <a:pt x="16900" y="1075187"/>
                    <a:pt x="10303" y="1068590"/>
                  </a:cubicBezTo>
                  <a:cubicBezTo>
                    <a:pt x="3706" y="1061993"/>
                    <a:pt x="0" y="1053046"/>
                    <a:pt x="0" y="1043716"/>
                  </a:cubicBezTo>
                  <a:lnTo>
                    <a:pt x="0" y="35178"/>
                  </a:lnTo>
                  <a:cubicBezTo>
                    <a:pt x="0" y="25848"/>
                    <a:pt x="3706" y="16900"/>
                    <a:pt x="10303" y="10303"/>
                  </a:cubicBezTo>
                  <a:cubicBezTo>
                    <a:pt x="16900" y="3706"/>
                    <a:pt x="25848" y="0"/>
                    <a:pt x="35178" y="0"/>
                  </a:cubicBezTo>
                  <a:close/>
                </a:path>
              </a:pathLst>
            </a:custGeom>
            <a:blipFill>
              <a:blip r:embed="rId3"/>
              <a:stretch>
                <a:fillRect l="-7192" t="0" r="-7192" b="0"/>
              </a:stretch>
            </a:blipFill>
            <a:ln cap="rnd">
              <a:noFill/>
              <a:prstDash val="solid"/>
              <a:round/>
            </a:ln>
          </p:spPr>
        </p:sp>
      </p:grpSp>
      <p:sp>
        <p:nvSpPr>
          <p:cNvPr name="TextBox 6" id="6"/>
          <p:cNvSpPr txBox="true"/>
          <p:nvPr/>
        </p:nvSpPr>
        <p:spPr>
          <a:xfrm rot="0">
            <a:off x="1289511" y="3956296"/>
            <a:ext cx="6194128" cy="3549650"/>
          </a:xfrm>
          <a:prstGeom prst="rect">
            <a:avLst/>
          </a:prstGeom>
        </p:spPr>
        <p:txBody>
          <a:bodyPr anchor="t" rtlCol="false" tIns="0" lIns="0" bIns="0" rIns="0">
            <a:spAutoFit/>
          </a:bodyPr>
          <a:lstStyle/>
          <a:p>
            <a:endParaRPr/>
          </a:p>
        </p:txBody>
      </p:sp>
      <p:sp>
        <p:nvSpPr>
          <p:cNvPr id="7" name="Rectangle 6"/>
          <p:cNvSpPr/>
          <p:nvPr/>
        </p:nvSpPr>
        <p:spPr>
          <a:xfrm>
            <a:off x="914400" y="1028700"/>
            <a:ext cx="164592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3291840"/>
            <a:ext cx="15361920" cy="2263140"/>
          </a:xfrm>
          <a:prstGeom prst="rect">
            <a:avLst/>
          </a:prstGeom>
          <a:noFill/>
        </p:spPr>
        <p:txBody>
          <a:bodyPr wrap="square">
            <a:spAutoFit/>
          </a:bodyPr>
          <a:lstStyle/>
          <a:p>
            <a:pPr algn="ctr"/>
            <a:r>
              <a:rPr sz="5200" b="1">
                <a:solidFill>
                  <a:srgbClr val="FFFFFF"/>
                </a:solidFill>
                <a:latin typeface="Segoe UI Black"/>
              </a:rPr>
              <a:t>The Fourth Industrial Revolution: AI as the New Foundational Infrastructure</a:t>
            </a:r>
          </a:p>
        </p:txBody>
      </p:sp>
      <p:sp>
        <p:nvSpPr>
          <p:cNvPr id="9" name="TextBox 8"/>
          <p:cNvSpPr txBox="1"/>
          <p:nvPr/>
        </p:nvSpPr>
        <p:spPr>
          <a:xfrm>
            <a:off x="1463040" y="5760720"/>
            <a:ext cx="15361920" cy="1028700"/>
          </a:xfrm>
          <a:prstGeom prst="rect">
            <a:avLst/>
          </a:prstGeom>
          <a:noFill/>
        </p:spPr>
        <p:txBody>
          <a:bodyPr wrap="square">
            <a:spAutoFit/>
          </a:bodyPr>
          <a:lstStyle/>
          <a:p>
            <a:pPr algn="ctr"/>
            <a:r>
              <a:rPr sz="2600" b="0">
                <a:solidFill>
                  <a:srgbClr val="DCE6F5"/>
                </a:solidFill>
                <a:latin typeface="Segoe UI"/>
              </a:rPr>
              <a:t>Moving beyond static digital textbooks toward dynamic, reactive intelligence systems that interpret student intent, emotional state, and mastery levels in real-time.</a:t>
            </a:r>
          </a:p>
        </p:txBody>
      </p:sp>
      <p:sp>
        <p:nvSpPr>
          <p:cNvPr id="10" name="TextBox 9"/>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DAHEAPACS3g</dc:identifier>
  <dcterms:modified xsi:type="dcterms:W3CDTF">2011-08-01T06:04:30Z</dcterms:modified>
  <cp:revision>1</cp:revision>
  <dc:title>Lorem ipsum dolor sit amet, consectetur adipiscing elit. Duis vel dolor ante. Nullam feugiat egestas elit et vehicula. Proin venenatis, orci nec cursus tristique, nulla risus mattis eros, id accumsan massa elit eu augue. Mauris massa ipsum, pharetra id</dc:title>
</cp:coreProperties>
</file>