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odoni FLF Bold" charset="1" panose="02000803080000020003"/>
      <p:regular r:id="rId13"/>
    </p:embeddedFont>
    <p:embeddedFont>
      <p:font typeface="TT Commons Pro" charset="1" panose="020B01030301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5693" y="75326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4637582" y="0"/>
                </a:moveTo>
                <a:lnTo>
                  <a:pt x="0" y="0"/>
                </a:lnTo>
                <a:lnTo>
                  <a:pt x="0" y="4114800"/>
                </a:lnTo>
                <a:lnTo>
                  <a:pt x="4637582" y="4114800"/>
                </a:lnTo>
                <a:lnTo>
                  <a:pt x="46375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856111" y="-13604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4114800"/>
                </a:moveTo>
                <a:lnTo>
                  <a:pt x="4637582" y="4114800"/>
                </a:lnTo>
                <a:lnTo>
                  <a:pt x="46375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5693" y="-1259583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0788" y="3767245"/>
            <a:ext cx="10606424" cy="178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grpSp>
        <p:nvGrpSpPr>
          <p:cNvPr name="Group 6" id="6"/>
          <p:cNvGrpSpPr/>
          <p:nvPr/>
        </p:nvGrpSpPr>
        <p:grpSpPr>
          <a:xfrm rot="0">
            <a:off x="5898271" y="5494643"/>
            <a:ext cx="6491457" cy="748887"/>
            <a:chOff x="0" y="0"/>
            <a:chExt cx="8655277" cy="99851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655277" cy="998516"/>
              <a:chOff x="0" y="0"/>
              <a:chExt cx="1335691" cy="15409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35691" cy="154092"/>
              </a:xfrm>
              <a:custGeom>
                <a:avLst/>
                <a:gdLst/>
                <a:ahLst/>
                <a:cxnLst/>
                <a:rect r="r" b="b" t="t" l="l"/>
                <a:pathLst>
                  <a:path h="154092" w="1335691">
                    <a:moveTo>
                      <a:pt x="32611" y="0"/>
                    </a:moveTo>
                    <a:lnTo>
                      <a:pt x="1303080" y="0"/>
                    </a:lnTo>
                    <a:cubicBezTo>
                      <a:pt x="1311729" y="0"/>
                      <a:pt x="1320024" y="3436"/>
                      <a:pt x="1326139" y="9552"/>
                    </a:cubicBezTo>
                    <a:cubicBezTo>
                      <a:pt x="1332255" y="15667"/>
                      <a:pt x="1335691" y="23962"/>
                      <a:pt x="1335691" y="32611"/>
                    </a:cubicBezTo>
                    <a:lnTo>
                      <a:pt x="1335691" y="121481"/>
                    </a:lnTo>
                    <a:cubicBezTo>
                      <a:pt x="1335691" y="130130"/>
                      <a:pt x="1332255" y="138425"/>
                      <a:pt x="1326139" y="144540"/>
                    </a:cubicBezTo>
                    <a:cubicBezTo>
                      <a:pt x="1320024" y="150656"/>
                      <a:pt x="1311729" y="154092"/>
                      <a:pt x="1303080" y="154092"/>
                    </a:cubicBezTo>
                    <a:lnTo>
                      <a:pt x="32611" y="154092"/>
                    </a:lnTo>
                    <a:cubicBezTo>
                      <a:pt x="23962" y="154092"/>
                      <a:pt x="15667" y="150656"/>
                      <a:pt x="9552" y="144540"/>
                    </a:cubicBezTo>
                    <a:cubicBezTo>
                      <a:pt x="3436" y="138425"/>
                      <a:pt x="0" y="130130"/>
                      <a:pt x="0" y="121481"/>
                    </a:cubicBezTo>
                    <a:lnTo>
                      <a:pt x="0" y="32611"/>
                    </a:lnTo>
                    <a:cubicBezTo>
                      <a:pt x="0" y="23962"/>
                      <a:pt x="3436" y="15667"/>
                      <a:pt x="9552" y="9552"/>
                    </a:cubicBezTo>
                    <a:cubicBezTo>
                      <a:pt x="15667" y="3436"/>
                      <a:pt x="23962" y="0"/>
                      <a:pt x="3261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335691" cy="201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6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815760" y="90106"/>
              <a:ext cx="7023756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By Francisco Andrade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057574" y="8097924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59"/>
                </a:lnTo>
                <a:lnTo>
                  <a:pt x="0" y="34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3840788" y="3767245"/>
            <a:ext cx="10606424" cy="1786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Segoe UI Black"/>
              </a:rPr>
              <a:t>The Pentagonal Governance Model: Splitting BBMP for a Global Bengaluru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788" y="5018070"/>
            <a:ext cx="3181927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759879"/>
            <a:ext cx="10606424" cy="390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Segoe UI"/>
              </a:rPr>
              <a:t>A strategic blueprint to decentralize the Bruhat Bengaluru Mahanagara Palike into five autonomous corporations for agile urban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1424" y="3951238"/>
            <a:ext cx="11285152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76842" y="1989742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Segoe UI Black"/>
              </a:rPr>
              <a:t>Optimizing the Governance-to-Citizen Ratio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6842" y="2913413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1424" y="3951238"/>
            <a:ext cx="11285152" cy="250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The current monolithic BBMP oversees 13.5M+ residents, leading to systemic administrative paralysis and diluted oversight.</a:t>
            </a:r>
          </a:p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The split targets a manageable threshold of 2.5M - 3M residents per corporation to mirror high-efficiency global cities.</a:t>
            </a:r>
          </a:p>
          <a:p>
            <a:pPr algn="l">
              <a:spcAft>
                <a:spcPts val="28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Modeled on the proven success of multi-corporation systems in London and Tokyo, ensuring governance scales with population density.</a:t>
            </a:r>
          </a:p>
        </p:txBody>
      </p:sp>
      <p:pic>
        <p:nvPicPr>
          <p:cNvPr id="14" name="Picture 13" descr="chart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234439"/>
            <a:ext cx="8412480" cy="80238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1424" y="3324448"/>
            <a:ext cx="11285152" cy="200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3" id="3"/>
          <p:cNvSpPr txBox="true"/>
          <p:nvPr/>
        </p:nvSpPr>
        <p:spPr>
          <a:xfrm rot="0">
            <a:off x="4576842" y="1362951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4" id="4"/>
          <p:cNvSpPr txBox="true"/>
          <p:nvPr/>
        </p:nvSpPr>
        <p:spPr>
          <a:xfrm rot="0">
            <a:off x="3501424" y="5477729"/>
            <a:ext cx="11285152" cy="351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AutoShape 5" id="5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-527390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4093298" y="3631872"/>
                </a:moveTo>
                <a:lnTo>
                  <a:pt x="0" y="3631872"/>
                </a:lnTo>
                <a:lnTo>
                  <a:pt x="0" y="0"/>
                </a:lnTo>
                <a:lnTo>
                  <a:pt x="4093298" y="0"/>
                </a:lnTo>
                <a:lnTo>
                  <a:pt x="4093298" y="3631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722092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0" y="3631872"/>
                </a:moveTo>
                <a:lnTo>
                  <a:pt x="4093298" y="3631872"/>
                </a:lnTo>
                <a:lnTo>
                  <a:pt x="4093298" y="0"/>
                </a:lnTo>
                <a:lnTo>
                  <a:pt x="0" y="0"/>
                </a:lnTo>
                <a:lnTo>
                  <a:pt x="0" y="3631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54785" y="796326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4576842" y="1362951"/>
            <a:ext cx="9134316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The Strategic Architecture of the Five-Way Split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6842" y="2286622"/>
            <a:ext cx="2740294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01424" y="5477729"/>
            <a:ext cx="11285152" cy="3518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Zonal Autonomy: Creation of Central, North, South, East, and West corporations, each led by dedicated Mayors and Commissioners.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The Greater Bengaluru Authority (GBA): A tier-two coordinating body designed to synchronize inter-agency planning for transport and environment.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Fiscal Decentralization: Grants five independent budgets to allow for faster localized project approvals without central secretariat bottlenecks.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Operational Granularity: Reduces the administrative span from 243 wards per single commissioner to roughly 48-50 wards per entity.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Specialized Planning: Allows the Central corporation to focus on heritage/CBD issues while the East and North focus on high-growth tech corridors.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6198" y="3497710"/>
            <a:ext cx="11848782" cy="553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TextBox 3" id="3"/>
          <p:cNvSpPr txBox="true"/>
          <p:nvPr/>
        </p:nvSpPr>
        <p:spPr>
          <a:xfrm rot="0">
            <a:off x="5073456" y="1362951"/>
            <a:ext cx="8141087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1205693" y="7532640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4637582" y="0"/>
                </a:moveTo>
                <a:lnTo>
                  <a:pt x="0" y="0"/>
                </a:lnTo>
                <a:lnTo>
                  <a:pt x="0" y="4114800"/>
                </a:lnTo>
                <a:lnTo>
                  <a:pt x="4637582" y="4114800"/>
                </a:lnTo>
                <a:lnTo>
                  <a:pt x="46375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1028700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006666" y="-1124920"/>
            <a:ext cx="3436119" cy="3448660"/>
          </a:xfrm>
          <a:custGeom>
            <a:avLst/>
            <a:gdLst/>
            <a:ahLst/>
            <a:cxnLst/>
            <a:rect r="r" b="b" t="t" l="l"/>
            <a:pathLst>
              <a:path h="3448660" w="3436119">
                <a:moveTo>
                  <a:pt x="0" y="0"/>
                </a:moveTo>
                <a:lnTo>
                  <a:pt x="3436119" y="0"/>
                </a:lnTo>
                <a:lnTo>
                  <a:pt x="3436119" y="3448660"/>
                </a:lnTo>
                <a:lnTo>
                  <a:pt x="0" y="3448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914400" y="1028700"/>
            <a:ext cx="16459200" cy="8229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3456" y="1362951"/>
            <a:ext cx="8141087" cy="131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Segoe UI Black"/>
              </a:rPr>
              <a:t>Quantifying the Shift: Metrics of Decentralization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3456" y="2286622"/>
            <a:ext cx="2442326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66198" y="3497710"/>
            <a:ext cx="11848782" cy="553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712 Square Kilometers: Total geographical footprint to be redistributed to ensure equitable resource allocation across all zones.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243 Localized Wards: Enhanced ward-level oversight to prevent urban decay and facilitate hyper-local infrastructure maintenance.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30% Redressal Acceleration: Projected improvement in grievance response times for water, waste, and road issues through localized command centers.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B.S. Patil Committee Framework: Alignment with the 2015 expert report identifying 'governance deficit' as the primary hurdle to city growth.</a:t>
            </a:r>
          </a:p>
          <a:p>
            <a:pPr algn="l">
              <a:spcAft>
                <a:spcPts val="2800"/>
              </a:spcAft>
            </a:pPr>
            <a:r>
              <a:rPr sz="1700" b="0">
                <a:solidFill>
                  <a:srgbClr val="000000"/>
                </a:solidFill>
                <a:latin typeface="Segoe UI"/>
              </a:rPr>
              <a:t>4.5% Annual Surge: Designing for Bengaluru's rapid expansion by creating elastic administrative units that can absorb future population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3227" y="3726457"/>
            <a:ext cx="13441546" cy="3169610"/>
            <a:chOff x="0" y="0"/>
            <a:chExt cx="17922062" cy="422614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22062" cy="4226146"/>
              <a:chOff x="0" y="0"/>
              <a:chExt cx="2765750" cy="65218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65750" cy="652183"/>
              </a:xfrm>
              <a:custGeom>
                <a:avLst/>
                <a:gdLst/>
                <a:ahLst/>
                <a:cxnLst/>
                <a:rect r="r" b="b" t="t" l="l"/>
                <a:pathLst>
                  <a:path h="652183" w="2765750">
                    <a:moveTo>
                      <a:pt x="11249" y="0"/>
                    </a:moveTo>
                    <a:lnTo>
                      <a:pt x="2754501" y="0"/>
                    </a:lnTo>
                    <a:cubicBezTo>
                      <a:pt x="2757485" y="0"/>
                      <a:pt x="2760346" y="1185"/>
                      <a:pt x="2762455" y="3295"/>
                    </a:cubicBezTo>
                    <a:cubicBezTo>
                      <a:pt x="2764565" y="5405"/>
                      <a:pt x="2765750" y="8266"/>
                      <a:pt x="2765750" y="11249"/>
                    </a:cubicBezTo>
                    <a:lnTo>
                      <a:pt x="2765750" y="640934"/>
                    </a:lnTo>
                    <a:cubicBezTo>
                      <a:pt x="2765750" y="643917"/>
                      <a:pt x="2764565" y="646778"/>
                      <a:pt x="2762455" y="648888"/>
                    </a:cubicBezTo>
                    <a:cubicBezTo>
                      <a:pt x="2760346" y="650998"/>
                      <a:pt x="2757485" y="652183"/>
                      <a:pt x="2754501" y="652183"/>
                    </a:cubicBezTo>
                    <a:lnTo>
                      <a:pt x="11249" y="652183"/>
                    </a:lnTo>
                    <a:cubicBezTo>
                      <a:pt x="8266" y="652183"/>
                      <a:pt x="5405" y="650998"/>
                      <a:pt x="3295" y="648888"/>
                    </a:cubicBezTo>
                    <a:cubicBezTo>
                      <a:pt x="1185" y="646778"/>
                      <a:pt x="0" y="643917"/>
                      <a:pt x="0" y="640934"/>
                    </a:cubicBezTo>
                    <a:lnTo>
                      <a:pt x="0" y="11249"/>
                    </a:lnTo>
                    <a:cubicBezTo>
                      <a:pt x="0" y="8266"/>
                      <a:pt x="1185" y="5405"/>
                      <a:pt x="3295" y="3295"/>
                    </a:cubicBezTo>
                    <a:cubicBezTo>
                      <a:pt x="5405" y="1185"/>
                      <a:pt x="8266" y="0"/>
                      <a:pt x="11249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765750" cy="6902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437597" y="318758"/>
              <a:ext cx="15046869" cy="3325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7"/>
                </a:lnSpc>
              </a:pPr>
              <a:r>
                <a:rPr lang="en-US" sz="2862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Lorem ipsum dolor sit amet, consectetur adipiscing elit</a:t>
              </a:r>
              <a:r>
                <a:rPr lang="en-US" sz="2862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. Quisque non elit mauris. Cras euismod, metus ac finibus finibus, felis dui suscipit purus, a maximus leo ligula at dolor. Morbi et malesuada purus. Phasellus a lacus sit amet urna tempor sollicitudin. Cras pretium tempor elit blandit egestas. Donec sed dignissim augue. Suspendisse ac vulputate leo.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576842" y="1989742"/>
            <a:ext cx="9134316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endParaRPr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93482" y="3153080"/>
            <a:ext cx="1142582" cy="1146752"/>
          </a:xfrm>
          <a:custGeom>
            <a:avLst/>
            <a:gdLst/>
            <a:ahLst/>
            <a:cxnLst/>
            <a:rect r="r" b="b" t="t" l="l"/>
            <a:pathLst>
              <a:path h="1146752" w="1142582">
                <a:moveTo>
                  <a:pt x="0" y="0"/>
                </a:moveTo>
                <a:lnTo>
                  <a:pt x="1142582" y="0"/>
                </a:lnTo>
                <a:lnTo>
                  <a:pt x="1142582" y="1146753"/>
                </a:lnTo>
                <a:lnTo>
                  <a:pt x="0" y="1146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51936" y="6322690"/>
            <a:ext cx="1142582" cy="1146752"/>
          </a:xfrm>
          <a:custGeom>
            <a:avLst/>
            <a:gdLst/>
            <a:ahLst/>
            <a:cxnLst/>
            <a:rect r="r" b="b" t="t" l="l"/>
            <a:pathLst>
              <a:path h="1146752" w="1142582">
                <a:moveTo>
                  <a:pt x="0" y="0"/>
                </a:moveTo>
                <a:lnTo>
                  <a:pt x="1142582" y="0"/>
                </a:lnTo>
                <a:lnTo>
                  <a:pt x="1142582" y="1146752"/>
                </a:lnTo>
                <a:lnTo>
                  <a:pt x="0" y="114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-527390" y="-412199"/>
            <a:ext cx="4093298" cy="3631872"/>
          </a:xfrm>
          <a:custGeom>
            <a:avLst/>
            <a:gdLst/>
            <a:ahLst/>
            <a:cxnLst/>
            <a:rect r="r" b="b" t="t" l="l"/>
            <a:pathLst>
              <a:path h="3631872" w="4093298">
                <a:moveTo>
                  <a:pt x="4093298" y="3631872"/>
                </a:moveTo>
                <a:lnTo>
                  <a:pt x="0" y="3631872"/>
                </a:lnTo>
                <a:lnTo>
                  <a:pt x="0" y="0"/>
                </a:lnTo>
                <a:lnTo>
                  <a:pt x="4093298" y="0"/>
                </a:lnTo>
                <a:lnTo>
                  <a:pt x="4093298" y="36318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9484336" y="9673302"/>
            <a:ext cx="666487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6149215" y="8995940"/>
            <a:ext cx="1110085" cy="111008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914400" y="1028700"/>
            <a:ext cx="164592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291840"/>
            <a:ext cx="15361920" cy="22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Segoe UI Black"/>
              </a:rPr>
              <a:t>The Road Ahead: From Monolith to Modern Metropolis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760720"/>
            <a:ext cx="153619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CE6F5"/>
                </a:solidFill>
                <a:latin typeface="Segoe UI"/>
              </a:rPr>
              <a:t>Transforming Bengaluru’s governance into a resilient, five-pillar system for the 21st century.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0" y="9829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969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DAHEA_bXjKI</dc:identifier>
  <dcterms:modified xsi:type="dcterms:W3CDTF">2011-08-01T06:04:30Z</dcterms:modified>
  <cp:revision>1</cp:revision>
  <dc:title>Lorem ipsum dolor sit amet, consectetur adipiscing elit. Quisque non elit mauris. Cras euismod, metus ac finibus finibus, felis dui suscipit purus, a maximus leo ligula at dolor. Morbi et malesuada purus. Phasellus a lacus sit amet urna tempor</dc:title>
</cp:coreProperties>
</file>