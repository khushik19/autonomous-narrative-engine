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Happy Font TH Italics" charset="1" panose="02000503000000000000"/>
      <p:regular r:id="rId17"/>
    </p:embeddedFont>
    <p:embeddedFont>
      <p:font typeface="Cakerolli Ultra-Bold" charset="1" panose="00000000000000000000"/>
      <p:regular r:id="rId18"/>
    </p:embeddedFont>
    <p:embeddedFont>
      <p:font typeface="Cakerolli" charset="1" panose="00000000000000000000"/>
      <p:regular r:id="rId19"/>
    </p:embeddedFont>
    <p:embeddedFont>
      <p:font typeface="Cakerolli Bold" charset="1" panose="00000000000000000000"/>
      <p:regular r:id="rId20"/>
    </p:embeddedFont>
    <p:embeddedFont>
      <p:font typeface="Cakerolli Medium" charset="1" panose="00000000000000000000"/>
      <p:regular r:id="rId21"/>
    </p:embeddedFont>
    <p:embeddedFont>
      <p:font typeface="Cakerolli Medium Italics" charset="1" panose="00000000000000000000"/>
      <p:regular r:id="rId22"/>
    </p:embeddedFont>
    <p:embeddedFont>
      <p:font typeface="Cakerolli Bold Italics" charset="1" panose="00000000000000000000"/>
      <p:regular r:id="rId23"/>
    </p:embeddedFont>
    <p:embeddedFont>
      <p:font typeface="Cakerolli Semi-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 Id="rId10" Type="http://schemas.openxmlformats.org/officeDocument/2006/relationships/image" Target="../media/image9.png"/><Relationship Id="rId11" Type="http://schemas.openxmlformats.org/officeDocument/2006/relationships/image" Target="../media/image10.svg"/><Relationship Id="rId12" Type="http://schemas.openxmlformats.org/officeDocument/2006/relationships/image" Target="../media/image11.png"/><Relationship Id="rId13" Type="http://schemas.openxmlformats.org/officeDocument/2006/relationships/image" Target="../media/image12.svg"/><Relationship Id="rId14" Type="http://schemas.openxmlformats.org/officeDocument/2006/relationships/image" Target="../media/image13.png"/><Relationship Id="rId15" Type="http://schemas.openxmlformats.org/officeDocument/2006/relationships/image" Target="../media/image1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image" Target="../media/image15.png"/><Relationship Id="rId9" Type="http://schemas.openxmlformats.org/officeDocument/2006/relationships/image" Target="../media/image16.svg"/><Relationship Id="rId10" Type="http://schemas.openxmlformats.org/officeDocument/2006/relationships/image" Target="../media/image17.png"/><Relationship Id="rId11" Type="http://schemas.openxmlformats.org/officeDocument/2006/relationships/image" Target="../media/image18.svg"/><Relationship Id="rId12" Type="http://schemas.openxmlformats.org/officeDocument/2006/relationships/image" Target="../media/image19.png"/><Relationship Id="rId13" Type="http://schemas.openxmlformats.org/officeDocument/2006/relationships/image" Target="../media/image20.svg"/><Relationship Id="rId14" Type="http://schemas.openxmlformats.org/officeDocument/2006/relationships/image" Target="../media/image3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 Id="rId14"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 Id="rId14" Type="http://schemas.openxmlformats.org/officeDocument/2006/relationships/image" Target="../media/image21.png"/><Relationship Id="rId15" Type="http://schemas.openxmlformats.org/officeDocument/2006/relationships/image" Target="../media/image22.svg"/><Relationship Id="rId16" Type="http://schemas.openxmlformats.org/officeDocument/2006/relationships/image" Target="../media/image23.png"/><Relationship Id="rId17" Type="http://schemas.openxmlformats.org/officeDocument/2006/relationships/image" Target="../media/image2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 Id="rId14" Type="http://schemas.openxmlformats.org/officeDocument/2006/relationships/image" Target="../media/image25.png"/><Relationship Id="rId15" Type="http://schemas.openxmlformats.org/officeDocument/2006/relationships/image" Target="../media/image2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image" Target="../media/image9.png"/><Relationship Id="rId9" Type="http://schemas.openxmlformats.org/officeDocument/2006/relationships/image" Target="../media/image10.svg"/><Relationship Id="rId10" Type="http://schemas.openxmlformats.org/officeDocument/2006/relationships/image" Target="../media/image11.png"/><Relationship Id="rId11" Type="http://schemas.openxmlformats.org/officeDocument/2006/relationships/image" Target="../media/image12.svg"/><Relationship Id="rId12" Type="http://schemas.openxmlformats.org/officeDocument/2006/relationships/image" Target="../media/image13.png"/><Relationship Id="rId13" Type="http://schemas.openxmlformats.org/officeDocument/2006/relationships/image" Target="../media/image14.svg"/><Relationship Id="rId14" Type="http://schemas.openxmlformats.org/officeDocument/2006/relationships/image" Target="../media/image27.png"/><Relationship Id="rId15" Type="http://schemas.openxmlformats.org/officeDocument/2006/relationships/image" Target="../media/image28.svg"/><Relationship Id="rId16" Type="http://schemas.openxmlformats.org/officeDocument/2006/relationships/image" Target="../media/image29.png"/><Relationship Id="rId17" Type="http://schemas.openxmlformats.org/officeDocument/2006/relationships/image" Target="../media/image30.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18000"/>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0">
            <a:off x="13902170" y="703063"/>
            <a:ext cx="1386381" cy="1665323"/>
          </a:xfrm>
          <a:custGeom>
            <a:avLst/>
            <a:gdLst/>
            <a:ahLst/>
            <a:cxnLst/>
            <a:rect r="r" b="b" t="t" l="l"/>
            <a:pathLst>
              <a:path h="1665323" w="1386381">
                <a:moveTo>
                  <a:pt x="0" y="0"/>
                </a:moveTo>
                <a:lnTo>
                  <a:pt x="1386381" y="0"/>
                </a:lnTo>
                <a:lnTo>
                  <a:pt x="1386381" y="1665323"/>
                </a:lnTo>
                <a:lnTo>
                  <a:pt x="0" y="16653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true" flipV="true" rot="-781863">
            <a:off x="989217" y="7189741"/>
            <a:ext cx="1386381" cy="1665323"/>
          </a:xfrm>
          <a:custGeom>
            <a:avLst/>
            <a:gdLst/>
            <a:ahLst/>
            <a:cxnLst/>
            <a:rect r="r" b="b" t="t" l="l"/>
            <a:pathLst>
              <a:path h="1665323" w="1386381">
                <a:moveTo>
                  <a:pt x="1386381" y="1665322"/>
                </a:moveTo>
                <a:lnTo>
                  <a:pt x="0" y="1665322"/>
                </a:lnTo>
                <a:lnTo>
                  <a:pt x="0" y="0"/>
                </a:lnTo>
                <a:lnTo>
                  <a:pt x="1386381" y="0"/>
                </a:lnTo>
                <a:lnTo>
                  <a:pt x="1386381" y="166532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2" id="32"/>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3" id="33"/>
          <p:cNvSpPr/>
          <p:nvPr/>
        </p:nvSpPr>
        <p:spPr>
          <a:xfrm flipH="false" flipV="false" rot="0">
            <a:off x="1863251" y="1735683"/>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4" id="34"/>
          <p:cNvSpPr/>
          <p:nvPr/>
        </p:nvSpPr>
        <p:spPr>
          <a:xfrm flipH="false" flipV="false" rot="-2473926">
            <a:off x="16489660" y="3493500"/>
            <a:ext cx="2325515" cy="598820"/>
          </a:xfrm>
          <a:custGeom>
            <a:avLst/>
            <a:gdLst/>
            <a:ahLst/>
            <a:cxnLst/>
            <a:rect r="r" b="b" t="t" l="l"/>
            <a:pathLst>
              <a:path h="598820" w="2325515">
                <a:moveTo>
                  <a:pt x="0" y="0"/>
                </a:moveTo>
                <a:lnTo>
                  <a:pt x="2325516" y="0"/>
                </a:lnTo>
                <a:lnTo>
                  <a:pt x="2325516" y="598820"/>
                </a:lnTo>
                <a:lnTo>
                  <a:pt x="0" y="5988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5" id="35"/>
          <p:cNvSpPr/>
          <p:nvPr/>
        </p:nvSpPr>
        <p:spPr>
          <a:xfrm flipH="false" flipV="false" rot="323603">
            <a:off x="16241593" y="7121058"/>
            <a:ext cx="1132716" cy="2093553"/>
          </a:xfrm>
          <a:custGeom>
            <a:avLst/>
            <a:gdLst/>
            <a:ahLst/>
            <a:cxnLst/>
            <a:rect r="r" b="b" t="t" l="l"/>
            <a:pathLst>
              <a:path h="2093553" w="1132716">
                <a:moveTo>
                  <a:pt x="0" y="0"/>
                </a:moveTo>
                <a:lnTo>
                  <a:pt x="1132716" y="0"/>
                </a:lnTo>
                <a:lnTo>
                  <a:pt x="1132716" y="2093553"/>
                </a:lnTo>
                <a:lnTo>
                  <a:pt x="0" y="2093553"/>
                </a:lnTo>
                <a:lnTo>
                  <a:pt x="0" y="0"/>
                </a:lnTo>
                <a:close/>
              </a:path>
            </a:pathLst>
          </a:custGeom>
          <a:blipFill>
            <a:blip r:embed="rId12">
              <a:extLst>
                <a:ext uri="{96DAC541-7B7A-43D3-8B79-37D633B846F1}">
                  <asvg:svgBlip xmlns:asvg="http://schemas.microsoft.com/office/drawing/2016/SVG/main" r:embed="rId13"/>
                </a:ext>
              </a:extLst>
            </a:blip>
            <a:stretch>
              <a:fillRect l="-130590" t="0" r="0" b="-48746"/>
            </a:stretch>
          </a:blipFill>
        </p:spPr>
      </p:sp>
      <p:sp>
        <p:nvSpPr>
          <p:cNvPr name="Freeform 36" id="36"/>
          <p:cNvSpPr/>
          <p:nvPr/>
        </p:nvSpPr>
        <p:spPr>
          <a:xfrm flipH="false" flipV="false" rot="323603">
            <a:off x="17692802" y="5966897"/>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2">
              <a:extLst>
                <a:ext uri="{96DAC541-7B7A-43D3-8B79-37D633B846F1}">
                  <asvg:svgBlip xmlns:asvg="http://schemas.microsoft.com/office/drawing/2016/SVG/main" r:embed="rId13"/>
                </a:ext>
              </a:extLst>
            </a:blip>
            <a:stretch>
              <a:fillRect l="-127975" t="-28590" r="-17420" b="-104172"/>
            </a:stretch>
          </a:blipFill>
        </p:spPr>
      </p:sp>
      <p:sp>
        <p:nvSpPr>
          <p:cNvPr name="Freeform 37" id="37"/>
          <p:cNvSpPr/>
          <p:nvPr/>
        </p:nvSpPr>
        <p:spPr>
          <a:xfrm flipH="true" flipV="false" rot="-873099">
            <a:off x="-4988" y="4159379"/>
            <a:ext cx="1428017" cy="1622746"/>
          </a:xfrm>
          <a:custGeom>
            <a:avLst/>
            <a:gdLst/>
            <a:ahLst/>
            <a:cxnLst/>
            <a:rect r="r" b="b" t="t" l="l"/>
            <a:pathLst>
              <a:path h="1622746" w="1428017">
                <a:moveTo>
                  <a:pt x="1428017" y="0"/>
                </a:moveTo>
                <a:lnTo>
                  <a:pt x="0" y="0"/>
                </a:lnTo>
                <a:lnTo>
                  <a:pt x="0" y="1622746"/>
                </a:lnTo>
                <a:lnTo>
                  <a:pt x="1428017" y="1622746"/>
                </a:lnTo>
                <a:lnTo>
                  <a:pt x="1428017"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38" id="38"/>
          <p:cNvGrpSpPr/>
          <p:nvPr/>
        </p:nvGrpSpPr>
        <p:grpSpPr>
          <a:xfrm rot="0">
            <a:off x="3200636" y="8031118"/>
            <a:ext cx="5496395" cy="798862"/>
            <a:chOff x="0" y="0"/>
            <a:chExt cx="1447610" cy="210400"/>
          </a:xfrm>
        </p:grpSpPr>
        <p:sp>
          <p:nvSpPr>
            <p:cNvPr name="Freeform 39" id="39"/>
            <p:cNvSpPr/>
            <p:nvPr/>
          </p:nvSpPr>
          <p:spPr>
            <a:xfrm flipH="false" flipV="false" rot="0">
              <a:off x="0" y="0"/>
              <a:ext cx="1447610" cy="210400"/>
            </a:xfrm>
            <a:custGeom>
              <a:avLst/>
              <a:gdLst/>
              <a:ahLst/>
              <a:cxnLst/>
              <a:rect r="r" b="b" t="t" l="l"/>
              <a:pathLst>
                <a:path h="210400" w="1447610">
                  <a:moveTo>
                    <a:pt x="0" y="0"/>
                  </a:moveTo>
                  <a:lnTo>
                    <a:pt x="1447610" y="0"/>
                  </a:lnTo>
                  <a:lnTo>
                    <a:pt x="1447610" y="210400"/>
                  </a:lnTo>
                  <a:lnTo>
                    <a:pt x="0" y="210400"/>
                  </a:lnTo>
                  <a:close/>
                </a:path>
              </a:pathLst>
            </a:custGeom>
            <a:solidFill>
              <a:srgbClr val="E080B4"/>
            </a:solidFill>
          </p:spPr>
        </p:sp>
        <p:sp>
          <p:nvSpPr>
            <p:cNvPr name="TextBox 40" id="40"/>
            <p:cNvSpPr txBox="true"/>
            <p:nvPr/>
          </p:nvSpPr>
          <p:spPr>
            <a:xfrm>
              <a:off x="0" y="-180975"/>
              <a:ext cx="1447610" cy="391375"/>
            </a:xfrm>
            <a:prstGeom prst="rect">
              <a:avLst/>
            </a:prstGeom>
          </p:spPr>
          <p:txBody>
            <a:bodyPr anchor="ctr" rtlCol="false" tIns="50800" lIns="50800" bIns="50800" rIns="50800"/>
            <a:lstStyle/>
            <a:p>
              <a:pPr algn="ctr">
                <a:lnSpc>
                  <a:spcPts val="2659"/>
                </a:lnSpc>
                <a:spcBef>
                  <a:spcPct val="0"/>
                </a:spcBef>
              </a:pPr>
            </a:p>
          </p:txBody>
        </p:sp>
      </p:grpSp>
      <p:grpSp>
        <p:nvGrpSpPr>
          <p:cNvPr name="Group 41" id="41"/>
          <p:cNvGrpSpPr/>
          <p:nvPr/>
        </p:nvGrpSpPr>
        <p:grpSpPr>
          <a:xfrm rot="0">
            <a:off x="3310609" y="7923646"/>
            <a:ext cx="5496395" cy="798862"/>
            <a:chOff x="0" y="0"/>
            <a:chExt cx="1447610" cy="210400"/>
          </a:xfrm>
        </p:grpSpPr>
        <p:sp>
          <p:nvSpPr>
            <p:cNvPr name="Freeform 42" id="42"/>
            <p:cNvSpPr/>
            <p:nvPr/>
          </p:nvSpPr>
          <p:spPr>
            <a:xfrm flipH="false" flipV="false" rot="0">
              <a:off x="0" y="0"/>
              <a:ext cx="1447610" cy="210400"/>
            </a:xfrm>
            <a:custGeom>
              <a:avLst/>
              <a:gdLst/>
              <a:ahLst/>
              <a:cxnLst/>
              <a:rect r="r" b="b" t="t" l="l"/>
              <a:pathLst>
                <a:path h="210400" w="1447610">
                  <a:moveTo>
                    <a:pt x="0" y="0"/>
                  </a:moveTo>
                  <a:lnTo>
                    <a:pt x="1447610" y="0"/>
                  </a:lnTo>
                  <a:lnTo>
                    <a:pt x="1447610" y="210400"/>
                  </a:lnTo>
                  <a:lnTo>
                    <a:pt x="0" y="210400"/>
                  </a:lnTo>
                  <a:close/>
                </a:path>
              </a:pathLst>
            </a:custGeom>
            <a:solidFill>
              <a:srgbClr val="485B90"/>
            </a:solidFill>
          </p:spPr>
        </p:sp>
        <p:sp>
          <p:nvSpPr>
            <p:cNvPr name="TextBox 43" id="43"/>
            <p:cNvSpPr txBox="true"/>
            <p:nvPr/>
          </p:nvSpPr>
          <p:spPr>
            <a:xfrm>
              <a:off x="0" y="-180975"/>
              <a:ext cx="1447610" cy="391375"/>
            </a:xfrm>
            <a:prstGeom prst="rect">
              <a:avLst/>
            </a:prstGeom>
          </p:spPr>
          <p:txBody>
            <a:bodyPr anchor="ctr" rtlCol="false" tIns="50800" lIns="50800" bIns="50800" rIns="50800"/>
            <a:lstStyle/>
            <a:p>
              <a:pPr algn="ctr">
                <a:lnSpc>
                  <a:spcPts val="2659"/>
                </a:lnSpc>
                <a:spcBef>
                  <a:spcPct val="0"/>
                </a:spcBef>
              </a:pPr>
            </a:p>
          </p:txBody>
        </p:sp>
      </p:grpSp>
      <p:sp>
        <p:nvSpPr>
          <p:cNvPr name="TextBox 44" id="44"/>
          <p:cNvSpPr txBox="true"/>
          <p:nvPr/>
        </p:nvSpPr>
        <p:spPr>
          <a:xfrm rot="0">
            <a:off x="3546318" y="7932389"/>
            <a:ext cx="4972668" cy="580390"/>
          </a:xfrm>
          <a:prstGeom prst="rect">
            <a:avLst/>
          </a:prstGeom>
        </p:spPr>
        <p:txBody>
          <a:bodyPr anchor="t" rtlCol="false" tIns="0" lIns="0" bIns="0" rIns="0">
            <a:spAutoFit/>
          </a:bodyPr>
          <a:lstStyle/>
          <a:p>
            <a:endParaRPr/>
          </a:p>
        </p:txBody>
      </p:sp>
      <p:sp>
        <p:nvSpPr>
          <p:cNvPr name="TextBox 45" id="45"/>
          <p:cNvSpPr txBox="true"/>
          <p:nvPr/>
        </p:nvSpPr>
        <p:spPr>
          <a:xfrm rot="0">
            <a:off x="3200636" y="2356032"/>
            <a:ext cx="7951882" cy="4535025"/>
          </a:xfrm>
          <a:prstGeom prst="rect">
            <a:avLst/>
          </a:prstGeom>
        </p:spPr>
        <p:txBody>
          <a:bodyPr anchor="t" rtlCol="false" tIns="0" lIns="0" bIns="0" rIns="0">
            <a:spAutoFit/>
          </a:bodyPr>
          <a:lstStyle/>
          <a:p>
            <a:endParaRPr/>
          </a:p>
        </p:txBody>
      </p:sp>
      <p:sp>
        <p:nvSpPr>
          <p:cNvPr id="46" name="TextBox 45"/>
          <p:cNvSpPr txBox="1"/>
          <p:nvPr/>
        </p:nvSpPr>
        <p:spPr>
          <a:xfrm>
            <a:off x="3200636" y="2356032"/>
            <a:ext cx="7951882" cy="4535025"/>
          </a:xfrm>
          <a:prstGeom prst="rect">
            <a:avLst/>
          </a:prstGeom>
          <a:noFill/>
        </p:spPr>
        <p:txBody>
          <a:bodyPr wrap="square">
            <a:spAutoFit/>
          </a:bodyPr>
          <a:lstStyle/>
          <a:p>
            <a:pPr algn="l"/>
            <a:r>
              <a:rPr sz="3800" b="1">
                <a:solidFill>
                  <a:srgbClr val="000000"/>
                </a:solidFill>
                <a:latin typeface="Segoe UI Black"/>
              </a:rPr>
              <a:t>The AI Renaissance: Architecting the New Industrial Age</a:t>
            </a:r>
          </a:p>
        </p:txBody>
      </p:sp>
      <p:cxnSp>
        <p:nvCxnSpPr>
          <p:cNvPr id="47" name="Connector 46"/>
          <p:cNvCxnSpPr/>
          <p:nvPr/>
        </p:nvCxnSpPr>
        <p:spPr>
          <a:xfrm>
            <a:off x="3200636" y="5530549"/>
            <a:ext cx="2385564"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546318" y="7932388"/>
            <a:ext cx="4972668" cy="580390"/>
          </a:xfrm>
          <a:prstGeom prst="rect">
            <a:avLst/>
          </a:prstGeom>
          <a:noFill/>
        </p:spPr>
        <p:txBody>
          <a:bodyPr wrap="square">
            <a:spAutoFit/>
          </a:bodyPr>
          <a:lstStyle/>
          <a:p>
            <a:pPr algn="l"/>
            <a:r>
              <a:rPr sz="2200" b="0">
                <a:solidFill>
                  <a:srgbClr val="000000"/>
                </a:solidFill>
                <a:latin typeface="Segoe UI"/>
              </a:rPr>
              <a:t>Scaling cognitive capacity and operational efficiency at the velocity of silicon-based logic.</a:t>
            </a:r>
          </a:p>
        </p:txBody>
      </p:sp>
      <p:sp>
        <p:nvSpPr>
          <p:cNvPr id="49" name="TextBox 48"/>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323603">
            <a:off x="523534" y="9015883"/>
            <a:ext cx="710251" cy="892756"/>
          </a:xfrm>
          <a:custGeom>
            <a:avLst/>
            <a:gdLst/>
            <a:ahLst/>
            <a:cxnLst/>
            <a:rect r="r" b="b" t="t" l="l"/>
            <a:pathLst>
              <a:path h="892756" w="710251">
                <a:moveTo>
                  <a:pt x="0" y="0"/>
                </a:moveTo>
                <a:lnTo>
                  <a:pt x="710250" y="0"/>
                </a:lnTo>
                <a:lnTo>
                  <a:pt x="710250" y="892757"/>
                </a:lnTo>
                <a:lnTo>
                  <a:pt x="0" y="892757"/>
                </a:lnTo>
                <a:lnTo>
                  <a:pt x="0" y="0"/>
                </a:lnTo>
                <a:close/>
              </a:path>
            </a:pathLst>
          </a:custGeom>
          <a:blipFill>
            <a:blip r:embed="rId6">
              <a:extLst>
                <a:ext uri="{96DAC541-7B7A-43D3-8B79-37D633B846F1}">
                  <asvg:svgBlip xmlns:asvg="http://schemas.microsoft.com/office/drawing/2016/SVG/main" r:embed="rId7"/>
                </a:ext>
              </a:extLst>
            </a:blip>
            <a:stretch>
              <a:fillRect l="-127975" t="-28590" r="-17420" b="-104172"/>
            </a:stretch>
          </a:blipFill>
        </p:spPr>
      </p:sp>
      <p:sp>
        <p:nvSpPr>
          <p:cNvPr name="Freeform 32" id="32"/>
          <p:cNvSpPr/>
          <p:nvPr/>
        </p:nvSpPr>
        <p:spPr>
          <a:xfrm flipH="false" flipV="false" rot="0">
            <a:off x="-1935087" y="5494736"/>
            <a:ext cx="4836473" cy="1204721"/>
          </a:xfrm>
          <a:custGeom>
            <a:avLst/>
            <a:gdLst/>
            <a:ahLst/>
            <a:cxnLst/>
            <a:rect r="r" b="b" t="t" l="l"/>
            <a:pathLst>
              <a:path h="1204721" w="4836473">
                <a:moveTo>
                  <a:pt x="0" y="0"/>
                </a:moveTo>
                <a:lnTo>
                  <a:pt x="4836473" y="0"/>
                </a:lnTo>
                <a:lnTo>
                  <a:pt x="4836473" y="1204721"/>
                </a:lnTo>
                <a:lnTo>
                  <a:pt x="0" y="12047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true" flipV="false" rot="0">
            <a:off x="15384803" y="5494736"/>
            <a:ext cx="4836473" cy="1204721"/>
          </a:xfrm>
          <a:custGeom>
            <a:avLst/>
            <a:gdLst/>
            <a:ahLst/>
            <a:cxnLst/>
            <a:rect r="r" b="b" t="t" l="l"/>
            <a:pathLst>
              <a:path h="1204721" w="4836473">
                <a:moveTo>
                  <a:pt x="4836472" y="0"/>
                </a:moveTo>
                <a:lnTo>
                  <a:pt x="0" y="0"/>
                </a:lnTo>
                <a:lnTo>
                  <a:pt x="0" y="1204721"/>
                </a:lnTo>
                <a:lnTo>
                  <a:pt x="4836472" y="1204721"/>
                </a:lnTo>
                <a:lnTo>
                  <a:pt x="483647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4" id="34"/>
          <p:cNvSpPr/>
          <p:nvPr/>
        </p:nvSpPr>
        <p:spPr>
          <a:xfrm flipH="false" flipV="false" rot="323603">
            <a:off x="17843423" y="1060103"/>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6">
              <a:extLst>
                <a:ext uri="{96DAC541-7B7A-43D3-8B79-37D633B846F1}">
                  <asvg:svgBlip xmlns:asvg="http://schemas.microsoft.com/office/drawing/2016/SVG/main" r:embed="rId7"/>
                </a:ext>
              </a:extLst>
            </a:blip>
            <a:stretch>
              <a:fillRect l="-127975" t="-28590" r="-17420" b="-104172"/>
            </a:stretch>
          </a:blipFill>
        </p:spPr>
      </p:sp>
      <p:sp>
        <p:nvSpPr>
          <p:cNvPr name="Freeform 35" id="35"/>
          <p:cNvSpPr/>
          <p:nvPr/>
        </p:nvSpPr>
        <p:spPr>
          <a:xfrm flipH="false" flipV="false" rot="0">
            <a:off x="4000061" y="3288071"/>
            <a:ext cx="10077222" cy="5618051"/>
          </a:xfrm>
          <a:custGeom>
            <a:avLst/>
            <a:gdLst/>
            <a:ahLst/>
            <a:cxnLst/>
            <a:rect r="r" b="b" t="t" l="l"/>
            <a:pathLst>
              <a:path h="5618051" w="10077222">
                <a:moveTo>
                  <a:pt x="0" y="0"/>
                </a:moveTo>
                <a:lnTo>
                  <a:pt x="10077222" y="0"/>
                </a:lnTo>
                <a:lnTo>
                  <a:pt x="10077222" y="5618051"/>
                </a:lnTo>
                <a:lnTo>
                  <a:pt x="0" y="56180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6" id="36"/>
          <p:cNvSpPr/>
          <p:nvPr/>
        </p:nvSpPr>
        <p:spPr>
          <a:xfrm flipH="false" flipV="false" rot="0">
            <a:off x="4492007" y="3602114"/>
            <a:ext cx="9093330" cy="4989965"/>
          </a:xfrm>
          <a:custGeom>
            <a:avLst/>
            <a:gdLst/>
            <a:ahLst/>
            <a:cxnLst/>
            <a:rect r="r" b="b" t="t" l="l"/>
            <a:pathLst>
              <a:path h="4989965" w="9093330">
                <a:moveTo>
                  <a:pt x="0" y="0"/>
                </a:moveTo>
                <a:lnTo>
                  <a:pt x="9093330" y="0"/>
                </a:lnTo>
                <a:lnTo>
                  <a:pt x="9093330" y="4989965"/>
                </a:lnTo>
                <a:lnTo>
                  <a:pt x="0" y="49899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7" id="37"/>
          <p:cNvSpPr txBox="true"/>
          <p:nvPr/>
        </p:nvSpPr>
        <p:spPr>
          <a:xfrm rot="0">
            <a:off x="5163345" y="3958546"/>
            <a:ext cx="7961309" cy="2330577"/>
          </a:xfrm>
          <a:prstGeom prst="rect">
            <a:avLst/>
          </a:prstGeom>
        </p:spPr>
        <p:txBody>
          <a:bodyPr anchor="t" rtlCol="false" tIns="0" lIns="0" bIns="0" rIns="0">
            <a:spAutoFit/>
          </a:bodyPr>
          <a:lstStyle/>
          <a:p>
            <a:endParaRPr/>
          </a:p>
        </p:txBody>
      </p:sp>
      <p:sp>
        <p:nvSpPr>
          <p:cNvPr name="TextBox 38" id="38"/>
          <p:cNvSpPr txBox="true"/>
          <p:nvPr/>
        </p:nvSpPr>
        <p:spPr>
          <a:xfrm rot="0">
            <a:off x="7064194" y="1441338"/>
            <a:ext cx="4159612" cy="1391285"/>
          </a:xfrm>
          <a:prstGeom prst="rect">
            <a:avLst/>
          </a:prstGeom>
        </p:spPr>
        <p:txBody>
          <a:bodyPr anchor="t" rtlCol="false" tIns="0" lIns="0" bIns="0" rIns="0">
            <a:spAutoFit/>
          </a:bodyPr>
          <a:lstStyle/>
          <a:p>
            <a:endParaRPr/>
          </a:p>
        </p:txBody>
      </p:sp>
      <p:sp>
        <p:nvSpPr>
          <p:cNvPr id="39" name="TextBox 38"/>
          <p:cNvSpPr txBox="1"/>
          <p:nvPr/>
        </p:nvSpPr>
        <p:spPr>
          <a:xfrm>
            <a:off x="7064194" y="1441338"/>
            <a:ext cx="4159612" cy="1391285"/>
          </a:xfrm>
          <a:prstGeom prst="rect">
            <a:avLst/>
          </a:prstGeom>
          <a:noFill/>
        </p:spPr>
        <p:txBody>
          <a:bodyPr wrap="square">
            <a:spAutoFit/>
          </a:bodyPr>
          <a:lstStyle/>
          <a:p>
            <a:pPr algn="l"/>
            <a:r>
              <a:rPr sz="3400" b="1">
                <a:solidFill>
                  <a:srgbClr val="000000"/>
                </a:solidFill>
                <a:latin typeface="Segoe UI Black"/>
              </a:rPr>
              <a:t>Hyper-Growth: The Multi-Trillion Dollar AI Economic Engine</a:t>
            </a:r>
          </a:p>
        </p:txBody>
      </p:sp>
      <p:cxnSp>
        <p:nvCxnSpPr>
          <p:cNvPr id="40" name="Connector 39"/>
          <p:cNvCxnSpPr/>
          <p:nvPr/>
        </p:nvCxnSpPr>
        <p:spPr>
          <a:xfrm>
            <a:off x="7064194" y="2415237"/>
            <a:ext cx="124788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163345" y="3958545"/>
            <a:ext cx="7961309" cy="2330577"/>
          </a:xfrm>
          <a:prstGeom prst="rect">
            <a:avLst/>
          </a:prstGeom>
          <a:noFill/>
        </p:spPr>
        <p:txBody>
          <a:bodyPr wrap="square">
            <a:spAutoFit/>
          </a:bodyPr>
          <a:lstStyle/>
          <a:p>
            <a:pPr algn="l">
              <a:spcAft>
                <a:spcPts val="2800"/>
              </a:spcAft>
            </a:pPr>
            <a:r>
              <a:rPr sz="1800" b="0">
                <a:solidFill>
                  <a:srgbClr val="000000"/>
                </a:solidFill>
                <a:latin typeface="Segoe UI"/>
              </a:rPr>
              <a:t>Projected Compound Annual Growth Rate (CAGR) of 37.3% signals a fundamental shift in global capital allocation.</a:t>
            </a:r>
          </a:p>
          <a:p>
            <a:pPr algn="l">
              <a:spcAft>
                <a:spcPts val="2800"/>
              </a:spcAft>
            </a:pPr>
            <a:r>
              <a:rPr sz="1800" b="0">
                <a:solidFill>
                  <a:srgbClr val="000000"/>
                </a:solidFill>
                <a:latin typeface="Segoe UI"/>
              </a:rPr>
              <a:t>AI is forecast to inject $15.7 trillion into the global economy by 2030, exceeding the current combined output of India and Germany.</a:t>
            </a:r>
          </a:p>
        </p:txBody>
      </p:sp>
      <p:pic>
        <p:nvPicPr>
          <p:cNvPr id="42" name="Picture 41" descr="chart_2.png"/>
          <p:cNvPicPr>
            <a:picLocks noChangeAspect="1"/>
          </p:cNvPicPr>
          <p:nvPr/>
        </p:nvPicPr>
        <p:blipFill>
          <a:blip r:embed="rId14"/>
          <a:stretch>
            <a:fillRect/>
          </a:stretch>
        </p:blipFill>
        <p:spPr>
          <a:xfrm>
            <a:off x="9144000" y="1234439"/>
            <a:ext cx="8412480" cy="8023860"/>
          </a:xfrm>
          <a:prstGeom prst="rect">
            <a:avLst/>
          </a:prstGeom>
        </p:spPr>
      </p:pic>
      <p:sp>
        <p:nvSpPr>
          <p:cNvPr id="43" name="TextBox 42"/>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0">
            <a:off x="-83719" y="1777369"/>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2433344">
            <a:off x="-626247" y="7986328"/>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323603">
            <a:off x="16904175" y="6172657"/>
            <a:ext cx="710251" cy="892756"/>
          </a:xfrm>
          <a:custGeom>
            <a:avLst/>
            <a:gdLst/>
            <a:ahLst/>
            <a:cxnLst/>
            <a:rect r="r" b="b" t="t" l="l"/>
            <a:pathLst>
              <a:path h="892756" w="710251">
                <a:moveTo>
                  <a:pt x="0" y="0"/>
                </a:moveTo>
                <a:lnTo>
                  <a:pt x="710250" y="0"/>
                </a:lnTo>
                <a:lnTo>
                  <a:pt x="710250"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4" id="34"/>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5" id="35"/>
          <p:cNvSpPr txBox="true"/>
          <p:nvPr/>
        </p:nvSpPr>
        <p:spPr>
          <a:xfrm rot="0">
            <a:off x="1614616" y="4459026"/>
            <a:ext cx="15071396" cy="2637790"/>
          </a:xfrm>
          <a:prstGeom prst="rect">
            <a:avLst/>
          </a:prstGeom>
        </p:spPr>
        <p:txBody>
          <a:bodyPr anchor="t" rtlCol="false" tIns="0" lIns="0" bIns="0" rIns="0">
            <a:spAutoFit/>
          </a:bodyPr>
          <a:lstStyle/>
          <a:p>
            <a:endParaRPr/>
          </a:p>
        </p:txBody>
      </p:sp>
      <p:sp>
        <p:nvSpPr>
          <p:cNvPr name="TextBox 36" id="36"/>
          <p:cNvSpPr txBox="true"/>
          <p:nvPr/>
        </p:nvSpPr>
        <p:spPr>
          <a:xfrm rot="0">
            <a:off x="3708347" y="2258429"/>
            <a:ext cx="10442377" cy="1391285"/>
          </a:xfrm>
          <a:prstGeom prst="rect">
            <a:avLst/>
          </a:prstGeom>
        </p:spPr>
        <p:txBody>
          <a:bodyPr anchor="t" rtlCol="false" tIns="0" lIns="0" bIns="0" rIns="0">
            <a:spAutoFit/>
          </a:bodyPr>
          <a:lstStyle/>
          <a:p>
            <a:endParaRPr/>
          </a:p>
        </p:txBody>
      </p:sp>
      <p:sp>
        <p:nvSpPr>
          <p:cNvPr id="37" name="TextBox 36"/>
          <p:cNvSpPr txBox="1"/>
          <p:nvPr/>
        </p:nvSpPr>
        <p:spPr>
          <a:xfrm>
            <a:off x="3708347" y="2258429"/>
            <a:ext cx="10442377" cy="1391285"/>
          </a:xfrm>
          <a:prstGeom prst="rect">
            <a:avLst/>
          </a:prstGeom>
          <a:noFill/>
        </p:spPr>
        <p:txBody>
          <a:bodyPr wrap="square">
            <a:spAutoFit/>
          </a:bodyPr>
          <a:lstStyle/>
          <a:p>
            <a:pPr algn="l"/>
            <a:r>
              <a:rPr sz="3600" b="1">
                <a:solidFill>
                  <a:srgbClr val="000000"/>
                </a:solidFill>
                <a:latin typeface="Segoe UI Black"/>
              </a:rPr>
              <a:t>The AI-First Enterprise: Integration and Value Capture</a:t>
            </a:r>
          </a:p>
        </p:txBody>
      </p:sp>
      <p:cxnSp>
        <p:nvCxnSpPr>
          <p:cNvPr id="38" name="Connector 37"/>
          <p:cNvCxnSpPr/>
          <p:nvPr/>
        </p:nvCxnSpPr>
        <p:spPr>
          <a:xfrm>
            <a:off x="3708347" y="3232328"/>
            <a:ext cx="313271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4616" y="4459026"/>
            <a:ext cx="15071396" cy="2637790"/>
          </a:xfrm>
          <a:prstGeom prst="rect">
            <a:avLst/>
          </a:prstGeom>
          <a:noFill/>
        </p:spPr>
        <p:txBody>
          <a:bodyPr wrap="square">
            <a:spAutoFit/>
          </a:bodyPr>
          <a:lstStyle/>
          <a:p>
            <a:pPr algn="l">
              <a:spcAft>
                <a:spcPts val="2800"/>
              </a:spcAft>
            </a:pPr>
            <a:r>
              <a:rPr sz="1700" b="0">
                <a:solidFill>
                  <a:srgbClr val="000000"/>
                </a:solidFill>
                <a:latin typeface="Segoe UI"/>
              </a:rPr>
              <a:t>Ubiquitous Integration: 72% of global firms have transitioned AI from experimental labs to core business functions.</a:t>
            </a:r>
          </a:p>
          <a:p>
            <a:pPr algn="l">
              <a:spcAft>
                <a:spcPts val="2800"/>
              </a:spcAft>
            </a:pPr>
            <a:r>
              <a:rPr sz="1700" b="0">
                <a:solidFill>
                  <a:srgbClr val="000000"/>
                </a:solidFill>
                <a:latin typeface="Segoe UI"/>
              </a:rPr>
              <a:t>Capital Prioritization: 40% of organizations are aggressively expanding dedicated AI budgets to secure a competitive 'intelligence moat'.</a:t>
            </a:r>
          </a:p>
          <a:p>
            <a:pPr algn="l">
              <a:spcAft>
                <a:spcPts val="2800"/>
              </a:spcAft>
            </a:pPr>
            <a:r>
              <a:rPr sz="1700" b="0">
                <a:solidFill>
                  <a:srgbClr val="000000"/>
                </a:solidFill>
                <a:latin typeface="Segoe UI"/>
              </a:rPr>
              <a:t>Functional Dominance: Marketing, Sales, and Product Development account for 79% of successful AI implementation cases.</a:t>
            </a:r>
          </a:p>
          <a:p>
            <a:pPr algn="l">
              <a:spcAft>
                <a:spcPts val="2800"/>
              </a:spcAft>
            </a:pPr>
            <a:r>
              <a:rPr sz="1700" b="0">
                <a:solidFill>
                  <a:srgbClr val="000000"/>
                </a:solidFill>
                <a:latin typeface="Segoe UI"/>
              </a:rPr>
              <a:t>Proven Profitability: Early adopters report an average ROI of 2.5x, transforming AI from a cost center into a primary revenue driver.</a:t>
            </a:r>
          </a:p>
        </p:txBody>
      </p:sp>
      <p:sp>
        <p:nvSpPr>
          <p:cNvPr id="40" name="TextBox 3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grpSp>
        <p:nvGrpSpPr>
          <p:cNvPr name="Group 2" id="2"/>
          <p:cNvGrpSpPr/>
          <p:nvPr/>
        </p:nvGrpSpPr>
        <p:grpSpPr>
          <a:xfrm rot="0">
            <a:off x="358401" y="584106"/>
            <a:ext cx="17542623" cy="9163507"/>
            <a:chOff x="0" y="0"/>
            <a:chExt cx="23390165" cy="12218010"/>
          </a:xfrm>
        </p:grpSpPr>
        <p:sp>
          <p:nvSpPr>
            <p:cNvPr name="Freeform 3" id="3"/>
            <p:cNvSpPr/>
            <p:nvPr/>
          </p:nvSpPr>
          <p:spPr>
            <a:xfrm flipH="false" flipV="false" rot="0">
              <a:off x="1205521"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55096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892507"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234052" y="0"/>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05521"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55096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892507"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7234052" y="3160155"/>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205521"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55096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1892507"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234052" y="6290497"/>
              <a:ext cx="4988692" cy="2737545"/>
            </a:xfrm>
            <a:custGeom>
              <a:avLst/>
              <a:gdLst/>
              <a:ahLst/>
              <a:cxnLst/>
              <a:rect r="r" b="b" t="t" l="l"/>
              <a:pathLst>
                <a:path h="2737545" w="4988692">
                  <a:moveTo>
                    <a:pt x="0" y="0"/>
                  </a:moveTo>
                  <a:lnTo>
                    <a:pt x="4988692" y="0"/>
                  </a:lnTo>
                  <a:lnTo>
                    <a:pt x="4988692"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05521"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655096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1892507"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7234052" y="9420839"/>
              <a:ext cx="4988692" cy="2737545"/>
            </a:xfrm>
            <a:custGeom>
              <a:avLst/>
              <a:gdLst/>
              <a:ahLst/>
              <a:cxnLst/>
              <a:rect r="r" b="b" t="t" l="l"/>
              <a:pathLst>
                <a:path h="2737545" w="4988692">
                  <a:moveTo>
                    <a:pt x="0" y="0"/>
                  </a:moveTo>
                  <a:lnTo>
                    <a:pt x="4988692" y="0"/>
                  </a:lnTo>
                  <a:lnTo>
                    <a:pt x="4988692" y="2737544"/>
                  </a:lnTo>
                  <a:lnTo>
                    <a:pt x="0" y="2737544"/>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0"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0"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0"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0"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22578344" y="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22578344" y="316015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22578344" y="6320310"/>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0">
              <a:off x="22578344" y="9480465"/>
              <a:ext cx="811821" cy="2737545"/>
            </a:xfrm>
            <a:custGeom>
              <a:avLst/>
              <a:gdLst/>
              <a:ahLst/>
              <a:cxnLst/>
              <a:rect r="r" b="b" t="t" l="l"/>
              <a:pathLst>
                <a:path h="2737545" w="811821">
                  <a:moveTo>
                    <a:pt x="0" y="0"/>
                  </a:moveTo>
                  <a:lnTo>
                    <a:pt x="811821" y="0"/>
                  </a:lnTo>
                  <a:lnTo>
                    <a:pt x="811821" y="2737545"/>
                  </a:lnTo>
                  <a:lnTo>
                    <a:pt x="0" y="2737545"/>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grpSp>
      <p:sp>
        <p:nvSpPr>
          <p:cNvPr name="Freeform 27" id="27"/>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8" id="28"/>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9" id="29"/>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30" id="30"/>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1" id="31"/>
          <p:cNvSpPr/>
          <p:nvPr/>
        </p:nvSpPr>
        <p:spPr>
          <a:xfrm flipH="false" flipV="false" rot="0">
            <a:off x="-83719" y="1777369"/>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2433344">
            <a:off x="-626247" y="7986328"/>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3" id="33"/>
          <p:cNvSpPr/>
          <p:nvPr/>
        </p:nvSpPr>
        <p:spPr>
          <a:xfrm flipH="false" flipV="false" rot="323603">
            <a:off x="16904175" y="6172657"/>
            <a:ext cx="710251" cy="892756"/>
          </a:xfrm>
          <a:custGeom>
            <a:avLst/>
            <a:gdLst/>
            <a:ahLst/>
            <a:cxnLst/>
            <a:rect r="r" b="b" t="t" l="l"/>
            <a:pathLst>
              <a:path h="892756" w="710251">
                <a:moveTo>
                  <a:pt x="0" y="0"/>
                </a:moveTo>
                <a:lnTo>
                  <a:pt x="710250" y="0"/>
                </a:lnTo>
                <a:lnTo>
                  <a:pt x="710250"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4" id="34"/>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5" id="35"/>
          <p:cNvSpPr txBox="true"/>
          <p:nvPr/>
        </p:nvSpPr>
        <p:spPr>
          <a:xfrm rot="0">
            <a:off x="1614616" y="4459026"/>
            <a:ext cx="15071396" cy="837565"/>
          </a:xfrm>
          <a:prstGeom prst="rect">
            <a:avLst/>
          </a:prstGeom>
        </p:spPr>
        <p:txBody>
          <a:bodyPr anchor="t" rtlCol="false" tIns="0" lIns="0" bIns="0" rIns="0">
            <a:spAutoFit/>
          </a:bodyPr>
          <a:lstStyle/>
          <a:p>
            <a:endParaRPr/>
          </a:p>
        </p:txBody>
      </p:sp>
      <p:sp>
        <p:nvSpPr>
          <p:cNvPr name="TextBox 36" id="36"/>
          <p:cNvSpPr txBox="true"/>
          <p:nvPr/>
        </p:nvSpPr>
        <p:spPr>
          <a:xfrm rot="0">
            <a:off x="3088276" y="2258429"/>
            <a:ext cx="11062448" cy="2381885"/>
          </a:xfrm>
          <a:prstGeom prst="rect">
            <a:avLst/>
          </a:prstGeom>
        </p:spPr>
        <p:txBody>
          <a:bodyPr anchor="t" rtlCol="false" tIns="0" lIns="0" bIns="0" rIns="0">
            <a:spAutoFit/>
          </a:bodyPr>
          <a:lstStyle/>
          <a:p>
            <a:endParaRPr/>
          </a:p>
        </p:txBody>
      </p:sp>
      <p:sp>
        <p:nvSpPr>
          <p:cNvPr name="TextBox 37" id="37"/>
          <p:cNvSpPr txBox="true"/>
          <p:nvPr/>
        </p:nvSpPr>
        <p:spPr>
          <a:xfrm rot="0">
            <a:off x="1594014" y="5115616"/>
            <a:ext cx="15071396" cy="837565"/>
          </a:xfrm>
          <a:prstGeom prst="rect">
            <a:avLst/>
          </a:prstGeom>
        </p:spPr>
        <p:txBody>
          <a:bodyPr anchor="t" rtlCol="false" tIns="0" lIns="0" bIns="0" rIns="0">
            <a:spAutoFit/>
          </a:bodyPr>
          <a:lstStyle/>
          <a:p>
            <a:endParaRPr/>
          </a:p>
        </p:txBody>
      </p:sp>
      <p:sp>
        <p:nvSpPr>
          <p:cNvPr name="TextBox 38" id="38"/>
          <p:cNvSpPr txBox="true"/>
          <p:nvPr/>
        </p:nvSpPr>
        <p:spPr>
          <a:xfrm rot="0">
            <a:off x="1594014" y="5905556"/>
            <a:ext cx="15071396" cy="837565"/>
          </a:xfrm>
          <a:prstGeom prst="rect">
            <a:avLst/>
          </a:prstGeom>
        </p:spPr>
        <p:txBody>
          <a:bodyPr anchor="t" rtlCol="false" tIns="0" lIns="0" bIns="0" rIns="0">
            <a:spAutoFit/>
          </a:bodyPr>
          <a:lstStyle/>
          <a:p>
            <a:endParaRPr/>
          </a:p>
        </p:txBody>
      </p:sp>
      <p:sp>
        <p:nvSpPr>
          <p:cNvPr name="TextBox 39" id="39"/>
          <p:cNvSpPr txBox="true"/>
          <p:nvPr/>
        </p:nvSpPr>
        <p:spPr>
          <a:xfrm rot="0">
            <a:off x="1614616" y="6695496"/>
            <a:ext cx="15071396" cy="837565"/>
          </a:xfrm>
          <a:prstGeom prst="rect">
            <a:avLst/>
          </a:prstGeom>
        </p:spPr>
        <p:txBody>
          <a:bodyPr anchor="t" rtlCol="false" tIns="0" lIns="0" bIns="0" rIns="0">
            <a:spAutoFit/>
          </a:bodyPr>
          <a:lstStyle/>
          <a:p>
            <a:endParaRPr/>
          </a:p>
        </p:txBody>
      </p:sp>
      <p:sp>
        <p:nvSpPr>
          <p:cNvPr name="TextBox 40" id="40"/>
          <p:cNvSpPr txBox="true"/>
          <p:nvPr/>
        </p:nvSpPr>
        <p:spPr>
          <a:xfrm rot="0">
            <a:off x="1594014" y="7485511"/>
            <a:ext cx="15071396" cy="837565"/>
          </a:xfrm>
          <a:prstGeom prst="rect">
            <a:avLst/>
          </a:prstGeom>
        </p:spPr>
        <p:txBody>
          <a:bodyPr anchor="t" rtlCol="false" tIns="0" lIns="0" bIns="0" rIns="0">
            <a:spAutoFit/>
          </a:bodyPr>
          <a:lstStyle/>
          <a:p>
            <a:endParaRPr/>
          </a:p>
        </p:txBody>
      </p:sp>
      <p:sp>
        <p:nvSpPr>
          <p:cNvPr id="41" name="Rectangle 40"/>
          <p:cNvSpPr/>
          <p:nvPr/>
        </p:nvSpPr>
        <p:spPr>
          <a:xfrm>
            <a:off x="914400" y="1028700"/>
            <a:ext cx="16459200" cy="8229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88276" y="2258429"/>
            <a:ext cx="11062448" cy="2381885"/>
          </a:xfrm>
          <a:prstGeom prst="rect">
            <a:avLst/>
          </a:prstGeom>
          <a:noFill/>
        </p:spPr>
        <p:txBody>
          <a:bodyPr wrap="square">
            <a:spAutoFit/>
          </a:bodyPr>
          <a:lstStyle/>
          <a:p>
            <a:pPr algn="l"/>
            <a:r>
              <a:rPr sz="3600" b="1">
                <a:solidFill>
                  <a:srgbClr val="000000"/>
                </a:solidFill>
                <a:latin typeface="Segoe UI Black"/>
              </a:rPr>
              <a:t>Generative AI: Unlocking a 10x Productivity Paradigm</a:t>
            </a:r>
          </a:p>
        </p:txBody>
      </p:sp>
      <p:cxnSp>
        <p:nvCxnSpPr>
          <p:cNvPr id="43" name="Connector 42"/>
          <p:cNvCxnSpPr/>
          <p:nvPr/>
        </p:nvCxnSpPr>
        <p:spPr>
          <a:xfrm>
            <a:off x="3088276" y="3925748"/>
            <a:ext cx="3318734"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614616" y="4459026"/>
            <a:ext cx="15071396" cy="837565"/>
          </a:xfrm>
          <a:prstGeom prst="rect">
            <a:avLst/>
          </a:prstGeom>
          <a:noFill/>
        </p:spPr>
        <p:txBody>
          <a:bodyPr wrap="square">
            <a:spAutoFit/>
          </a:bodyPr>
          <a:lstStyle/>
          <a:p>
            <a:pPr algn="l">
              <a:spcAft>
                <a:spcPts val="2800"/>
              </a:spcAft>
            </a:pPr>
            <a:r>
              <a:rPr sz="1700" b="0">
                <a:solidFill>
                  <a:srgbClr val="000000"/>
                </a:solidFill>
                <a:latin typeface="Segoe UI"/>
              </a:rPr>
              <a:t>Consumer Velocity: ChatGPT reached 100 million active users in 60 days, the fastest technology adoption curve in history.</a:t>
            </a:r>
          </a:p>
          <a:p>
            <a:pPr algn="l">
              <a:spcAft>
                <a:spcPts val="2800"/>
              </a:spcAft>
            </a:pPr>
            <a:r>
              <a:rPr sz="1700" b="0">
                <a:solidFill>
                  <a:srgbClr val="000000"/>
                </a:solidFill>
                <a:latin typeface="Segoe UI"/>
              </a:rPr>
              <a:t>Workflow Transformation: Generative models can automate or optimize tasks that currently consume 70% of the average employee's work week.</a:t>
            </a:r>
          </a:p>
          <a:p>
            <a:pPr algn="l">
              <a:spcAft>
                <a:spcPts val="2800"/>
              </a:spcAft>
            </a:pPr>
            <a:r>
              <a:rPr sz="1700" b="0">
                <a:solidFill>
                  <a:srgbClr val="000000"/>
                </a:solidFill>
                <a:latin typeface="Segoe UI"/>
              </a:rPr>
              <a:t>Developer Velocity: Software engineers leveraging AI coding assistants complete complex architecture tasks 55% faster with fewer syntax errors.</a:t>
            </a:r>
          </a:p>
          <a:p>
            <a:pPr algn="l">
              <a:spcAft>
                <a:spcPts val="2800"/>
              </a:spcAft>
            </a:pPr>
            <a:r>
              <a:rPr sz="1700" b="0">
                <a:solidFill>
                  <a:srgbClr val="000000"/>
                </a:solidFill>
                <a:latin typeface="Segoe UI"/>
              </a:rPr>
              <a:t>The Compute Arms Race: Frontier LLM training costs have skyrocketed from $10M to over $100M as model complexity scales exponentially.</a:t>
            </a:r>
          </a:p>
        </p:txBody>
      </p:sp>
      <p:sp>
        <p:nvSpPr>
          <p:cNvPr id="45" name="TextBox 44"/>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6282144" y="1987117"/>
            <a:ext cx="5461995" cy="1391285"/>
          </a:xfrm>
          <a:prstGeom prst="rect">
            <a:avLst/>
          </a:prstGeom>
        </p:spPr>
        <p:txBody>
          <a:bodyPr anchor="t" rtlCol="false" tIns="0" lIns="0" bIns="0" rIns="0">
            <a:spAutoFit/>
          </a:bodyPr>
          <a:lstStyle/>
          <a:p>
            <a:endParaRPr/>
          </a:p>
        </p:txBody>
      </p:sp>
      <p:sp>
        <p:nvSpPr>
          <p:cNvPr name="TextBox 35" id="35"/>
          <p:cNvSpPr txBox="true"/>
          <p:nvPr/>
        </p:nvSpPr>
        <p:spPr>
          <a:xfrm rot="0">
            <a:off x="3638648" y="3793829"/>
            <a:ext cx="11010705" cy="1349671"/>
          </a:xfrm>
          <a:prstGeom prst="rect">
            <a:avLst/>
          </a:prstGeom>
        </p:spPr>
        <p:txBody>
          <a:bodyPr anchor="t" rtlCol="false" tIns="0" lIns="0" bIns="0" rIns="0">
            <a:spAutoFit/>
          </a:bodyPr>
          <a:lstStyle/>
          <a:p>
            <a:endParaRPr/>
          </a:p>
        </p:txBody>
      </p:sp>
      <p:sp>
        <p:nvSpPr>
          <p:cNvPr id="36" name="TextBox 35"/>
          <p:cNvSpPr txBox="1"/>
          <p:nvPr/>
        </p:nvSpPr>
        <p:spPr>
          <a:xfrm>
            <a:off x="6282144" y="1987117"/>
            <a:ext cx="5461995" cy="1391285"/>
          </a:xfrm>
          <a:prstGeom prst="rect">
            <a:avLst/>
          </a:prstGeom>
          <a:noFill/>
        </p:spPr>
        <p:txBody>
          <a:bodyPr wrap="square">
            <a:spAutoFit/>
          </a:bodyPr>
          <a:lstStyle/>
          <a:p>
            <a:pPr algn="l"/>
            <a:r>
              <a:rPr sz="3400" b="1">
                <a:solidFill>
                  <a:srgbClr val="000000"/>
                </a:solidFill>
                <a:latin typeface="Segoe UI Black"/>
              </a:rPr>
              <a:t>Synergistic Intelligence: Reimagining the Future of Work</a:t>
            </a:r>
          </a:p>
        </p:txBody>
      </p:sp>
      <p:cxnSp>
        <p:nvCxnSpPr>
          <p:cNvPr id="37" name="Connector 36"/>
          <p:cNvCxnSpPr/>
          <p:nvPr/>
        </p:nvCxnSpPr>
        <p:spPr>
          <a:xfrm>
            <a:off x="6282144" y="2961016"/>
            <a:ext cx="1638598"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638648" y="3793829"/>
            <a:ext cx="11010705" cy="1349671"/>
          </a:xfrm>
          <a:prstGeom prst="rect">
            <a:avLst/>
          </a:prstGeom>
          <a:noFill/>
        </p:spPr>
        <p:txBody>
          <a:bodyPr wrap="square">
            <a:spAutoFit/>
          </a:bodyPr>
          <a:lstStyle/>
          <a:p>
            <a:pPr algn="l">
              <a:spcAft>
                <a:spcPts val="2800"/>
              </a:spcAft>
            </a:pPr>
            <a:r>
              <a:rPr sz="1800" b="0">
                <a:solidFill>
                  <a:srgbClr val="000000"/>
                </a:solidFill>
                <a:latin typeface="Segoe UI"/>
              </a:rPr>
              <a:t>Augmentation over Displacement: 60% of roles will be enhanced by AI, focusing human talent on strategy, empathy, and complex problem-solving.</a:t>
            </a:r>
          </a:p>
          <a:p>
            <a:pPr algn="l">
              <a:spcAft>
                <a:spcPts val="2800"/>
              </a:spcAft>
            </a:pPr>
            <a:r>
              <a:rPr sz="1800" b="0">
                <a:solidFill>
                  <a:srgbClr val="000000"/>
                </a:solidFill>
                <a:latin typeface="Segoe UI"/>
              </a:rPr>
              <a:t>Universal Impact: 80% of the modern workforce will see at least 10% of their daily tasks automated by Large Language Models (LLMs).</a:t>
            </a:r>
          </a:p>
        </p:txBody>
      </p:sp>
      <p:pic>
        <p:nvPicPr>
          <p:cNvPr id="39" name="Picture 38" descr="chart_5.png"/>
          <p:cNvPicPr>
            <a:picLocks noChangeAspect="1"/>
          </p:cNvPicPr>
          <p:nvPr/>
        </p:nvPicPr>
        <p:blipFill>
          <a:blip r:embed="rId14"/>
          <a:stretch>
            <a:fillRect/>
          </a:stretch>
        </p:blipFill>
        <p:spPr>
          <a:xfrm>
            <a:off x="9144000" y="1234439"/>
            <a:ext cx="8412480" cy="8023860"/>
          </a:xfrm>
          <a:prstGeom prst="rect">
            <a:avLst/>
          </a:prstGeom>
        </p:spPr>
      </p:pic>
      <p:sp>
        <p:nvSpPr>
          <p:cNvPr id="40" name="TextBox 3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10014252" y="8516735"/>
            <a:ext cx="3269688" cy="332914"/>
          </a:xfrm>
          <a:custGeom>
            <a:avLst/>
            <a:gdLst/>
            <a:ahLst/>
            <a:cxnLst/>
            <a:rect r="r" b="b" t="t" l="l"/>
            <a:pathLst>
              <a:path h="332914" w="3269688">
                <a:moveTo>
                  <a:pt x="0" y="0"/>
                </a:moveTo>
                <a:lnTo>
                  <a:pt x="3269687" y="0"/>
                </a:lnTo>
                <a:lnTo>
                  <a:pt x="3269687" y="332913"/>
                </a:lnTo>
                <a:lnTo>
                  <a:pt x="0" y="33291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5" id="35"/>
          <p:cNvSpPr/>
          <p:nvPr/>
        </p:nvSpPr>
        <p:spPr>
          <a:xfrm flipH="false" flipV="false" rot="5400000">
            <a:off x="7304006" y="2265796"/>
            <a:ext cx="4970626" cy="7531251"/>
          </a:xfrm>
          <a:custGeom>
            <a:avLst/>
            <a:gdLst/>
            <a:ahLst/>
            <a:cxnLst/>
            <a:rect r="r" b="b" t="t" l="l"/>
            <a:pathLst>
              <a:path h="7531251" w="4970626">
                <a:moveTo>
                  <a:pt x="0" y="0"/>
                </a:moveTo>
                <a:lnTo>
                  <a:pt x="4970626" y="0"/>
                </a:lnTo>
                <a:lnTo>
                  <a:pt x="4970626" y="7531252"/>
                </a:lnTo>
                <a:lnTo>
                  <a:pt x="0" y="753125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6" id="36"/>
          <p:cNvSpPr txBox="true"/>
          <p:nvPr/>
        </p:nvSpPr>
        <p:spPr>
          <a:xfrm rot="0">
            <a:off x="6940374" y="4050053"/>
            <a:ext cx="5697890" cy="3534113"/>
          </a:xfrm>
          <a:prstGeom prst="rect">
            <a:avLst/>
          </a:prstGeom>
        </p:spPr>
        <p:txBody>
          <a:bodyPr anchor="t" rtlCol="false" tIns="0" lIns="0" bIns="0" rIns="0">
            <a:spAutoFit/>
          </a:bodyPr>
          <a:lstStyle/>
          <a:p>
            <a:endParaRPr/>
          </a:p>
        </p:txBody>
      </p:sp>
      <p:sp>
        <p:nvSpPr>
          <p:cNvPr name="TextBox 37" id="37"/>
          <p:cNvSpPr txBox="true"/>
          <p:nvPr/>
        </p:nvSpPr>
        <p:spPr>
          <a:xfrm rot="0">
            <a:off x="4471020" y="1475373"/>
            <a:ext cx="9577968" cy="1391285"/>
          </a:xfrm>
          <a:prstGeom prst="rect">
            <a:avLst/>
          </a:prstGeom>
        </p:spPr>
        <p:txBody>
          <a:bodyPr anchor="t" rtlCol="false" tIns="0" lIns="0" bIns="0" rIns="0">
            <a:spAutoFit/>
          </a:bodyPr>
          <a:lstStyle/>
          <a:p>
            <a:endParaRPr/>
          </a:p>
        </p:txBody>
      </p:sp>
      <p:sp>
        <p:nvSpPr>
          <p:cNvPr id="38" name="TextBox 37"/>
          <p:cNvSpPr txBox="1"/>
          <p:nvPr/>
        </p:nvSpPr>
        <p:spPr>
          <a:xfrm>
            <a:off x="4471020" y="1475373"/>
            <a:ext cx="9577968" cy="1391285"/>
          </a:xfrm>
          <a:prstGeom prst="rect">
            <a:avLst/>
          </a:prstGeom>
          <a:noFill/>
        </p:spPr>
        <p:txBody>
          <a:bodyPr wrap="square">
            <a:spAutoFit/>
          </a:bodyPr>
          <a:lstStyle/>
          <a:p>
            <a:pPr algn="l"/>
            <a:r>
              <a:rPr sz="3600" b="1">
                <a:solidFill>
                  <a:srgbClr val="000000"/>
                </a:solidFill>
                <a:latin typeface="Segoe UI Black"/>
              </a:rPr>
              <a:t>Silicon Scarcity: The Infrastructure Powering the AI Boom</a:t>
            </a:r>
          </a:p>
        </p:txBody>
      </p:sp>
      <p:cxnSp>
        <p:nvCxnSpPr>
          <p:cNvPr id="39" name="Connector 38"/>
          <p:cNvCxnSpPr/>
          <p:nvPr/>
        </p:nvCxnSpPr>
        <p:spPr>
          <a:xfrm>
            <a:off x="4471020" y="2449272"/>
            <a:ext cx="287339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940374" y="4050053"/>
            <a:ext cx="5697890" cy="3534113"/>
          </a:xfrm>
          <a:prstGeom prst="rect">
            <a:avLst/>
          </a:prstGeom>
          <a:noFill/>
        </p:spPr>
        <p:txBody>
          <a:bodyPr wrap="square">
            <a:spAutoFit/>
          </a:bodyPr>
          <a:lstStyle/>
          <a:p>
            <a:pPr algn="l">
              <a:spcAft>
                <a:spcPts val="2800"/>
              </a:spcAft>
            </a:pPr>
            <a:r>
              <a:rPr sz="1700" b="0">
                <a:solidFill>
                  <a:srgbClr val="000000"/>
                </a:solidFill>
                <a:latin typeface="Segoe UI"/>
              </a:rPr>
              <a:t>Compute Deficit: Demand for high-performance AI GPUs currently exceeds global production capacity by a factor of 3x.</a:t>
            </a:r>
          </a:p>
          <a:p>
            <a:pPr algn="l">
              <a:spcAft>
                <a:spcPts val="2800"/>
              </a:spcAft>
            </a:pPr>
            <a:r>
              <a:rPr sz="1700" b="0">
                <a:solidFill>
                  <a:srgbClr val="000000"/>
                </a:solidFill>
                <a:latin typeface="Segoe UI"/>
              </a:rPr>
              <a:t>Processing Intensity: Training the next generation of multimodal models requires sustained compute power exceeding 10^25 FLOPs.</a:t>
            </a:r>
          </a:p>
          <a:p>
            <a:pPr algn="l">
              <a:spcAft>
                <a:spcPts val="2800"/>
              </a:spcAft>
            </a:pPr>
            <a:r>
              <a:rPr sz="1700" b="0">
                <a:solidFill>
                  <a:srgbClr val="000000"/>
                </a:solidFill>
                <a:latin typeface="Segoe UI"/>
              </a:rPr>
              <a:t>The Energy Challenge: AI data center power requirements are set to double by 2026, driving a massive surge in renewable energy demand.</a:t>
            </a:r>
          </a:p>
          <a:p>
            <a:pPr algn="l">
              <a:spcAft>
                <a:spcPts val="2800"/>
              </a:spcAft>
            </a:pPr>
            <a:r>
              <a:rPr sz="1700" b="0">
                <a:solidFill>
                  <a:srgbClr val="000000"/>
                </a:solidFill>
                <a:latin typeface="Segoe UI"/>
              </a:rPr>
              <a:t>Hardware Diversification: The market for custom AI-specific ASICs is growing at 20% annually to bypass traditional hardware bottlenecks.</a:t>
            </a:r>
          </a:p>
        </p:txBody>
      </p:sp>
      <p:sp>
        <p:nvSpPr>
          <p:cNvPr id="41" name="TextBox 40"/>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4" id="34"/>
          <p:cNvSpPr txBox="true"/>
          <p:nvPr/>
        </p:nvSpPr>
        <p:spPr>
          <a:xfrm rot="0">
            <a:off x="6237945" y="1399173"/>
            <a:ext cx="6085186" cy="1590040"/>
          </a:xfrm>
          <a:prstGeom prst="rect">
            <a:avLst/>
          </a:prstGeom>
        </p:spPr>
        <p:txBody>
          <a:bodyPr anchor="t" rtlCol="false" tIns="0" lIns="0" bIns="0" rIns="0">
            <a:spAutoFit/>
          </a:bodyPr>
          <a:lstStyle/>
          <a:p>
            <a:endParaRPr/>
          </a:p>
        </p:txBody>
      </p:sp>
      <p:sp>
        <p:nvSpPr>
          <p:cNvPr name="Freeform 35" id="35"/>
          <p:cNvSpPr/>
          <p:nvPr/>
        </p:nvSpPr>
        <p:spPr>
          <a:xfrm flipH="false" flipV="false" rot="0">
            <a:off x="14276600" y="1511266"/>
            <a:ext cx="440199" cy="420779"/>
          </a:xfrm>
          <a:custGeom>
            <a:avLst/>
            <a:gdLst/>
            <a:ahLst/>
            <a:cxnLst/>
            <a:rect r="r" b="b" t="t" l="l"/>
            <a:pathLst>
              <a:path h="420779" w="440199">
                <a:moveTo>
                  <a:pt x="0" y="0"/>
                </a:moveTo>
                <a:lnTo>
                  <a:pt x="440199" y="0"/>
                </a:lnTo>
                <a:lnTo>
                  <a:pt x="440199" y="420778"/>
                </a:lnTo>
                <a:lnTo>
                  <a:pt x="0" y="420778"/>
                </a:lnTo>
                <a:lnTo>
                  <a:pt x="0" y="0"/>
                </a:lnTo>
                <a:close/>
              </a:path>
            </a:pathLst>
          </a:custGeom>
          <a:blipFill>
            <a:blip r:embed="rId14">
              <a:extLst>
                <a:ext uri="{96DAC541-7B7A-43D3-8B79-37D633B846F1}">
                  <asvg:svgBlip xmlns:asvg="http://schemas.microsoft.com/office/drawing/2016/SVG/main" r:embed="rId15"/>
                </a:ext>
              </a:extLst>
            </a:blip>
            <a:stretch>
              <a:fillRect l="-27746" t="-175875" r="-135957" b="0"/>
            </a:stretch>
          </a:blipFill>
        </p:spPr>
      </p:sp>
      <p:sp>
        <p:nvSpPr>
          <p:cNvPr name="TextBox 36" id="36"/>
          <p:cNvSpPr txBox="true"/>
          <p:nvPr/>
        </p:nvSpPr>
        <p:spPr>
          <a:xfrm rot="0">
            <a:off x="5026896" y="3273076"/>
            <a:ext cx="8257044" cy="930974"/>
          </a:xfrm>
          <a:prstGeom prst="rect">
            <a:avLst/>
          </a:prstGeom>
        </p:spPr>
        <p:txBody>
          <a:bodyPr anchor="t" rtlCol="false" tIns="0" lIns="0" bIns="0" rIns="0">
            <a:spAutoFit/>
          </a:bodyPr>
          <a:lstStyle/>
          <a:p>
            <a:endParaRPr/>
          </a:p>
        </p:txBody>
      </p:sp>
      <p:sp>
        <p:nvSpPr>
          <p:cNvPr name="Freeform 37" id="37"/>
          <p:cNvSpPr/>
          <p:nvPr/>
        </p:nvSpPr>
        <p:spPr>
          <a:xfrm flipH="false" flipV="false" rot="0">
            <a:off x="17072059" y="3283704"/>
            <a:ext cx="440199" cy="420779"/>
          </a:xfrm>
          <a:custGeom>
            <a:avLst/>
            <a:gdLst/>
            <a:ahLst/>
            <a:cxnLst/>
            <a:rect r="r" b="b" t="t" l="l"/>
            <a:pathLst>
              <a:path h="420779" w="440199">
                <a:moveTo>
                  <a:pt x="0" y="0"/>
                </a:moveTo>
                <a:lnTo>
                  <a:pt x="440199" y="0"/>
                </a:lnTo>
                <a:lnTo>
                  <a:pt x="440199" y="420778"/>
                </a:lnTo>
                <a:lnTo>
                  <a:pt x="0" y="420778"/>
                </a:lnTo>
                <a:lnTo>
                  <a:pt x="0" y="0"/>
                </a:lnTo>
                <a:close/>
              </a:path>
            </a:pathLst>
          </a:custGeom>
          <a:blipFill>
            <a:blip r:embed="rId14">
              <a:extLst>
                <a:ext uri="{96DAC541-7B7A-43D3-8B79-37D633B846F1}">
                  <asvg:svgBlip xmlns:asvg="http://schemas.microsoft.com/office/drawing/2016/SVG/main" r:embed="rId15"/>
                </a:ext>
              </a:extLst>
            </a:blip>
            <a:stretch>
              <a:fillRect l="-27746" t="-175875" r="-135957" b="0"/>
            </a:stretch>
          </a:blipFill>
        </p:spPr>
      </p:sp>
      <p:sp>
        <p:nvSpPr>
          <p:cNvPr name="Freeform 38" id="38"/>
          <p:cNvSpPr/>
          <p:nvPr/>
        </p:nvSpPr>
        <p:spPr>
          <a:xfrm flipH="false" flipV="false" rot="0">
            <a:off x="17259300" y="5803390"/>
            <a:ext cx="440199" cy="420779"/>
          </a:xfrm>
          <a:custGeom>
            <a:avLst/>
            <a:gdLst/>
            <a:ahLst/>
            <a:cxnLst/>
            <a:rect r="r" b="b" t="t" l="l"/>
            <a:pathLst>
              <a:path h="420779" w="440199">
                <a:moveTo>
                  <a:pt x="0" y="0"/>
                </a:moveTo>
                <a:lnTo>
                  <a:pt x="440199" y="0"/>
                </a:lnTo>
                <a:lnTo>
                  <a:pt x="440199" y="420779"/>
                </a:lnTo>
                <a:lnTo>
                  <a:pt x="0" y="420779"/>
                </a:lnTo>
                <a:lnTo>
                  <a:pt x="0" y="0"/>
                </a:lnTo>
                <a:close/>
              </a:path>
            </a:pathLst>
          </a:custGeom>
          <a:blipFill>
            <a:blip r:embed="rId14">
              <a:extLst>
                <a:ext uri="{96DAC541-7B7A-43D3-8B79-37D633B846F1}">
                  <asvg:svgBlip xmlns:asvg="http://schemas.microsoft.com/office/drawing/2016/SVG/main" r:embed="rId15"/>
                </a:ext>
              </a:extLst>
            </a:blip>
            <a:stretch>
              <a:fillRect l="-27746" t="-175875" r="-135957" b="0"/>
            </a:stretch>
          </a:blipFill>
        </p:spPr>
      </p:sp>
      <p:sp>
        <p:nvSpPr>
          <p:cNvPr name="Freeform 39" id="39"/>
          <p:cNvSpPr/>
          <p:nvPr/>
        </p:nvSpPr>
        <p:spPr>
          <a:xfrm flipH="false" flipV="false" rot="0">
            <a:off x="14496700" y="8255536"/>
            <a:ext cx="440199" cy="420779"/>
          </a:xfrm>
          <a:custGeom>
            <a:avLst/>
            <a:gdLst/>
            <a:ahLst/>
            <a:cxnLst/>
            <a:rect r="r" b="b" t="t" l="l"/>
            <a:pathLst>
              <a:path h="420779" w="440199">
                <a:moveTo>
                  <a:pt x="0" y="0"/>
                </a:moveTo>
                <a:lnTo>
                  <a:pt x="440199" y="0"/>
                </a:lnTo>
                <a:lnTo>
                  <a:pt x="440199" y="420778"/>
                </a:lnTo>
                <a:lnTo>
                  <a:pt x="0" y="420778"/>
                </a:lnTo>
                <a:lnTo>
                  <a:pt x="0" y="0"/>
                </a:lnTo>
                <a:close/>
              </a:path>
            </a:pathLst>
          </a:custGeom>
          <a:blipFill>
            <a:blip r:embed="rId14">
              <a:extLst>
                <a:ext uri="{96DAC541-7B7A-43D3-8B79-37D633B846F1}">
                  <asvg:svgBlip xmlns:asvg="http://schemas.microsoft.com/office/drawing/2016/SVG/main" r:embed="rId15"/>
                </a:ext>
              </a:extLst>
            </a:blip>
            <a:stretch>
              <a:fillRect l="-27746" t="-175875" r="-135957" b="0"/>
            </a:stretch>
          </a:blipFill>
        </p:spPr>
      </p:sp>
      <p:sp>
        <p:nvSpPr>
          <p:cNvPr name="TextBox 40" id="40"/>
          <p:cNvSpPr txBox="true"/>
          <p:nvPr/>
        </p:nvSpPr>
        <p:spPr>
          <a:xfrm rot="0">
            <a:off x="5026896" y="4043090"/>
            <a:ext cx="8257044" cy="930974"/>
          </a:xfrm>
          <a:prstGeom prst="rect">
            <a:avLst/>
          </a:prstGeom>
        </p:spPr>
        <p:txBody>
          <a:bodyPr anchor="t" rtlCol="false" tIns="0" lIns="0" bIns="0" rIns="0">
            <a:spAutoFit/>
          </a:bodyPr>
          <a:lstStyle/>
          <a:p>
            <a:endParaRPr/>
          </a:p>
        </p:txBody>
      </p:sp>
      <p:sp>
        <p:nvSpPr>
          <p:cNvPr name="TextBox 41" id="41"/>
          <p:cNvSpPr txBox="true"/>
          <p:nvPr/>
        </p:nvSpPr>
        <p:spPr>
          <a:xfrm rot="0">
            <a:off x="5026896" y="5757444"/>
            <a:ext cx="8257044" cy="930974"/>
          </a:xfrm>
          <a:prstGeom prst="rect">
            <a:avLst/>
          </a:prstGeom>
        </p:spPr>
        <p:txBody>
          <a:bodyPr anchor="t" rtlCol="false" tIns="0" lIns="0" bIns="0" rIns="0">
            <a:spAutoFit/>
          </a:bodyPr>
          <a:lstStyle/>
          <a:p>
            <a:endParaRPr/>
          </a:p>
        </p:txBody>
      </p:sp>
      <p:sp>
        <p:nvSpPr>
          <p:cNvPr name="TextBox 42" id="42"/>
          <p:cNvSpPr txBox="true"/>
          <p:nvPr/>
        </p:nvSpPr>
        <p:spPr>
          <a:xfrm rot="0">
            <a:off x="5026896" y="4957295"/>
            <a:ext cx="8257044" cy="930974"/>
          </a:xfrm>
          <a:prstGeom prst="rect">
            <a:avLst/>
          </a:prstGeom>
        </p:spPr>
        <p:txBody>
          <a:bodyPr anchor="t" rtlCol="false" tIns="0" lIns="0" bIns="0" rIns="0">
            <a:spAutoFit/>
          </a:bodyPr>
          <a:lstStyle/>
          <a:p>
            <a:endParaRPr/>
          </a:p>
        </p:txBody>
      </p:sp>
      <p:sp>
        <p:nvSpPr>
          <p:cNvPr name="TextBox 43" id="43"/>
          <p:cNvSpPr txBox="true"/>
          <p:nvPr/>
        </p:nvSpPr>
        <p:spPr>
          <a:xfrm rot="0">
            <a:off x="5026896" y="6555068"/>
            <a:ext cx="8257044" cy="930974"/>
          </a:xfrm>
          <a:prstGeom prst="rect">
            <a:avLst/>
          </a:prstGeom>
        </p:spPr>
        <p:txBody>
          <a:bodyPr anchor="t" rtlCol="false" tIns="0" lIns="0" bIns="0" rIns="0">
            <a:spAutoFit/>
          </a:bodyPr>
          <a:lstStyle/>
          <a:p>
            <a:endParaRPr/>
          </a:p>
        </p:txBody>
      </p:sp>
      <p:sp>
        <p:nvSpPr>
          <p:cNvPr id="44" name="TextBox 43"/>
          <p:cNvSpPr txBox="1"/>
          <p:nvPr/>
        </p:nvSpPr>
        <p:spPr>
          <a:xfrm>
            <a:off x="6237945" y="1399173"/>
            <a:ext cx="6085186" cy="1590040"/>
          </a:xfrm>
          <a:prstGeom prst="rect">
            <a:avLst/>
          </a:prstGeom>
          <a:noFill/>
        </p:spPr>
        <p:txBody>
          <a:bodyPr wrap="square">
            <a:spAutoFit/>
          </a:bodyPr>
          <a:lstStyle/>
          <a:p>
            <a:pPr algn="l"/>
            <a:r>
              <a:rPr sz="3600" b="1">
                <a:solidFill>
                  <a:srgbClr val="000000"/>
                </a:solidFill>
                <a:latin typeface="Segoe UI Black"/>
              </a:rPr>
              <a:t>Navigating the AI Frontier: Governance, Privacy, and Trust</a:t>
            </a:r>
          </a:p>
        </p:txBody>
      </p:sp>
      <p:cxnSp>
        <p:nvCxnSpPr>
          <p:cNvPr id="45" name="Connector 44"/>
          <p:cNvCxnSpPr/>
          <p:nvPr/>
        </p:nvCxnSpPr>
        <p:spPr>
          <a:xfrm>
            <a:off x="6237945" y="2512201"/>
            <a:ext cx="1825555"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026896" y="3273076"/>
            <a:ext cx="8257044" cy="930974"/>
          </a:xfrm>
          <a:prstGeom prst="rect">
            <a:avLst/>
          </a:prstGeom>
          <a:noFill/>
        </p:spPr>
        <p:txBody>
          <a:bodyPr wrap="square">
            <a:spAutoFit/>
          </a:bodyPr>
          <a:lstStyle/>
          <a:p>
            <a:pPr algn="l">
              <a:spcAft>
                <a:spcPts val="2800"/>
              </a:spcAft>
            </a:pPr>
            <a:r>
              <a:rPr sz="1700" b="0">
                <a:solidFill>
                  <a:srgbClr val="000000"/>
                </a:solidFill>
                <a:latin typeface="Segoe UI"/>
              </a:rPr>
              <a:t>Security Imperative: 55% of leaders identify data leakage and adversarial AI attacks as the primary barriers to deployment.</a:t>
            </a:r>
          </a:p>
          <a:p>
            <a:pPr algn="l">
              <a:spcAft>
                <a:spcPts val="2800"/>
              </a:spcAft>
            </a:pPr>
            <a:r>
              <a:rPr sz="1700" b="0">
                <a:solidFill>
                  <a:srgbClr val="000000"/>
                </a:solidFill>
                <a:latin typeface="Segoe UI"/>
              </a:rPr>
              <a:t>The Accuracy Gap: Hallucination rates in specialized technical domains persist at 3-5%, necessitating 'Human-in-the-Loop' verification.</a:t>
            </a:r>
          </a:p>
          <a:p>
            <a:pPr algn="l">
              <a:spcAft>
                <a:spcPts val="2800"/>
              </a:spcAft>
            </a:pPr>
            <a:r>
              <a:rPr sz="1700" b="0">
                <a:solidFill>
                  <a:srgbClr val="000000"/>
                </a:solidFill>
                <a:latin typeface="Segoe UI"/>
              </a:rPr>
              <a:t>Intellectual Property: A 400% increase in AI-related copyright litigation is forcing a global re-evaluation of data provenance and fair use.</a:t>
            </a:r>
          </a:p>
          <a:p>
            <a:pPr algn="l">
              <a:spcAft>
                <a:spcPts val="2800"/>
              </a:spcAft>
            </a:pPr>
            <a:r>
              <a:rPr sz="1700" b="0">
                <a:solidFill>
                  <a:srgbClr val="000000"/>
                </a:solidFill>
                <a:latin typeface="Segoe UI"/>
              </a:rPr>
              <a:t>Talent Scarcity: The lack of specialized AI engineering and prompt engineering talent remains the #1 inhibitor to enterprise scaling.</a:t>
            </a:r>
          </a:p>
        </p:txBody>
      </p:sp>
      <p:sp>
        <p:nvSpPr>
          <p:cNvPr id="47" name="TextBox 46"/>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AE4"/>
        </a:solidFill>
      </p:bgPr>
    </p:bg>
    <p:spTree>
      <p:nvGrpSpPr>
        <p:cNvPr id="1" name=""/>
        <p:cNvGrpSpPr/>
        <p:nvPr/>
      </p:nvGrpSpPr>
      <p:grpSpPr>
        <a:xfrm>
          <a:off x="0" y="0"/>
          <a:ext cx="0" cy="0"/>
          <a:chOff x="0" y="0"/>
          <a:chExt cx="0" cy="0"/>
        </a:xfrm>
      </p:grpSpPr>
      <p:sp>
        <p:nvSpPr>
          <p:cNvPr name="Freeform 2" id="2"/>
          <p:cNvSpPr/>
          <p:nvPr/>
        </p:nvSpPr>
        <p:spPr>
          <a:xfrm flipH="false" flipV="false" rot="0">
            <a:off x="1262541"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71622"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277781" y="584106"/>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283939" y="584106"/>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62541"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271622"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277781" y="2954222"/>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83939" y="2954222"/>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262541"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271622"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9277781" y="5301979"/>
            <a:ext cx="3741519" cy="2053159"/>
          </a:xfrm>
          <a:custGeom>
            <a:avLst/>
            <a:gdLst/>
            <a:ahLst/>
            <a:cxnLst/>
            <a:rect r="r" b="b" t="t" l="l"/>
            <a:pathLst>
              <a:path h="2053159" w="3741519">
                <a:moveTo>
                  <a:pt x="0" y="0"/>
                </a:moveTo>
                <a:lnTo>
                  <a:pt x="3741519" y="0"/>
                </a:lnTo>
                <a:lnTo>
                  <a:pt x="3741519"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3283939" y="5301979"/>
            <a:ext cx="3741519" cy="2053159"/>
          </a:xfrm>
          <a:custGeom>
            <a:avLst/>
            <a:gdLst/>
            <a:ahLst/>
            <a:cxnLst/>
            <a:rect r="r" b="b" t="t" l="l"/>
            <a:pathLst>
              <a:path h="2053159" w="3741519">
                <a:moveTo>
                  <a:pt x="0" y="0"/>
                </a:moveTo>
                <a:lnTo>
                  <a:pt x="3741520" y="0"/>
                </a:lnTo>
                <a:lnTo>
                  <a:pt x="3741520"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62541"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5271622"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9277781" y="7649735"/>
            <a:ext cx="3741519" cy="2053159"/>
          </a:xfrm>
          <a:custGeom>
            <a:avLst/>
            <a:gdLst/>
            <a:ahLst/>
            <a:cxnLst/>
            <a:rect r="r" b="b" t="t" l="l"/>
            <a:pathLst>
              <a:path h="2053159" w="3741519">
                <a:moveTo>
                  <a:pt x="0" y="0"/>
                </a:moveTo>
                <a:lnTo>
                  <a:pt x="3741519" y="0"/>
                </a:lnTo>
                <a:lnTo>
                  <a:pt x="3741519"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283939" y="7649735"/>
            <a:ext cx="3741519" cy="2053159"/>
          </a:xfrm>
          <a:custGeom>
            <a:avLst/>
            <a:gdLst/>
            <a:ahLst/>
            <a:cxnLst/>
            <a:rect r="r" b="b" t="t" l="l"/>
            <a:pathLst>
              <a:path h="2053159" w="3741519">
                <a:moveTo>
                  <a:pt x="0" y="0"/>
                </a:moveTo>
                <a:lnTo>
                  <a:pt x="3741520" y="0"/>
                </a:lnTo>
                <a:lnTo>
                  <a:pt x="3741520"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358401"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19" id="19"/>
          <p:cNvSpPr/>
          <p:nvPr/>
        </p:nvSpPr>
        <p:spPr>
          <a:xfrm flipH="false" flipV="false" rot="0">
            <a:off x="358401"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0" id="20"/>
          <p:cNvSpPr/>
          <p:nvPr/>
        </p:nvSpPr>
        <p:spPr>
          <a:xfrm flipH="false" flipV="false" rot="0">
            <a:off x="358401"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1" id="21"/>
          <p:cNvSpPr/>
          <p:nvPr/>
        </p:nvSpPr>
        <p:spPr>
          <a:xfrm flipH="false" flipV="false" rot="0">
            <a:off x="358401"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2" id="22"/>
          <p:cNvSpPr/>
          <p:nvPr/>
        </p:nvSpPr>
        <p:spPr>
          <a:xfrm flipH="false" flipV="false" rot="0">
            <a:off x="17292159" y="584106"/>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3" id="23"/>
          <p:cNvSpPr/>
          <p:nvPr/>
        </p:nvSpPr>
        <p:spPr>
          <a:xfrm flipH="false" flipV="false" rot="0">
            <a:off x="17292159" y="2954222"/>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4" id="24"/>
          <p:cNvSpPr/>
          <p:nvPr/>
        </p:nvSpPr>
        <p:spPr>
          <a:xfrm flipH="false" flipV="false" rot="0">
            <a:off x="17292159" y="5324339"/>
            <a:ext cx="608866" cy="2053159"/>
          </a:xfrm>
          <a:custGeom>
            <a:avLst/>
            <a:gdLst/>
            <a:ahLst/>
            <a:cxnLst/>
            <a:rect r="r" b="b" t="t" l="l"/>
            <a:pathLst>
              <a:path h="2053159" w="608866">
                <a:moveTo>
                  <a:pt x="0" y="0"/>
                </a:moveTo>
                <a:lnTo>
                  <a:pt x="608865" y="0"/>
                </a:lnTo>
                <a:lnTo>
                  <a:pt x="608865" y="2053158"/>
                </a:lnTo>
                <a:lnTo>
                  <a:pt x="0" y="2053158"/>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5" id="25"/>
          <p:cNvSpPr/>
          <p:nvPr/>
        </p:nvSpPr>
        <p:spPr>
          <a:xfrm flipH="false" flipV="false" rot="0">
            <a:off x="17292159" y="7694455"/>
            <a:ext cx="608866" cy="2053159"/>
          </a:xfrm>
          <a:custGeom>
            <a:avLst/>
            <a:gdLst/>
            <a:ahLst/>
            <a:cxnLst/>
            <a:rect r="r" b="b" t="t" l="l"/>
            <a:pathLst>
              <a:path h="2053159" w="608866">
                <a:moveTo>
                  <a:pt x="0" y="0"/>
                </a:moveTo>
                <a:lnTo>
                  <a:pt x="608865" y="0"/>
                </a:lnTo>
                <a:lnTo>
                  <a:pt x="608865" y="2053159"/>
                </a:lnTo>
                <a:lnTo>
                  <a:pt x="0" y="2053159"/>
                </a:lnTo>
                <a:lnTo>
                  <a:pt x="0" y="0"/>
                </a:lnTo>
                <a:close/>
              </a:path>
            </a:pathLst>
          </a:custGeom>
          <a:blipFill>
            <a:blip r:embed="rId2">
              <a:alphaModFix amt="7999"/>
              <a:extLst>
                <a:ext uri="{96DAC541-7B7A-43D3-8B79-37D633B846F1}">
                  <asvg:svgBlip xmlns:asvg="http://schemas.microsoft.com/office/drawing/2016/SVG/main" r:embed="rId3"/>
                </a:ext>
              </a:extLst>
            </a:blip>
            <a:stretch>
              <a:fillRect l="-514506" t="0" r="0" b="0"/>
            </a:stretch>
          </a:blipFill>
        </p:spPr>
      </p:sp>
      <p:sp>
        <p:nvSpPr>
          <p:cNvPr name="Freeform 26" id="26"/>
          <p:cNvSpPr/>
          <p:nvPr/>
        </p:nvSpPr>
        <p:spPr>
          <a:xfrm flipH="false" flipV="false" rot="5260471">
            <a:off x="12980376" y="797252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7" id="27"/>
          <p:cNvSpPr/>
          <p:nvPr/>
        </p:nvSpPr>
        <p:spPr>
          <a:xfrm flipH="false" flipV="true" rot="-1932924">
            <a:off x="8611180" y="8004111"/>
            <a:ext cx="11079087" cy="3545308"/>
          </a:xfrm>
          <a:custGeom>
            <a:avLst/>
            <a:gdLst/>
            <a:ahLst/>
            <a:cxnLst/>
            <a:rect r="r" b="b" t="t" l="l"/>
            <a:pathLst>
              <a:path h="3545308" w="11079087">
                <a:moveTo>
                  <a:pt x="0" y="3545308"/>
                </a:moveTo>
                <a:lnTo>
                  <a:pt x="11079087" y="3545308"/>
                </a:lnTo>
                <a:lnTo>
                  <a:pt x="11079087" y="0"/>
                </a:lnTo>
                <a:lnTo>
                  <a:pt x="0" y="0"/>
                </a:lnTo>
                <a:lnTo>
                  <a:pt x="0" y="3545308"/>
                </a:lnTo>
                <a:close/>
              </a:path>
            </a:pathLst>
          </a:custGeom>
          <a:blipFill>
            <a:blip r:embed="rId5"/>
            <a:stretch>
              <a:fillRect l="0" t="0" r="0" b="0"/>
            </a:stretch>
          </a:blipFill>
        </p:spPr>
      </p:sp>
      <p:sp>
        <p:nvSpPr>
          <p:cNvPr name="Freeform 28" id="28"/>
          <p:cNvSpPr/>
          <p:nvPr/>
        </p:nvSpPr>
        <p:spPr>
          <a:xfrm flipH="false" flipV="false" rot="2906917">
            <a:off x="-1043809" y="-5028585"/>
            <a:ext cx="7200502" cy="8229600"/>
          </a:xfrm>
          <a:custGeom>
            <a:avLst/>
            <a:gdLst/>
            <a:ahLst/>
            <a:cxnLst/>
            <a:rect r="r" b="b" t="t" l="l"/>
            <a:pathLst>
              <a:path h="8229600" w="7200502">
                <a:moveTo>
                  <a:pt x="0" y="0"/>
                </a:moveTo>
                <a:lnTo>
                  <a:pt x="7200502" y="0"/>
                </a:lnTo>
                <a:lnTo>
                  <a:pt x="7200502" y="8229600"/>
                </a:lnTo>
                <a:lnTo>
                  <a:pt x="0" y="8229600"/>
                </a:lnTo>
                <a:lnTo>
                  <a:pt x="0" y="0"/>
                </a:lnTo>
                <a:close/>
              </a:path>
            </a:pathLst>
          </a:custGeom>
          <a:blipFill>
            <a:blip r:embed="rId4"/>
            <a:stretch>
              <a:fillRect l="0" t="0" r="0" b="0"/>
            </a:stretch>
          </a:blipFill>
        </p:spPr>
      </p:sp>
      <p:sp>
        <p:nvSpPr>
          <p:cNvPr name="Freeform 29" id="29"/>
          <p:cNvSpPr/>
          <p:nvPr/>
        </p:nvSpPr>
        <p:spPr>
          <a:xfrm flipH="false" flipV="false" rot="0">
            <a:off x="-1935087" y="-743954"/>
            <a:ext cx="11079087" cy="3545308"/>
          </a:xfrm>
          <a:custGeom>
            <a:avLst/>
            <a:gdLst/>
            <a:ahLst/>
            <a:cxnLst/>
            <a:rect r="r" b="b" t="t" l="l"/>
            <a:pathLst>
              <a:path h="3545308" w="11079087">
                <a:moveTo>
                  <a:pt x="0" y="0"/>
                </a:moveTo>
                <a:lnTo>
                  <a:pt x="11079087" y="0"/>
                </a:lnTo>
                <a:lnTo>
                  <a:pt x="11079087" y="3545308"/>
                </a:lnTo>
                <a:lnTo>
                  <a:pt x="0" y="3545308"/>
                </a:lnTo>
                <a:lnTo>
                  <a:pt x="0" y="0"/>
                </a:lnTo>
                <a:close/>
              </a:path>
            </a:pathLst>
          </a:custGeom>
          <a:blipFill>
            <a:blip r:embed="rId5"/>
            <a:stretch>
              <a:fillRect l="0" t="0" r="0" b="0"/>
            </a:stretch>
          </a:blipFill>
        </p:spPr>
      </p:sp>
      <p:sp>
        <p:nvSpPr>
          <p:cNvPr name="Freeform 30" id="30"/>
          <p:cNvSpPr/>
          <p:nvPr/>
        </p:nvSpPr>
        <p:spPr>
          <a:xfrm flipH="false" flipV="false" rot="0">
            <a:off x="-405188" y="2018298"/>
            <a:ext cx="1433888" cy="1265406"/>
          </a:xfrm>
          <a:custGeom>
            <a:avLst/>
            <a:gdLst/>
            <a:ahLst/>
            <a:cxnLst/>
            <a:rect r="r" b="b" t="t" l="l"/>
            <a:pathLst>
              <a:path h="1265406" w="1433888">
                <a:moveTo>
                  <a:pt x="0" y="0"/>
                </a:moveTo>
                <a:lnTo>
                  <a:pt x="1433888" y="0"/>
                </a:lnTo>
                <a:lnTo>
                  <a:pt x="1433888" y="1265406"/>
                </a:lnTo>
                <a:lnTo>
                  <a:pt x="0" y="126540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2473926">
            <a:off x="-496154" y="9477355"/>
            <a:ext cx="2325515" cy="598820"/>
          </a:xfrm>
          <a:custGeom>
            <a:avLst/>
            <a:gdLst/>
            <a:ahLst/>
            <a:cxnLst/>
            <a:rect r="r" b="b" t="t" l="l"/>
            <a:pathLst>
              <a:path h="598820" w="2325515">
                <a:moveTo>
                  <a:pt x="0" y="0"/>
                </a:moveTo>
                <a:lnTo>
                  <a:pt x="2325515" y="0"/>
                </a:lnTo>
                <a:lnTo>
                  <a:pt x="2325515" y="598820"/>
                </a:lnTo>
                <a:lnTo>
                  <a:pt x="0" y="598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323603">
            <a:off x="17869630" y="1963448"/>
            <a:ext cx="710251" cy="892756"/>
          </a:xfrm>
          <a:custGeom>
            <a:avLst/>
            <a:gdLst/>
            <a:ahLst/>
            <a:cxnLst/>
            <a:rect r="r" b="b" t="t" l="l"/>
            <a:pathLst>
              <a:path h="892756" w="710251">
                <a:moveTo>
                  <a:pt x="0" y="0"/>
                </a:moveTo>
                <a:lnTo>
                  <a:pt x="710251" y="0"/>
                </a:lnTo>
                <a:lnTo>
                  <a:pt x="710251" y="892756"/>
                </a:lnTo>
                <a:lnTo>
                  <a:pt x="0" y="892756"/>
                </a:lnTo>
                <a:lnTo>
                  <a:pt x="0" y="0"/>
                </a:lnTo>
                <a:close/>
              </a:path>
            </a:pathLst>
          </a:custGeom>
          <a:blipFill>
            <a:blip r:embed="rId10">
              <a:extLst>
                <a:ext uri="{96DAC541-7B7A-43D3-8B79-37D633B846F1}">
                  <asvg:svgBlip xmlns:asvg="http://schemas.microsoft.com/office/drawing/2016/SVG/main" r:embed="rId11"/>
                </a:ext>
              </a:extLst>
            </a:blip>
            <a:stretch>
              <a:fillRect l="-127975" t="-28590" r="-17420" b="-104172"/>
            </a:stretch>
          </a:blipFill>
        </p:spPr>
      </p:sp>
      <p:sp>
        <p:nvSpPr>
          <p:cNvPr name="Freeform 33" id="33"/>
          <p:cNvSpPr/>
          <p:nvPr/>
        </p:nvSpPr>
        <p:spPr>
          <a:xfrm flipH="true" flipV="false" rot="-873099">
            <a:off x="17115237" y="242182"/>
            <a:ext cx="1428017" cy="1622746"/>
          </a:xfrm>
          <a:custGeom>
            <a:avLst/>
            <a:gdLst/>
            <a:ahLst/>
            <a:cxnLst/>
            <a:rect r="r" b="b" t="t" l="l"/>
            <a:pathLst>
              <a:path h="1622746" w="1428017">
                <a:moveTo>
                  <a:pt x="1428017" y="0"/>
                </a:moveTo>
                <a:lnTo>
                  <a:pt x="0" y="0"/>
                </a:lnTo>
                <a:lnTo>
                  <a:pt x="0" y="1622747"/>
                </a:lnTo>
                <a:lnTo>
                  <a:pt x="1428017" y="1622747"/>
                </a:lnTo>
                <a:lnTo>
                  <a:pt x="1428017"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3133301" y="3283704"/>
            <a:ext cx="2557130" cy="4422709"/>
          </a:xfrm>
          <a:custGeom>
            <a:avLst/>
            <a:gdLst/>
            <a:ahLst/>
            <a:cxnLst/>
            <a:rect r="r" b="b" t="t" l="l"/>
            <a:pathLst>
              <a:path h="4422709" w="2557130">
                <a:moveTo>
                  <a:pt x="0" y="0"/>
                </a:moveTo>
                <a:lnTo>
                  <a:pt x="2557130" y="0"/>
                </a:lnTo>
                <a:lnTo>
                  <a:pt x="2557130" y="4422709"/>
                </a:lnTo>
                <a:lnTo>
                  <a:pt x="0" y="442270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5" id="35"/>
          <p:cNvSpPr txBox="true"/>
          <p:nvPr/>
        </p:nvSpPr>
        <p:spPr>
          <a:xfrm rot="0">
            <a:off x="5805525" y="1399173"/>
            <a:ext cx="6875815" cy="1590040"/>
          </a:xfrm>
          <a:prstGeom prst="rect">
            <a:avLst/>
          </a:prstGeom>
        </p:spPr>
        <p:txBody>
          <a:bodyPr anchor="t" rtlCol="false" tIns="0" lIns="0" bIns="0" rIns="0">
            <a:spAutoFit/>
          </a:bodyPr>
          <a:lstStyle/>
          <a:p>
            <a:endParaRPr/>
          </a:p>
        </p:txBody>
      </p:sp>
      <p:sp>
        <p:nvSpPr>
          <p:cNvPr name="Freeform 36" id="36"/>
          <p:cNvSpPr/>
          <p:nvPr/>
        </p:nvSpPr>
        <p:spPr>
          <a:xfrm flipH="false" flipV="false" rot="323603">
            <a:off x="15662371" y="2211865"/>
            <a:ext cx="453044" cy="569458"/>
          </a:xfrm>
          <a:custGeom>
            <a:avLst/>
            <a:gdLst/>
            <a:ahLst/>
            <a:cxnLst/>
            <a:rect r="r" b="b" t="t" l="l"/>
            <a:pathLst>
              <a:path h="569458" w="453044">
                <a:moveTo>
                  <a:pt x="0" y="0"/>
                </a:moveTo>
                <a:lnTo>
                  <a:pt x="453044" y="0"/>
                </a:lnTo>
                <a:lnTo>
                  <a:pt x="453044" y="569458"/>
                </a:lnTo>
                <a:lnTo>
                  <a:pt x="0" y="569458"/>
                </a:lnTo>
                <a:lnTo>
                  <a:pt x="0" y="0"/>
                </a:lnTo>
                <a:close/>
              </a:path>
            </a:pathLst>
          </a:custGeom>
          <a:blipFill>
            <a:blip r:embed="rId16">
              <a:extLst>
                <a:ext uri="{96DAC541-7B7A-43D3-8B79-37D633B846F1}">
                  <asvg:svgBlip xmlns:asvg="http://schemas.microsoft.com/office/drawing/2016/SVG/main" r:embed="rId17"/>
                </a:ext>
              </a:extLst>
            </a:blip>
            <a:stretch>
              <a:fillRect l="-127975" t="-28590" r="-17420" b="-104172"/>
            </a:stretch>
          </a:blipFill>
        </p:spPr>
      </p:sp>
      <p:sp>
        <p:nvSpPr>
          <p:cNvPr name="Freeform 37" id="37"/>
          <p:cNvSpPr/>
          <p:nvPr/>
        </p:nvSpPr>
        <p:spPr>
          <a:xfrm flipH="false" flipV="false" rot="323603">
            <a:off x="17117787" y="4000833"/>
            <a:ext cx="453044" cy="569458"/>
          </a:xfrm>
          <a:custGeom>
            <a:avLst/>
            <a:gdLst/>
            <a:ahLst/>
            <a:cxnLst/>
            <a:rect r="r" b="b" t="t" l="l"/>
            <a:pathLst>
              <a:path h="569458" w="453044">
                <a:moveTo>
                  <a:pt x="0" y="0"/>
                </a:moveTo>
                <a:lnTo>
                  <a:pt x="453045" y="0"/>
                </a:lnTo>
                <a:lnTo>
                  <a:pt x="453045" y="569458"/>
                </a:lnTo>
                <a:lnTo>
                  <a:pt x="0" y="569458"/>
                </a:lnTo>
                <a:lnTo>
                  <a:pt x="0" y="0"/>
                </a:lnTo>
                <a:close/>
              </a:path>
            </a:pathLst>
          </a:custGeom>
          <a:blipFill>
            <a:blip r:embed="rId16">
              <a:extLst>
                <a:ext uri="{96DAC541-7B7A-43D3-8B79-37D633B846F1}">
                  <asvg:svgBlip xmlns:asvg="http://schemas.microsoft.com/office/drawing/2016/SVG/main" r:embed="rId17"/>
                </a:ext>
              </a:extLst>
            </a:blip>
            <a:stretch>
              <a:fillRect l="-127975" t="-28590" r="-17420" b="-104172"/>
            </a:stretch>
          </a:blipFill>
        </p:spPr>
      </p:sp>
      <p:sp>
        <p:nvSpPr>
          <p:cNvPr name="Freeform 38" id="38"/>
          <p:cNvSpPr/>
          <p:nvPr/>
        </p:nvSpPr>
        <p:spPr>
          <a:xfrm flipH="false" flipV="false" rot="323603">
            <a:off x="17350442" y="5960862"/>
            <a:ext cx="453044" cy="569458"/>
          </a:xfrm>
          <a:custGeom>
            <a:avLst/>
            <a:gdLst/>
            <a:ahLst/>
            <a:cxnLst/>
            <a:rect r="r" b="b" t="t" l="l"/>
            <a:pathLst>
              <a:path h="569458" w="453044">
                <a:moveTo>
                  <a:pt x="0" y="0"/>
                </a:moveTo>
                <a:lnTo>
                  <a:pt x="453044" y="0"/>
                </a:lnTo>
                <a:lnTo>
                  <a:pt x="453044" y="569458"/>
                </a:lnTo>
                <a:lnTo>
                  <a:pt x="0" y="569458"/>
                </a:lnTo>
                <a:lnTo>
                  <a:pt x="0" y="0"/>
                </a:lnTo>
                <a:close/>
              </a:path>
            </a:pathLst>
          </a:custGeom>
          <a:blipFill>
            <a:blip r:embed="rId16">
              <a:extLst>
                <a:ext uri="{96DAC541-7B7A-43D3-8B79-37D633B846F1}">
                  <asvg:svgBlip xmlns:asvg="http://schemas.microsoft.com/office/drawing/2016/SVG/main" r:embed="rId17"/>
                </a:ext>
              </a:extLst>
            </a:blip>
            <a:stretch>
              <a:fillRect l="-127975" t="-28590" r="-17420" b="-104172"/>
            </a:stretch>
          </a:blipFill>
        </p:spPr>
      </p:sp>
      <p:sp>
        <p:nvSpPr>
          <p:cNvPr name="Freeform 39" id="39"/>
          <p:cNvSpPr/>
          <p:nvPr/>
        </p:nvSpPr>
        <p:spPr>
          <a:xfrm flipH="false" flipV="false" rot="323603">
            <a:off x="16166935" y="8038347"/>
            <a:ext cx="453044" cy="569458"/>
          </a:xfrm>
          <a:custGeom>
            <a:avLst/>
            <a:gdLst/>
            <a:ahLst/>
            <a:cxnLst/>
            <a:rect r="r" b="b" t="t" l="l"/>
            <a:pathLst>
              <a:path h="569458" w="453044">
                <a:moveTo>
                  <a:pt x="0" y="0"/>
                </a:moveTo>
                <a:lnTo>
                  <a:pt x="453044" y="0"/>
                </a:lnTo>
                <a:lnTo>
                  <a:pt x="453044" y="569459"/>
                </a:lnTo>
                <a:lnTo>
                  <a:pt x="0" y="569459"/>
                </a:lnTo>
                <a:lnTo>
                  <a:pt x="0" y="0"/>
                </a:lnTo>
                <a:close/>
              </a:path>
            </a:pathLst>
          </a:custGeom>
          <a:blipFill>
            <a:blip r:embed="rId16">
              <a:extLst>
                <a:ext uri="{96DAC541-7B7A-43D3-8B79-37D633B846F1}">
                  <asvg:svgBlip xmlns:asvg="http://schemas.microsoft.com/office/drawing/2016/SVG/main" r:embed="rId17"/>
                </a:ext>
              </a:extLst>
            </a:blip>
            <a:stretch>
              <a:fillRect l="-127975" t="-28590" r="-17420" b="-104172"/>
            </a:stretch>
          </a:blipFill>
        </p:spPr>
      </p:sp>
      <p:sp>
        <p:nvSpPr>
          <p:cNvPr name="TextBox 40" id="40"/>
          <p:cNvSpPr txBox="true"/>
          <p:nvPr/>
        </p:nvSpPr>
        <p:spPr>
          <a:xfrm rot="0">
            <a:off x="6444096" y="3120207"/>
            <a:ext cx="8257044" cy="930974"/>
          </a:xfrm>
          <a:prstGeom prst="rect">
            <a:avLst/>
          </a:prstGeom>
        </p:spPr>
        <p:txBody>
          <a:bodyPr anchor="t" rtlCol="false" tIns="0" lIns="0" bIns="0" rIns="0">
            <a:spAutoFit/>
          </a:bodyPr>
          <a:lstStyle/>
          <a:p>
            <a:endParaRPr/>
          </a:p>
        </p:txBody>
      </p:sp>
      <p:sp>
        <p:nvSpPr>
          <p:cNvPr name="TextBox 41" id="41"/>
          <p:cNvSpPr txBox="true"/>
          <p:nvPr/>
        </p:nvSpPr>
        <p:spPr>
          <a:xfrm rot="0">
            <a:off x="6444096" y="3890221"/>
            <a:ext cx="8257044" cy="930974"/>
          </a:xfrm>
          <a:prstGeom prst="rect">
            <a:avLst/>
          </a:prstGeom>
        </p:spPr>
        <p:txBody>
          <a:bodyPr anchor="t" rtlCol="false" tIns="0" lIns="0" bIns="0" rIns="0">
            <a:spAutoFit/>
          </a:bodyPr>
          <a:lstStyle/>
          <a:p>
            <a:endParaRPr/>
          </a:p>
        </p:txBody>
      </p:sp>
      <p:sp>
        <p:nvSpPr>
          <p:cNvPr name="TextBox 42" id="42"/>
          <p:cNvSpPr txBox="true"/>
          <p:nvPr/>
        </p:nvSpPr>
        <p:spPr>
          <a:xfrm rot="0">
            <a:off x="6444096" y="5573475"/>
            <a:ext cx="8257044" cy="930974"/>
          </a:xfrm>
          <a:prstGeom prst="rect">
            <a:avLst/>
          </a:prstGeom>
        </p:spPr>
        <p:txBody>
          <a:bodyPr anchor="t" rtlCol="false" tIns="0" lIns="0" bIns="0" rIns="0">
            <a:spAutoFit/>
          </a:bodyPr>
          <a:lstStyle/>
          <a:p>
            <a:endParaRPr/>
          </a:p>
        </p:txBody>
      </p:sp>
      <p:sp>
        <p:nvSpPr>
          <p:cNvPr name="TextBox 43" id="43"/>
          <p:cNvSpPr txBox="true"/>
          <p:nvPr/>
        </p:nvSpPr>
        <p:spPr>
          <a:xfrm rot="0">
            <a:off x="6444096" y="4804427"/>
            <a:ext cx="8257044" cy="930974"/>
          </a:xfrm>
          <a:prstGeom prst="rect">
            <a:avLst/>
          </a:prstGeom>
        </p:spPr>
        <p:txBody>
          <a:bodyPr anchor="t" rtlCol="false" tIns="0" lIns="0" bIns="0" rIns="0">
            <a:spAutoFit/>
          </a:bodyPr>
          <a:lstStyle/>
          <a:p>
            <a:endParaRPr/>
          </a:p>
        </p:txBody>
      </p:sp>
      <p:sp>
        <p:nvSpPr>
          <p:cNvPr name="TextBox 44" id="44"/>
          <p:cNvSpPr txBox="true"/>
          <p:nvPr/>
        </p:nvSpPr>
        <p:spPr>
          <a:xfrm rot="0">
            <a:off x="6444096" y="6402199"/>
            <a:ext cx="8257044" cy="930974"/>
          </a:xfrm>
          <a:prstGeom prst="rect">
            <a:avLst/>
          </a:prstGeom>
        </p:spPr>
        <p:txBody>
          <a:bodyPr anchor="t" rtlCol="false" tIns="0" lIns="0" bIns="0" rIns="0">
            <a:spAutoFit/>
          </a:bodyPr>
          <a:lstStyle/>
          <a:p>
            <a:endParaRPr/>
          </a:p>
        </p:txBody>
      </p:sp>
      <p:sp>
        <p:nvSpPr>
          <p:cNvPr id="45" name="Rectangle 44"/>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Intelligence Imperative: Leading in an AI-Driven Future</a:t>
            </a:r>
          </a:p>
        </p:txBody>
      </p:sp>
      <p:sp>
        <p:nvSpPr>
          <p:cNvPr id="47" name="TextBox 46"/>
          <p:cNvSpPr txBox="1"/>
          <p:nvPr/>
        </p:nvSpPr>
        <p:spPr>
          <a:xfrm>
            <a:off x="1463040" y="5760720"/>
            <a:ext cx="15361920" cy="1028700"/>
          </a:xfrm>
          <a:prstGeom prst="rect">
            <a:avLst/>
          </a:prstGeom>
          <a:noFill/>
        </p:spPr>
        <p:txBody>
          <a:bodyPr wrap="square">
            <a:spAutoFit/>
          </a:bodyPr>
          <a:lstStyle/>
          <a:p>
            <a:pPr algn="ctr"/>
            <a:r>
              <a:rPr sz="2600" b="0">
                <a:solidFill>
                  <a:srgbClr val="DCE6F5"/>
                </a:solidFill>
                <a:latin typeface="Segoe UI"/>
              </a:rPr>
              <a:t>In the era of autonomous intelligence, the only existential risk is failing to adapt to the AI-first economy.</a:t>
            </a:r>
          </a:p>
        </p:txBody>
      </p:sp>
      <p:sp>
        <p:nvSpPr>
          <p:cNvPr id="48" name="TextBox 47"/>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DAHEAPACS3g</dc:identifier>
  <dcterms:modified xsi:type="dcterms:W3CDTF">2011-08-01T06:04:30Z</dcterms:modified>
  <cp:revision>1</cp:revision>
  <dc:title>Lorem ipsum dolor sit amet, consectetur adipiscing elit. Duis vel dolor ante. Nullam feugiat egestas elit et vehicula. Proin venenatis, orci nec cursus tristique, nulla risus mattis eros, id accumsan massa elit eu augue. Mauris massa ipsum, pharetra id</dc:title>
</cp:coreProperties>
</file>