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4.svg" ContentType="image/svg+xml"/>
  <Override PartName="/ppt/media/image6.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Open Sauce Heavy" charset="1" panose="00000A00000000000000"/>
      <p:regular r:id="rId18"/>
    </p:embeddedFont>
    <p:embeddedFont>
      <p:font typeface="Open Sauce Light" charset="1" panose="00000400000000000000"/>
      <p:regular r:id="rId19"/>
    </p:embeddedFont>
    <p:embeddedFont>
      <p:font typeface="Open Sauce"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font" Target="fonts/font20.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jpe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2">
              <a:alphaModFix amt="42000"/>
            </a:blip>
            <a:stretch>
              <a:fillRect l="0" t="0" r="0" b="0"/>
            </a:stretch>
          </a:blipFill>
        </p:spPr>
      </p:sp>
      <p:sp>
        <p:nvSpPr>
          <p:cNvPr name="Freeform 3" id="3"/>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3">
              <a:alphaModFix amt="12000"/>
            </a:blip>
            <a:stretch>
              <a:fillRect l="0" t="0" r="0" b="0"/>
            </a:stretch>
          </a:blipFill>
        </p:spPr>
      </p:sp>
      <p:sp>
        <p:nvSpPr>
          <p:cNvPr name="Freeform 4" id="4"/>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4">
              <a:alphaModFix amt="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5360779"/>
            <a:ext cx="13017405" cy="4503870"/>
          </a:xfrm>
          <a:prstGeom prst="rect">
            <a:avLst/>
          </a:prstGeom>
        </p:spPr>
        <p:txBody>
          <a:bodyPr anchor="t" rtlCol="false" tIns="0" lIns="0" bIns="0" rIns="0">
            <a:spAutoFit/>
          </a:bodyPr>
          <a:lstStyle/>
          <a:p>
            <a:endParaRPr/>
          </a:p>
        </p:txBody>
      </p:sp>
      <p:grpSp>
        <p:nvGrpSpPr>
          <p:cNvPr name="Group 6" id="6"/>
          <p:cNvGrpSpPr/>
          <p:nvPr/>
        </p:nvGrpSpPr>
        <p:grpSpPr>
          <a:xfrm rot="0">
            <a:off x="12696100" y="8626236"/>
            <a:ext cx="498714" cy="49871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24242"/>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9" id="9"/>
          <p:cNvSpPr/>
          <p:nvPr/>
        </p:nvSpPr>
        <p:spPr>
          <a:xfrm>
            <a:off x="1045163" y="1480091"/>
            <a:ext cx="16214137" cy="0"/>
          </a:xfrm>
          <a:prstGeom prst="line">
            <a:avLst/>
          </a:prstGeom>
          <a:ln cap="flat" w="19050">
            <a:solidFill>
              <a:srgbClr val="424242"/>
            </a:solidFill>
            <a:prstDash val="solid"/>
            <a:headEnd type="none" len="sm" w="sm"/>
            <a:tailEnd type="none" len="sm" w="sm"/>
          </a:ln>
        </p:spPr>
      </p:sp>
      <p:sp>
        <p:nvSpPr>
          <p:cNvPr name="Freeform 10" id="10"/>
          <p:cNvSpPr/>
          <p:nvPr/>
        </p:nvSpPr>
        <p:spPr>
          <a:xfrm flipH="false" flipV="false" rot="0">
            <a:off x="953566" y="647822"/>
            <a:ext cx="644940" cy="644940"/>
          </a:xfrm>
          <a:custGeom>
            <a:avLst/>
            <a:gdLst/>
            <a:ahLst/>
            <a:cxnLst/>
            <a:rect r="r" b="b" t="t" l="l"/>
            <a:pathLst>
              <a:path h="644940" w="644940">
                <a:moveTo>
                  <a:pt x="0" y="0"/>
                </a:moveTo>
                <a:lnTo>
                  <a:pt x="644939" y="0"/>
                </a:lnTo>
                <a:lnTo>
                  <a:pt x="644939" y="644940"/>
                </a:lnTo>
                <a:lnTo>
                  <a:pt x="0" y="6449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4089987" y="7990332"/>
            <a:ext cx="3450154" cy="1134618"/>
          </a:xfrm>
          <a:prstGeom prst="rect">
            <a:avLst/>
          </a:prstGeom>
        </p:spPr>
        <p:txBody>
          <a:bodyPr anchor="t" rtlCol="false" tIns="0" lIns="0" bIns="0" rIns="0">
            <a:spAutoFit/>
          </a:bodyPr>
          <a:lstStyle/>
          <a:p>
            <a:endParaRPr/>
          </a:p>
        </p:txBody>
      </p:sp>
      <p:sp>
        <p:nvSpPr>
          <p:cNvPr id="12" name="TextBox 11"/>
          <p:cNvSpPr txBox="1"/>
          <p:nvPr/>
        </p:nvSpPr>
        <p:spPr>
          <a:xfrm>
            <a:off x="1028700" y="5360779"/>
            <a:ext cx="13017405" cy="4503870"/>
          </a:xfrm>
          <a:prstGeom prst="rect">
            <a:avLst/>
          </a:prstGeom>
          <a:noFill/>
        </p:spPr>
        <p:txBody>
          <a:bodyPr wrap="square">
            <a:spAutoFit/>
          </a:bodyPr>
          <a:lstStyle/>
          <a:p>
            <a:pPr algn="l"/>
            <a:r>
              <a:rPr sz="3800" b="1">
                <a:solidFill>
                  <a:srgbClr val="FFFFFF"/>
                </a:solidFill>
                <a:latin typeface="Segoe UI Black"/>
              </a:rPr>
              <a:t>Governance of the Global Tech Hub: The Bruhat Bengaluru Mahanagara Palike (BBMP)</a:t>
            </a:r>
          </a:p>
        </p:txBody>
      </p:sp>
      <p:cxnSp>
        <p:nvCxnSpPr>
          <p:cNvPr id="13" name="Connector 12"/>
          <p:cNvCxnSpPr/>
          <p:nvPr/>
        </p:nvCxnSpPr>
        <p:spPr>
          <a:xfrm>
            <a:off x="1028700" y="8513488"/>
            <a:ext cx="3905221"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089987" y="7990332"/>
            <a:ext cx="3450154" cy="1134618"/>
          </a:xfrm>
          <a:prstGeom prst="rect">
            <a:avLst/>
          </a:prstGeom>
          <a:noFill/>
        </p:spPr>
        <p:txBody>
          <a:bodyPr wrap="square">
            <a:spAutoFit/>
          </a:bodyPr>
          <a:lstStyle/>
          <a:p>
            <a:pPr algn="l"/>
            <a:r>
              <a:rPr sz="2200" b="0">
                <a:solidFill>
                  <a:srgbClr val="FFFFFF"/>
                </a:solidFill>
                <a:latin typeface="Segoe UI"/>
              </a:rPr>
              <a:t>A Strategic Overview of Administrative Infrastructure, Fiscal Management, and Urban Development in India's Silicon Valley.</a:t>
            </a:r>
          </a:p>
        </p:txBody>
      </p:sp>
      <p:sp>
        <p:nvSpPr>
          <p:cNvPr id="15" name="TextBox 14"/>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25852">
            <a:off x="-2330235" y="2657262"/>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4">
              <a:alphaModFix amt="25000"/>
            </a:blip>
            <a:stretch>
              <a:fillRect l="0" t="0" r="0" b="0"/>
            </a:stretch>
          </a:blipFill>
        </p:spPr>
      </p:sp>
      <p:sp>
        <p:nvSpPr>
          <p:cNvPr name="Freeform 4" id="4"/>
          <p:cNvSpPr/>
          <p:nvPr/>
        </p:nvSpPr>
        <p:spPr>
          <a:xfrm flipH="false" flipV="false" rot="0">
            <a:off x="953566" y="647822"/>
            <a:ext cx="644940" cy="644940"/>
          </a:xfrm>
          <a:custGeom>
            <a:avLst/>
            <a:gdLst/>
            <a:ahLst/>
            <a:cxnLst/>
            <a:rect r="r" b="b" t="t" l="l"/>
            <a:pathLst>
              <a:path h="644940" w="644940">
                <a:moveTo>
                  <a:pt x="0" y="0"/>
                </a:moveTo>
                <a:lnTo>
                  <a:pt x="644939" y="0"/>
                </a:lnTo>
                <a:lnTo>
                  <a:pt x="644939" y="644940"/>
                </a:lnTo>
                <a:lnTo>
                  <a:pt x="0" y="6449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144000" y="-1156725"/>
            <a:ext cx="12858845" cy="4933121"/>
          </a:xfrm>
          <a:custGeom>
            <a:avLst/>
            <a:gdLst/>
            <a:ahLst/>
            <a:cxnLst/>
            <a:rect r="r" b="b" t="t" l="l"/>
            <a:pathLst>
              <a:path h="4933121" w="12858845">
                <a:moveTo>
                  <a:pt x="0" y="0"/>
                </a:moveTo>
                <a:lnTo>
                  <a:pt x="12858845" y="0"/>
                </a:lnTo>
                <a:lnTo>
                  <a:pt x="12858845" y="4933120"/>
                </a:lnTo>
                <a:lnTo>
                  <a:pt x="0" y="4933120"/>
                </a:lnTo>
                <a:lnTo>
                  <a:pt x="0" y="0"/>
                </a:lnTo>
                <a:close/>
              </a:path>
            </a:pathLst>
          </a:custGeom>
          <a:blipFill>
            <a:blip r:embed="rId7">
              <a:alphaModFix amt="25000"/>
            </a:blip>
            <a:stretch>
              <a:fillRect l="0" t="0" r="0" b="0"/>
            </a:stretch>
          </a:blipFill>
        </p:spPr>
      </p:sp>
      <p:grpSp>
        <p:nvGrpSpPr>
          <p:cNvPr name="Group 6" id="6"/>
          <p:cNvGrpSpPr/>
          <p:nvPr/>
        </p:nvGrpSpPr>
        <p:grpSpPr>
          <a:xfrm rot="0">
            <a:off x="9580737" y="-2312214"/>
            <a:ext cx="8987883" cy="14062990"/>
            <a:chOff x="0" y="0"/>
            <a:chExt cx="2367179" cy="3703833"/>
          </a:xfrm>
        </p:grpSpPr>
        <p:sp>
          <p:nvSpPr>
            <p:cNvPr name="Freeform 7" id="7"/>
            <p:cNvSpPr/>
            <p:nvPr/>
          </p:nvSpPr>
          <p:spPr>
            <a:xfrm flipH="false" flipV="false" rot="0">
              <a:off x="0" y="0"/>
              <a:ext cx="2367179" cy="3703833"/>
            </a:xfrm>
            <a:custGeom>
              <a:avLst/>
              <a:gdLst/>
              <a:ahLst/>
              <a:cxnLst/>
              <a:rect r="r" b="b" t="t" l="l"/>
              <a:pathLst>
                <a:path h="3703833" w="2367179">
                  <a:moveTo>
                    <a:pt x="34455" y="0"/>
                  </a:moveTo>
                  <a:lnTo>
                    <a:pt x="2332724" y="0"/>
                  </a:lnTo>
                  <a:cubicBezTo>
                    <a:pt x="2341862" y="0"/>
                    <a:pt x="2350626" y="3630"/>
                    <a:pt x="2357088" y="10092"/>
                  </a:cubicBezTo>
                  <a:cubicBezTo>
                    <a:pt x="2363549" y="16553"/>
                    <a:pt x="2367179" y="25317"/>
                    <a:pt x="2367179" y="34455"/>
                  </a:cubicBezTo>
                  <a:lnTo>
                    <a:pt x="2367179" y="3669378"/>
                  </a:lnTo>
                  <a:cubicBezTo>
                    <a:pt x="2367179" y="3678516"/>
                    <a:pt x="2363549" y="3687280"/>
                    <a:pt x="2357088" y="3693741"/>
                  </a:cubicBezTo>
                  <a:cubicBezTo>
                    <a:pt x="2350626" y="3700203"/>
                    <a:pt x="2341862" y="3703833"/>
                    <a:pt x="2332724" y="3703833"/>
                  </a:cubicBezTo>
                  <a:lnTo>
                    <a:pt x="34455" y="3703833"/>
                  </a:lnTo>
                  <a:cubicBezTo>
                    <a:pt x="25317" y="3703833"/>
                    <a:pt x="16553" y="3700203"/>
                    <a:pt x="10092" y="3693741"/>
                  </a:cubicBezTo>
                  <a:cubicBezTo>
                    <a:pt x="3630" y="3687280"/>
                    <a:pt x="0" y="3678516"/>
                    <a:pt x="0" y="3669378"/>
                  </a:cubicBezTo>
                  <a:lnTo>
                    <a:pt x="0" y="34455"/>
                  </a:lnTo>
                  <a:cubicBezTo>
                    <a:pt x="0" y="25317"/>
                    <a:pt x="3630" y="16553"/>
                    <a:pt x="10092" y="10092"/>
                  </a:cubicBezTo>
                  <a:cubicBezTo>
                    <a:pt x="16553" y="3630"/>
                    <a:pt x="25317" y="0"/>
                    <a:pt x="34455" y="0"/>
                  </a:cubicBezTo>
                  <a:close/>
                </a:path>
              </a:pathLst>
            </a:custGeom>
            <a:solidFill>
              <a:srgbClr val="D0D7DD"/>
            </a:solidFill>
            <a:ln w="19050" cap="rnd">
              <a:solidFill>
                <a:srgbClr val="424242"/>
              </a:solidFill>
              <a:prstDash val="solid"/>
              <a:round/>
            </a:ln>
          </p:spPr>
        </p:sp>
        <p:sp>
          <p:nvSpPr>
            <p:cNvPr name="TextBox 8" id="8"/>
            <p:cNvSpPr txBox="true"/>
            <p:nvPr/>
          </p:nvSpPr>
          <p:spPr>
            <a:xfrm>
              <a:off x="0" y="-28575"/>
              <a:ext cx="2367179" cy="3732408"/>
            </a:xfrm>
            <a:prstGeom prst="rect">
              <a:avLst/>
            </a:prstGeom>
          </p:spPr>
          <p:txBody>
            <a:bodyPr anchor="ctr" rtlCol="false" tIns="50800" lIns="50800" bIns="50800" rIns="50800"/>
            <a:lstStyle/>
            <a:p>
              <a:pPr algn="ctr">
                <a:lnSpc>
                  <a:spcPts val="2015"/>
                </a:lnSpc>
              </a:pPr>
            </a:p>
          </p:txBody>
        </p:sp>
      </p:grpSp>
      <p:sp>
        <p:nvSpPr>
          <p:cNvPr name="TextBox 9" id="9"/>
          <p:cNvSpPr txBox="true"/>
          <p:nvPr/>
        </p:nvSpPr>
        <p:spPr>
          <a:xfrm rot="0">
            <a:off x="1028700" y="6518917"/>
            <a:ext cx="7628749" cy="3009345"/>
          </a:xfrm>
          <a:prstGeom prst="rect">
            <a:avLst/>
          </a:prstGeom>
        </p:spPr>
        <p:txBody>
          <a:bodyPr anchor="t" rtlCol="false" tIns="0" lIns="0" bIns="0" rIns="0">
            <a:spAutoFit/>
          </a:bodyPr>
          <a:lstStyle/>
          <a:p>
            <a:endParaRPr/>
          </a:p>
        </p:txBody>
      </p:sp>
      <p:sp>
        <p:nvSpPr>
          <p:cNvPr name="TextBox 10" id="10"/>
          <p:cNvSpPr txBox="true"/>
          <p:nvPr/>
        </p:nvSpPr>
        <p:spPr>
          <a:xfrm rot="0">
            <a:off x="10209886" y="1623002"/>
            <a:ext cx="5466983" cy="311150"/>
          </a:xfrm>
          <a:prstGeom prst="rect">
            <a:avLst/>
          </a:prstGeom>
        </p:spPr>
        <p:txBody>
          <a:bodyPr anchor="t" rtlCol="false" tIns="0" lIns="0" bIns="0" rIns="0">
            <a:spAutoFit/>
          </a:bodyPr>
          <a:lstStyle/>
          <a:p>
            <a:endParaRPr/>
          </a:p>
        </p:txBody>
      </p:sp>
      <p:sp>
        <p:nvSpPr>
          <p:cNvPr name="TextBox 11" id="11"/>
          <p:cNvSpPr txBox="true"/>
          <p:nvPr/>
        </p:nvSpPr>
        <p:spPr>
          <a:xfrm rot="0">
            <a:off x="10209886" y="2436796"/>
            <a:ext cx="5466983" cy="311150"/>
          </a:xfrm>
          <a:prstGeom prst="rect">
            <a:avLst/>
          </a:prstGeom>
        </p:spPr>
        <p:txBody>
          <a:bodyPr anchor="t" rtlCol="false" tIns="0" lIns="0" bIns="0" rIns="0">
            <a:spAutoFit/>
          </a:bodyPr>
          <a:lstStyle/>
          <a:p>
            <a:endParaRPr/>
          </a:p>
        </p:txBody>
      </p:sp>
      <p:sp>
        <p:nvSpPr>
          <p:cNvPr name="TextBox 12" id="12"/>
          <p:cNvSpPr txBox="true"/>
          <p:nvPr/>
        </p:nvSpPr>
        <p:spPr>
          <a:xfrm rot="0">
            <a:off x="10209886" y="3250590"/>
            <a:ext cx="5466983" cy="311150"/>
          </a:xfrm>
          <a:prstGeom prst="rect">
            <a:avLst/>
          </a:prstGeom>
        </p:spPr>
        <p:txBody>
          <a:bodyPr anchor="t" rtlCol="false" tIns="0" lIns="0" bIns="0" rIns="0">
            <a:spAutoFit/>
          </a:bodyPr>
          <a:lstStyle/>
          <a:p>
            <a:endParaRPr/>
          </a:p>
        </p:txBody>
      </p:sp>
      <p:sp>
        <p:nvSpPr>
          <p:cNvPr name="TextBox 13" id="13"/>
          <p:cNvSpPr txBox="true"/>
          <p:nvPr/>
        </p:nvSpPr>
        <p:spPr>
          <a:xfrm rot="0">
            <a:off x="10209886" y="4064384"/>
            <a:ext cx="5466983" cy="311150"/>
          </a:xfrm>
          <a:prstGeom prst="rect">
            <a:avLst/>
          </a:prstGeom>
        </p:spPr>
        <p:txBody>
          <a:bodyPr anchor="t" rtlCol="false" tIns="0" lIns="0" bIns="0" rIns="0">
            <a:spAutoFit/>
          </a:bodyPr>
          <a:lstStyle/>
          <a:p>
            <a:endParaRPr/>
          </a:p>
        </p:txBody>
      </p:sp>
      <p:sp>
        <p:nvSpPr>
          <p:cNvPr name="TextBox 14" id="14"/>
          <p:cNvSpPr txBox="true"/>
          <p:nvPr/>
        </p:nvSpPr>
        <p:spPr>
          <a:xfrm rot="0">
            <a:off x="10209886" y="4878178"/>
            <a:ext cx="5466983" cy="311150"/>
          </a:xfrm>
          <a:prstGeom prst="rect">
            <a:avLst/>
          </a:prstGeom>
        </p:spPr>
        <p:txBody>
          <a:bodyPr anchor="t" rtlCol="false" tIns="0" lIns="0" bIns="0" rIns="0">
            <a:spAutoFit/>
          </a:bodyPr>
          <a:lstStyle/>
          <a:p>
            <a:endParaRPr/>
          </a:p>
        </p:txBody>
      </p:sp>
      <p:sp>
        <p:nvSpPr>
          <p:cNvPr name="TextBox 15" id="15"/>
          <p:cNvSpPr txBox="true"/>
          <p:nvPr/>
        </p:nvSpPr>
        <p:spPr>
          <a:xfrm rot="0">
            <a:off x="10209886" y="5691973"/>
            <a:ext cx="5466983" cy="311150"/>
          </a:xfrm>
          <a:prstGeom prst="rect">
            <a:avLst/>
          </a:prstGeom>
        </p:spPr>
        <p:txBody>
          <a:bodyPr anchor="t" rtlCol="false" tIns="0" lIns="0" bIns="0" rIns="0">
            <a:spAutoFit/>
          </a:bodyPr>
          <a:lstStyle/>
          <a:p>
            <a:endParaRPr/>
          </a:p>
        </p:txBody>
      </p:sp>
      <p:sp>
        <p:nvSpPr>
          <p:cNvPr name="TextBox 16" id="16"/>
          <p:cNvSpPr txBox="true"/>
          <p:nvPr/>
        </p:nvSpPr>
        <p:spPr>
          <a:xfrm rot="0">
            <a:off x="10209886" y="6505767"/>
            <a:ext cx="5466983" cy="311150"/>
          </a:xfrm>
          <a:prstGeom prst="rect">
            <a:avLst/>
          </a:prstGeom>
        </p:spPr>
        <p:txBody>
          <a:bodyPr anchor="t" rtlCol="false" tIns="0" lIns="0" bIns="0" rIns="0">
            <a:spAutoFit/>
          </a:bodyPr>
          <a:lstStyle/>
          <a:p>
            <a:endParaRPr/>
          </a:p>
        </p:txBody>
      </p:sp>
      <p:sp>
        <p:nvSpPr>
          <p:cNvPr name="TextBox 17" id="17"/>
          <p:cNvSpPr txBox="true"/>
          <p:nvPr/>
        </p:nvSpPr>
        <p:spPr>
          <a:xfrm rot="0">
            <a:off x="10209886" y="7319561"/>
            <a:ext cx="5466983" cy="311150"/>
          </a:xfrm>
          <a:prstGeom prst="rect">
            <a:avLst/>
          </a:prstGeom>
        </p:spPr>
        <p:txBody>
          <a:bodyPr anchor="t" rtlCol="false" tIns="0" lIns="0" bIns="0" rIns="0">
            <a:spAutoFit/>
          </a:bodyPr>
          <a:lstStyle/>
          <a:p>
            <a:endParaRPr/>
          </a:p>
        </p:txBody>
      </p:sp>
      <p:sp>
        <p:nvSpPr>
          <p:cNvPr name="TextBox 18" id="18"/>
          <p:cNvSpPr txBox="true"/>
          <p:nvPr/>
        </p:nvSpPr>
        <p:spPr>
          <a:xfrm rot="0">
            <a:off x="10209886" y="8133355"/>
            <a:ext cx="5466983" cy="311150"/>
          </a:xfrm>
          <a:prstGeom prst="rect">
            <a:avLst/>
          </a:prstGeom>
        </p:spPr>
        <p:txBody>
          <a:bodyPr anchor="t" rtlCol="false" tIns="0" lIns="0" bIns="0" rIns="0">
            <a:spAutoFit/>
          </a:bodyPr>
          <a:lstStyle/>
          <a:p>
            <a:endParaRPr/>
          </a:p>
        </p:txBody>
      </p:sp>
      <p:sp>
        <p:nvSpPr>
          <p:cNvPr name="TextBox 19" id="19"/>
          <p:cNvSpPr txBox="true"/>
          <p:nvPr/>
        </p:nvSpPr>
        <p:spPr>
          <a:xfrm rot="0">
            <a:off x="10209886" y="8947150"/>
            <a:ext cx="5466983" cy="311150"/>
          </a:xfrm>
          <a:prstGeom prst="rect">
            <a:avLst/>
          </a:prstGeom>
        </p:spPr>
        <p:txBody>
          <a:bodyPr anchor="t" rtlCol="false" tIns="0" lIns="0" bIns="0" rIns="0">
            <a:spAutoFit/>
          </a:bodyPr>
          <a:lstStyle/>
          <a:p>
            <a:endParaRPr/>
          </a:p>
        </p:txBody>
      </p:sp>
      <p:sp>
        <p:nvSpPr>
          <p:cNvPr id="20" name="TextBox 19"/>
          <p:cNvSpPr txBox="1"/>
          <p:nvPr/>
        </p:nvSpPr>
        <p:spPr>
          <a:xfrm>
            <a:off x="10209886" y="1623002"/>
            <a:ext cx="5466983" cy="311150"/>
          </a:xfrm>
          <a:prstGeom prst="rect">
            <a:avLst/>
          </a:prstGeom>
          <a:noFill/>
        </p:spPr>
        <p:txBody>
          <a:bodyPr wrap="square">
            <a:spAutoFit/>
          </a:bodyPr>
          <a:lstStyle/>
          <a:p>
            <a:pPr algn="l"/>
            <a:r>
              <a:rPr sz="3600" b="1">
                <a:solidFill>
                  <a:srgbClr val="FFFFFF"/>
                </a:solidFill>
                <a:latin typeface="Segoe UI Black"/>
              </a:rPr>
              <a:t>Managing a Megacity: BBMP’s Administrative Scale &amp; Zonal Governance</a:t>
            </a:r>
          </a:p>
        </p:txBody>
      </p:sp>
      <p:cxnSp>
        <p:nvCxnSpPr>
          <p:cNvPr id="21" name="Connector 20"/>
          <p:cNvCxnSpPr/>
          <p:nvPr/>
        </p:nvCxnSpPr>
        <p:spPr>
          <a:xfrm>
            <a:off x="10209886" y="1840807"/>
            <a:ext cx="1640094"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28700" y="6518917"/>
            <a:ext cx="7628749" cy="3009345"/>
          </a:xfrm>
          <a:prstGeom prst="rect">
            <a:avLst/>
          </a:prstGeom>
          <a:noFill/>
        </p:spPr>
        <p:txBody>
          <a:bodyPr wrap="square">
            <a:spAutoFit/>
          </a:bodyPr>
          <a:lstStyle/>
          <a:p>
            <a:pPr algn="l">
              <a:spcAft>
                <a:spcPts val="2800"/>
              </a:spcAft>
            </a:pPr>
            <a:r>
              <a:rPr sz="1700" b="0">
                <a:solidFill>
                  <a:srgbClr val="FFFFFF"/>
                </a:solidFill>
                <a:latin typeface="Segoe UI"/>
              </a:rPr>
              <a:t>Extensive Jurisdiction: Overseeing an expansive urban landscape spanning 714 sq. km, balancing high-density technology corridors with historic residential zones.</a:t>
            </a:r>
          </a:p>
          <a:p>
            <a:pPr algn="l">
              <a:spcAft>
                <a:spcPts val="2800"/>
              </a:spcAft>
            </a:pPr>
            <a:r>
              <a:rPr sz="1700" b="0">
                <a:solidFill>
                  <a:srgbClr val="FFFFFF"/>
                </a:solidFill>
                <a:latin typeface="Segoe UI"/>
              </a:rPr>
              <a:t>Demographic Pressure: Serving a hyper-growth population exceeding 12.5 million residents, necessitating agile and scalable civic response systems.</a:t>
            </a:r>
          </a:p>
          <a:p>
            <a:pPr algn="l">
              <a:spcAft>
                <a:spcPts val="2800"/>
              </a:spcAft>
            </a:pPr>
            <a:r>
              <a:rPr sz="1700" b="0">
                <a:solidFill>
                  <a:srgbClr val="FFFFFF"/>
                </a:solidFill>
                <a:latin typeface="Segoe UI"/>
              </a:rPr>
              <a:t>Decentralized Zonal Model: Administration streamlined through 8 strategic zones—including Mahadevapura and Bommanahalli—to address localized infrastructure needs.</a:t>
            </a:r>
          </a:p>
          <a:p>
            <a:pPr algn="l">
              <a:spcAft>
                <a:spcPts val="2800"/>
              </a:spcAft>
            </a:pPr>
            <a:r>
              <a:rPr sz="1700" b="0">
                <a:solidFill>
                  <a:srgbClr val="FFFFFF"/>
                </a:solidFill>
                <a:latin typeface="Segoe UI"/>
              </a:rPr>
              <a:t>Grassroots Representation: Recent restructuring to 243 wards to improve local accountability and ensure granular service delivery at the neighborhood level.</a:t>
            </a:r>
          </a:p>
        </p:txBody>
      </p:sp>
      <p:sp>
        <p:nvSpPr>
          <p:cNvPr id="23" name="TextBox 22"/>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Freeform 2" id="2"/>
          <p:cNvSpPr/>
          <p:nvPr/>
        </p:nvSpPr>
        <p:spPr>
          <a:xfrm flipH="false" flipV="false" rot="0">
            <a:off x="64223" y="3602732"/>
            <a:ext cx="18339515" cy="9403170"/>
          </a:xfrm>
          <a:custGeom>
            <a:avLst/>
            <a:gdLst/>
            <a:ahLst/>
            <a:cxnLst/>
            <a:rect r="r" b="b" t="t" l="l"/>
            <a:pathLst>
              <a:path h="9403170" w="18339515">
                <a:moveTo>
                  <a:pt x="0" y="0"/>
                </a:moveTo>
                <a:lnTo>
                  <a:pt x="18339516" y="0"/>
                </a:lnTo>
                <a:lnTo>
                  <a:pt x="18339516" y="9403170"/>
                </a:lnTo>
                <a:lnTo>
                  <a:pt x="0" y="9403170"/>
                </a:lnTo>
                <a:lnTo>
                  <a:pt x="0" y="0"/>
                </a:lnTo>
                <a:close/>
              </a:path>
            </a:pathLst>
          </a:custGeom>
          <a:blipFill>
            <a:blip r:embed="rId2">
              <a:alphaModFix amt="16000"/>
            </a:blip>
            <a:stretch>
              <a:fillRect l="0" t="0" r="0" b="0"/>
            </a:stretch>
          </a:blipFill>
        </p:spPr>
      </p:sp>
      <p:grpSp>
        <p:nvGrpSpPr>
          <p:cNvPr name="Group 3" id="3"/>
          <p:cNvGrpSpPr/>
          <p:nvPr/>
        </p:nvGrpSpPr>
        <p:grpSpPr>
          <a:xfrm rot="0">
            <a:off x="-203669" y="-206665"/>
            <a:ext cx="18695337" cy="4744221"/>
            <a:chOff x="0" y="0"/>
            <a:chExt cx="2896397" cy="735004"/>
          </a:xfrm>
        </p:grpSpPr>
        <p:sp>
          <p:nvSpPr>
            <p:cNvPr name="Freeform 4" id="4"/>
            <p:cNvSpPr/>
            <p:nvPr/>
          </p:nvSpPr>
          <p:spPr>
            <a:xfrm flipH="false" flipV="false" rot="0">
              <a:off x="0" y="0"/>
              <a:ext cx="2896397" cy="735004"/>
            </a:xfrm>
            <a:custGeom>
              <a:avLst/>
              <a:gdLst/>
              <a:ahLst/>
              <a:cxnLst/>
              <a:rect r="r" b="b" t="t" l="l"/>
              <a:pathLst>
                <a:path h="735004" w="2896397">
                  <a:moveTo>
                    <a:pt x="0" y="0"/>
                  </a:moveTo>
                  <a:lnTo>
                    <a:pt x="2896397" y="0"/>
                  </a:lnTo>
                  <a:lnTo>
                    <a:pt x="2896397" y="735004"/>
                  </a:lnTo>
                  <a:lnTo>
                    <a:pt x="0" y="735004"/>
                  </a:lnTo>
                  <a:close/>
                </a:path>
              </a:pathLst>
            </a:custGeom>
            <a:blipFill>
              <a:blip r:embed="rId3"/>
              <a:stretch>
                <a:fillRect l="0" t="-168860" r="0" b="-294089"/>
              </a:stretch>
            </a:blipFill>
          </p:spPr>
        </p:sp>
      </p:grpSp>
      <p:grpSp>
        <p:nvGrpSpPr>
          <p:cNvPr name="Group 5" id="5"/>
          <p:cNvGrpSpPr/>
          <p:nvPr/>
        </p:nvGrpSpPr>
        <p:grpSpPr>
          <a:xfrm rot="0">
            <a:off x="894040" y="2728442"/>
            <a:ext cx="16495548" cy="6691928"/>
            <a:chOff x="0" y="0"/>
            <a:chExt cx="4344507" cy="1762483"/>
          </a:xfrm>
        </p:grpSpPr>
        <p:sp>
          <p:nvSpPr>
            <p:cNvPr name="Freeform 6" id="6"/>
            <p:cNvSpPr/>
            <p:nvPr/>
          </p:nvSpPr>
          <p:spPr>
            <a:xfrm flipH="false" flipV="false" rot="0">
              <a:off x="0" y="0"/>
              <a:ext cx="4344507" cy="1762483"/>
            </a:xfrm>
            <a:custGeom>
              <a:avLst/>
              <a:gdLst/>
              <a:ahLst/>
              <a:cxnLst/>
              <a:rect r="r" b="b" t="t" l="l"/>
              <a:pathLst>
                <a:path h="1762483" w="4344507">
                  <a:moveTo>
                    <a:pt x="43648" y="0"/>
                  </a:moveTo>
                  <a:lnTo>
                    <a:pt x="4300858" y="0"/>
                  </a:lnTo>
                  <a:cubicBezTo>
                    <a:pt x="4312435" y="0"/>
                    <a:pt x="4323537" y="4599"/>
                    <a:pt x="4331722" y="12784"/>
                  </a:cubicBezTo>
                  <a:cubicBezTo>
                    <a:pt x="4339908" y="20970"/>
                    <a:pt x="4344507" y="32072"/>
                    <a:pt x="4344507" y="43648"/>
                  </a:cubicBezTo>
                  <a:lnTo>
                    <a:pt x="4344507" y="1718835"/>
                  </a:lnTo>
                  <a:cubicBezTo>
                    <a:pt x="4344507" y="1742941"/>
                    <a:pt x="4324965" y="1762483"/>
                    <a:pt x="4300858" y="1762483"/>
                  </a:cubicBezTo>
                  <a:lnTo>
                    <a:pt x="43648" y="1762483"/>
                  </a:lnTo>
                  <a:cubicBezTo>
                    <a:pt x="32072" y="1762483"/>
                    <a:pt x="20970" y="1757885"/>
                    <a:pt x="12784" y="1749699"/>
                  </a:cubicBezTo>
                  <a:cubicBezTo>
                    <a:pt x="4599" y="1741513"/>
                    <a:pt x="0" y="1730411"/>
                    <a:pt x="0" y="1718835"/>
                  </a:cubicBezTo>
                  <a:lnTo>
                    <a:pt x="0" y="43648"/>
                  </a:lnTo>
                  <a:cubicBezTo>
                    <a:pt x="0" y="19542"/>
                    <a:pt x="19542" y="0"/>
                    <a:pt x="43648" y="0"/>
                  </a:cubicBezTo>
                  <a:close/>
                </a:path>
              </a:pathLst>
            </a:custGeom>
            <a:solidFill>
              <a:srgbClr val="424242"/>
            </a:solidFill>
            <a:ln w="19050" cap="rnd">
              <a:solidFill>
                <a:srgbClr val="D0D7DD"/>
              </a:solidFill>
              <a:prstDash val="solid"/>
              <a:round/>
            </a:ln>
          </p:spPr>
        </p:sp>
        <p:sp>
          <p:nvSpPr>
            <p:cNvPr name="TextBox 7" id="7"/>
            <p:cNvSpPr txBox="true"/>
            <p:nvPr/>
          </p:nvSpPr>
          <p:spPr>
            <a:xfrm>
              <a:off x="0" y="-28575"/>
              <a:ext cx="4344507" cy="1791058"/>
            </a:xfrm>
            <a:prstGeom prst="rect">
              <a:avLst/>
            </a:prstGeom>
          </p:spPr>
          <p:txBody>
            <a:bodyPr anchor="ctr" rtlCol="false" tIns="50800" lIns="50800" bIns="50800" rIns="50800"/>
            <a:lstStyle/>
            <a:p>
              <a:pPr algn="ctr">
                <a:lnSpc>
                  <a:spcPts val="2015"/>
                </a:lnSpc>
              </a:pPr>
            </a:p>
          </p:txBody>
        </p:sp>
      </p:grpSp>
      <p:grpSp>
        <p:nvGrpSpPr>
          <p:cNvPr name="Group 8" id="8"/>
          <p:cNvGrpSpPr/>
          <p:nvPr/>
        </p:nvGrpSpPr>
        <p:grpSpPr>
          <a:xfrm rot="0">
            <a:off x="16486613" y="3122398"/>
            <a:ext cx="480334" cy="48033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A0CEFD">
                    <a:alpha val="100000"/>
                  </a:srgbClr>
                </a:gs>
                <a:gs pos="100000">
                  <a:srgbClr val="E4F2FF">
                    <a:alpha val="100000"/>
                  </a:srgbClr>
                </a:gs>
              </a:gsLst>
              <a:lin ang="0"/>
            </a:gradFill>
            <a:ln w="9525" cap="sq">
              <a:solidFill>
                <a:srgbClr val="FFFFFF"/>
              </a:solidFill>
              <a:prstDash val="solid"/>
              <a:miter/>
            </a:ln>
          </p:spPr>
        </p:sp>
        <p:sp>
          <p:nvSpPr>
            <p:cNvPr name="TextBox 10" id="10"/>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sp>
        <p:nvSpPr>
          <p:cNvPr name="TextBox 11" id="11"/>
          <p:cNvSpPr txBox="true"/>
          <p:nvPr/>
        </p:nvSpPr>
        <p:spPr>
          <a:xfrm rot="0">
            <a:off x="1601969" y="3630688"/>
            <a:ext cx="10156343" cy="1558403"/>
          </a:xfrm>
          <a:prstGeom prst="rect">
            <a:avLst/>
          </a:prstGeom>
        </p:spPr>
        <p:txBody>
          <a:bodyPr anchor="t" rtlCol="false" tIns="0" lIns="0" bIns="0" rIns="0">
            <a:spAutoFit/>
          </a:bodyPr>
          <a:lstStyle/>
          <a:p>
            <a:endParaRPr/>
          </a:p>
        </p:txBody>
      </p:sp>
      <p:sp>
        <p:nvSpPr>
          <p:cNvPr name="TextBox 12" id="12"/>
          <p:cNvSpPr txBox="true"/>
          <p:nvPr/>
        </p:nvSpPr>
        <p:spPr>
          <a:xfrm rot="0">
            <a:off x="1601969" y="5488092"/>
            <a:ext cx="14446765" cy="2175030"/>
          </a:xfrm>
          <a:prstGeom prst="rect">
            <a:avLst/>
          </a:prstGeom>
        </p:spPr>
        <p:txBody>
          <a:bodyPr anchor="t" rtlCol="false" tIns="0" lIns="0" bIns="0" rIns="0">
            <a:spAutoFit/>
          </a:bodyPr>
          <a:lstStyle/>
          <a:p>
            <a:endParaRPr/>
          </a:p>
        </p:txBody>
      </p:sp>
      <p:sp>
        <p:nvSpPr>
          <p:cNvPr id="13" name="TextBox 12"/>
          <p:cNvSpPr txBox="1"/>
          <p:nvPr/>
        </p:nvSpPr>
        <p:spPr>
          <a:xfrm>
            <a:off x="1601969" y="3630688"/>
            <a:ext cx="10156343" cy="1558403"/>
          </a:xfrm>
          <a:prstGeom prst="rect">
            <a:avLst/>
          </a:prstGeom>
          <a:noFill/>
        </p:spPr>
        <p:txBody>
          <a:bodyPr wrap="square">
            <a:spAutoFit/>
          </a:bodyPr>
          <a:lstStyle/>
          <a:p>
            <a:pPr algn="l"/>
            <a:r>
              <a:rPr sz="3400" b="1">
                <a:solidFill>
                  <a:srgbClr val="FFFFFF"/>
                </a:solidFill>
                <a:latin typeface="Segoe UI Black"/>
              </a:rPr>
              <a:t>Fiscal Architecture: Revenue Streams Powering Bengaluru’s Development</a:t>
            </a:r>
          </a:p>
        </p:txBody>
      </p:sp>
      <p:cxnSp>
        <p:nvCxnSpPr>
          <p:cNvPr id="14" name="Connector 13"/>
          <p:cNvCxnSpPr/>
          <p:nvPr/>
        </p:nvCxnSpPr>
        <p:spPr>
          <a:xfrm>
            <a:off x="1601969" y="4721570"/>
            <a:ext cx="3046902"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pic>
        <p:nvPicPr>
          <p:cNvPr id="15" name="Picture 14" descr="chart_3.png"/>
          <p:cNvPicPr>
            <a:picLocks noChangeAspect="1"/>
          </p:cNvPicPr>
          <p:nvPr/>
        </p:nvPicPr>
        <p:blipFill>
          <a:blip r:embed="rId4"/>
          <a:stretch>
            <a:fillRect/>
          </a:stretch>
        </p:blipFill>
        <p:spPr>
          <a:xfrm>
            <a:off x="9144000" y="1234439"/>
            <a:ext cx="8412480" cy="8023860"/>
          </a:xfrm>
          <a:prstGeom prst="rect">
            <a:avLst/>
          </a:prstGeom>
        </p:spPr>
      </p:pic>
      <p:sp>
        <p:nvSpPr>
          <p:cNvPr id="16" name="TextBox 15"/>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Freeform 2" id="2"/>
          <p:cNvSpPr/>
          <p:nvPr/>
        </p:nvSpPr>
        <p:spPr>
          <a:xfrm flipH="false" flipV="false" rot="1925852">
            <a:off x="11466076" y="-4040445"/>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953566" y="647822"/>
            <a:ext cx="644940" cy="644940"/>
          </a:xfrm>
          <a:custGeom>
            <a:avLst/>
            <a:gdLst/>
            <a:ahLst/>
            <a:cxnLst/>
            <a:rect r="r" b="b" t="t" l="l"/>
            <a:pathLst>
              <a:path h="644940" w="644940">
                <a:moveTo>
                  <a:pt x="0" y="0"/>
                </a:moveTo>
                <a:lnTo>
                  <a:pt x="644939" y="0"/>
                </a:lnTo>
                <a:lnTo>
                  <a:pt x="644939" y="644940"/>
                </a:lnTo>
                <a:lnTo>
                  <a:pt x="0" y="644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964581" y="6163012"/>
            <a:ext cx="12299674" cy="5143500"/>
          </a:xfrm>
          <a:custGeom>
            <a:avLst/>
            <a:gdLst/>
            <a:ahLst/>
            <a:cxnLst/>
            <a:rect r="r" b="b" t="t" l="l"/>
            <a:pathLst>
              <a:path h="5143500" w="12299674">
                <a:moveTo>
                  <a:pt x="0" y="0"/>
                </a:moveTo>
                <a:lnTo>
                  <a:pt x="12299674" y="0"/>
                </a:lnTo>
                <a:lnTo>
                  <a:pt x="12299674" y="5143500"/>
                </a:lnTo>
                <a:lnTo>
                  <a:pt x="0" y="5143500"/>
                </a:lnTo>
                <a:lnTo>
                  <a:pt x="0" y="0"/>
                </a:lnTo>
                <a:close/>
              </a:path>
            </a:pathLst>
          </a:custGeom>
          <a:blipFill>
            <a:blip r:embed="rId5">
              <a:alphaModFix amt="10999"/>
            </a:blip>
            <a:stretch>
              <a:fillRect l="0" t="0" r="0" b="0"/>
            </a:stretch>
          </a:blipFill>
        </p:spPr>
      </p:sp>
      <p:grpSp>
        <p:nvGrpSpPr>
          <p:cNvPr name="Group 5" id="5"/>
          <p:cNvGrpSpPr/>
          <p:nvPr/>
        </p:nvGrpSpPr>
        <p:grpSpPr>
          <a:xfrm rot="0">
            <a:off x="1028700" y="4459903"/>
            <a:ext cx="16360888" cy="4960467"/>
            <a:chOff x="0" y="0"/>
            <a:chExt cx="4309041" cy="1306461"/>
          </a:xfrm>
        </p:grpSpPr>
        <p:sp>
          <p:nvSpPr>
            <p:cNvPr name="Freeform 6" id="6"/>
            <p:cNvSpPr/>
            <p:nvPr/>
          </p:nvSpPr>
          <p:spPr>
            <a:xfrm flipH="false" flipV="false" rot="0">
              <a:off x="0" y="0"/>
              <a:ext cx="4309040" cy="1306461"/>
            </a:xfrm>
            <a:custGeom>
              <a:avLst/>
              <a:gdLst/>
              <a:ahLst/>
              <a:cxnLst/>
              <a:rect r="r" b="b" t="t" l="l"/>
              <a:pathLst>
                <a:path h="1306461" w="4309040">
                  <a:moveTo>
                    <a:pt x="44007" y="0"/>
                  </a:moveTo>
                  <a:lnTo>
                    <a:pt x="4265033" y="0"/>
                  </a:lnTo>
                  <a:cubicBezTo>
                    <a:pt x="4276704" y="0"/>
                    <a:pt x="4287898" y="4636"/>
                    <a:pt x="4296151" y="12889"/>
                  </a:cubicBezTo>
                  <a:cubicBezTo>
                    <a:pt x="4304404" y="21142"/>
                    <a:pt x="4309040" y="32336"/>
                    <a:pt x="4309040" y="44007"/>
                  </a:cubicBezTo>
                  <a:lnTo>
                    <a:pt x="4309040" y="1262453"/>
                  </a:lnTo>
                  <a:cubicBezTo>
                    <a:pt x="4309040" y="1274125"/>
                    <a:pt x="4304404" y="1285318"/>
                    <a:pt x="4296151" y="1293571"/>
                  </a:cubicBezTo>
                  <a:cubicBezTo>
                    <a:pt x="4287898" y="1301824"/>
                    <a:pt x="4276704" y="1306461"/>
                    <a:pt x="4265033" y="1306461"/>
                  </a:cubicBezTo>
                  <a:lnTo>
                    <a:pt x="44007" y="1306461"/>
                  </a:lnTo>
                  <a:cubicBezTo>
                    <a:pt x="32336" y="1306461"/>
                    <a:pt x="21142" y="1301824"/>
                    <a:pt x="12889" y="1293571"/>
                  </a:cubicBezTo>
                  <a:cubicBezTo>
                    <a:pt x="4636" y="1285318"/>
                    <a:pt x="0" y="1274125"/>
                    <a:pt x="0" y="1262453"/>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name="TextBox 7" id="7"/>
            <p:cNvSpPr txBox="true"/>
            <p:nvPr/>
          </p:nvSpPr>
          <p:spPr>
            <a:xfrm>
              <a:off x="0" y="-28575"/>
              <a:ext cx="4309041" cy="1335036"/>
            </a:xfrm>
            <a:prstGeom prst="rect">
              <a:avLst/>
            </a:prstGeom>
          </p:spPr>
          <p:txBody>
            <a:bodyPr anchor="ctr" rtlCol="false" tIns="50800" lIns="50800" bIns="50800" rIns="50800"/>
            <a:lstStyle/>
            <a:p>
              <a:pPr algn="ctr">
                <a:lnSpc>
                  <a:spcPts val="2015"/>
                </a:lnSpc>
              </a:pPr>
            </a:p>
          </p:txBody>
        </p:sp>
      </p:grpSp>
      <p:sp>
        <p:nvSpPr>
          <p:cNvPr name="TextBox 8" id="8"/>
          <p:cNvSpPr txBox="true"/>
          <p:nvPr/>
        </p:nvSpPr>
        <p:spPr>
          <a:xfrm rot="0">
            <a:off x="1028700" y="2310636"/>
            <a:ext cx="13389009" cy="1406223"/>
          </a:xfrm>
          <a:prstGeom prst="rect">
            <a:avLst/>
          </a:prstGeom>
        </p:spPr>
        <p:txBody>
          <a:bodyPr anchor="t" rtlCol="false" tIns="0" lIns="0" bIns="0" rIns="0">
            <a:spAutoFit/>
          </a:bodyPr>
          <a:lstStyle/>
          <a:p>
            <a:endParaRPr/>
          </a:p>
        </p:txBody>
      </p:sp>
      <p:sp>
        <p:nvSpPr>
          <p:cNvPr name="TextBox 9" id="9"/>
          <p:cNvSpPr txBox="true"/>
          <p:nvPr/>
        </p:nvSpPr>
        <p:spPr>
          <a:xfrm rot="0">
            <a:off x="2412776" y="5153025"/>
            <a:ext cx="3520737" cy="381000"/>
          </a:xfrm>
          <a:prstGeom prst="rect">
            <a:avLst/>
          </a:prstGeom>
        </p:spPr>
        <p:txBody>
          <a:bodyPr anchor="t" rtlCol="false" tIns="0" lIns="0" bIns="0" rIns="0">
            <a:spAutoFit/>
          </a:bodyPr>
          <a:lstStyle/>
          <a:p>
            <a:endParaRPr/>
          </a:p>
        </p:txBody>
      </p:sp>
      <p:grpSp>
        <p:nvGrpSpPr>
          <p:cNvPr name="Group 10" id="10"/>
          <p:cNvGrpSpPr/>
          <p:nvPr/>
        </p:nvGrpSpPr>
        <p:grpSpPr>
          <a:xfrm rot="0">
            <a:off x="1615245" y="5146975"/>
            <a:ext cx="387050" cy="38705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A0CEFD">
                    <a:alpha val="100000"/>
                  </a:srgbClr>
                </a:gs>
                <a:gs pos="100000">
                  <a:srgbClr val="E4F2FF">
                    <a:alpha val="100000"/>
                  </a:srgbClr>
                </a:gs>
              </a:gsLst>
              <a:lin ang="0"/>
            </a:gradFill>
            <a:ln w="9525" cap="sq">
              <a:solidFill>
                <a:srgbClr val="FFFFFF"/>
              </a:solidFill>
              <a:prstDash val="solid"/>
              <a:miter/>
            </a:ln>
          </p:spPr>
        </p:sp>
        <p:sp>
          <p:nvSpPr>
            <p:cNvPr name="TextBox 12" id="12"/>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sp>
        <p:nvSpPr>
          <p:cNvPr name="TextBox 13" id="13"/>
          <p:cNvSpPr txBox="true"/>
          <p:nvPr/>
        </p:nvSpPr>
        <p:spPr>
          <a:xfrm rot="0">
            <a:off x="1601969" y="6314229"/>
            <a:ext cx="14092447" cy="1579880"/>
          </a:xfrm>
          <a:prstGeom prst="rect">
            <a:avLst/>
          </a:prstGeom>
        </p:spPr>
        <p:txBody>
          <a:bodyPr anchor="t" rtlCol="false" tIns="0" lIns="0" bIns="0" rIns="0">
            <a:spAutoFit/>
          </a:bodyPr>
          <a:lstStyle/>
          <a:p>
            <a:endParaRPr/>
          </a:p>
        </p:txBody>
      </p:sp>
      <p:sp>
        <p:nvSpPr>
          <p:cNvPr id="14" name="Rectangle 13"/>
          <p:cNvSpPr/>
          <p:nvPr/>
        </p:nvSpPr>
        <p:spPr>
          <a:xfrm>
            <a:off x="914400" y="1028700"/>
            <a:ext cx="16459200" cy="8229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2310636"/>
            <a:ext cx="13389009" cy="1406223"/>
          </a:xfrm>
          <a:prstGeom prst="rect">
            <a:avLst/>
          </a:prstGeom>
          <a:noFill/>
        </p:spPr>
        <p:txBody>
          <a:bodyPr wrap="square">
            <a:spAutoFit/>
          </a:bodyPr>
          <a:lstStyle/>
          <a:p>
            <a:pPr algn="l"/>
            <a:r>
              <a:rPr sz="3600" b="1">
                <a:solidFill>
                  <a:srgbClr val="FFFFFF"/>
                </a:solidFill>
                <a:latin typeface="Segoe UI Black"/>
              </a:rPr>
              <a:t>The BBMP Scale of Impact: Operational Benchmarks and Asset Management</a:t>
            </a:r>
          </a:p>
        </p:txBody>
      </p:sp>
      <p:cxnSp>
        <p:nvCxnSpPr>
          <p:cNvPr id="16" name="Connector 15"/>
          <p:cNvCxnSpPr/>
          <p:nvPr/>
        </p:nvCxnSpPr>
        <p:spPr>
          <a:xfrm>
            <a:off x="1028700" y="3294992"/>
            <a:ext cx="4016702"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01969" y="6314229"/>
            <a:ext cx="14092447" cy="1579880"/>
          </a:xfrm>
          <a:prstGeom prst="rect">
            <a:avLst/>
          </a:prstGeom>
          <a:noFill/>
        </p:spPr>
        <p:txBody>
          <a:bodyPr wrap="square">
            <a:spAutoFit/>
          </a:bodyPr>
          <a:lstStyle/>
          <a:p>
            <a:pPr algn="l">
              <a:spcAft>
                <a:spcPts val="2800"/>
              </a:spcAft>
            </a:pPr>
            <a:r>
              <a:rPr sz="1700" b="0">
                <a:solidFill>
                  <a:srgbClr val="FFFFFF"/>
                </a:solidFill>
                <a:latin typeface="Segoe UI"/>
              </a:rPr>
              <a:t>Solid Waste Management: Orchestrating the daily collection and scientific processing of 4,500+ metric tonnes of municipal solid waste.</a:t>
            </a:r>
          </a:p>
          <a:p>
            <a:pPr algn="l">
              <a:spcAft>
                <a:spcPts val="2800"/>
              </a:spcAft>
            </a:pPr>
            <a:r>
              <a:rPr sz="1700" b="0">
                <a:solidFill>
                  <a:srgbClr val="FFFFFF"/>
                </a:solidFill>
                <a:latin typeface="Segoe UI"/>
              </a:rPr>
              <a:t>Connectivity Matrix: Engineering and maintaining a massive 13,200 km road network, ranging from arterial highways to neighborhood lanes.</a:t>
            </a:r>
          </a:p>
          <a:p>
            <a:pPr algn="l">
              <a:spcAft>
                <a:spcPts val="2800"/>
              </a:spcAft>
            </a:pPr>
            <a:r>
              <a:rPr sz="1700" b="0">
                <a:solidFill>
                  <a:srgbClr val="FFFFFF"/>
                </a:solidFill>
                <a:latin typeface="Segoe UI"/>
              </a:rPr>
              <a:t>Ecological Stewardship: Direct management of 1,200+ public parks and the rejuvenation of 200+ lakes to enhance the city's climate resilience.</a:t>
            </a:r>
          </a:p>
          <a:p>
            <a:pPr algn="l">
              <a:spcAft>
                <a:spcPts val="2800"/>
              </a:spcAft>
            </a:pPr>
            <a:r>
              <a:rPr sz="1700" b="0">
                <a:solidFill>
                  <a:srgbClr val="FFFFFF"/>
                </a:solidFill>
                <a:latin typeface="Segoe UI"/>
              </a:rPr>
              <a:t>Public Healthcare Infrastructure: Operating a tiered network of 140+ Primary Health Centers and 6 major referral hospitals for affordable urban healthcare.</a:t>
            </a:r>
          </a:p>
        </p:txBody>
      </p:sp>
      <p:sp>
        <p:nvSpPr>
          <p:cNvPr id="18" name="TextBox 17"/>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true" flipV="false" rot="2700000">
            <a:off x="-2109444" y="5046072"/>
            <a:ext cx="9290530" cy="6858100"/>
          </a:xfrm>
          <a:custGeom>
            <a:avLst/>
            <a:gdLst/>
            <a:ahLst/>
            <a:cxnLst/>
            <a:rect r="r" b="b" t="t" l="l"/>
            <a:pathLst>
              <a:path h="6858100" w="9290530">
                <a:moveTo>
                  <a:pt x="9290530" y="0"/>
                </a:moveTo>
                <a:lnTo>
                  <a:pt x="0" y="0"/>
                </a:lnTo>
                <a:lnTo>
                  <a:pt x="0" y="6858101"/>
                </a:lnTo>
                <a:lnTo>
                  <a:pt x="9290530" y="6858101"/>
                </a:lnTo>
                <a:lnTo>
                  <a:pt x="9290530" y="0"/>
                </a:lnTo>
                <a:close/>
              </a:path>
            </a:pathLst>
          </a:custGeom>
          <a:blipFill>
            <a:blip r:embed="rId2">
              <a:alphaModFix amt="24000"/>
            </a:blip>
            <a:stretch>
              <a:fillRect l="0" t="0" r="0" b="0"/>
            </a:stretch>
          </a:blipFill>
        </p:spPr>
      </p:sp>
      <p:sp>
        <p:nvSpPr>
          <p:cNvPr name="Freeform 3" id="3"/>
          <p:cNvSpPr/>
          <p:nvPr/>
        </p:nvSpPr>
        <p:spPr>
          <a:xfrm flipH="false" flipV="false" rot="0">
            <a:off x="953566" y="647822"/>
            <a:ext cx="644940" cy="644940"/>
          </a:xfrm>
          <a:custGeom>
            <a:avLst/>
            <a:gdLst/>
            <a:ahLst/>
            <a:cxnLst/>
            <a:rect r="r" b="b" t="t" l="l"/>
            <a:pathLst>
              <a:path h="644940" w="644940">
                <a:moveTo>
                  <a:pt x="0" y="0"/>
                </a:moveTo>
                <a:lnTo>
                  <a:pt x="644939" y="0"/>
                </a:lnTo>
                <a:lnTo>
                  <a:pt x="644939" y="644940"/>
                </a:lnTo>
                <a:lnTo>
                  <a:pt x="0" y="644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592054" y="970292"/>
            <a:ext cx="8797534" cy="8385207"/>
            <a:chOff x="0" y="0"/>
            <a:chExt cx="2317046" cy="2208450"/>
          </a:xfrm>
        </p:grpSpPr>
        <p:sp>
          <p:nvSpPr>
            <p:cNvPr name="Freeform 5" id="5"/>
            <p:cNvSpPr/>
            <p:nvPr/>
          </p:nvSpPr>
          <p:spPr>
            <a:xfrm flipH="false" flipV="false" rot="0">
              <a:off x="0" y="0"/>
              <a:ext cx="2317046" cy="2208450"/>
            </a:xfrm>
            <a:custGeom>
              <a:avLst/>
              <a:gdLst/>
              <a:ahLst/>
              <a:cxnLst/>
              <a:rect r="r" b="b" t="t" l="l"/>
              <a:pathLst>
                <a:path h="2208450" w="2317046">
                  <a:moveTo>
                    <a:pt x="81841" y="0"/>
                  </a:moveTo>
                  <a:lnTo>
                    <a:pt x="2235205" y="0"/>
                  </a:lnTo>
                  <a:cubicBezTo>
                    <a:pt x="2280405" y="0"/>
                    <a:pt x="2317046" y="36641"/>
                    <a:pt x="2317046" y="81841"/>
                  </a:cubicBezTo>
                  <a:lnTo>
                    <a:pt x="2317046" y="2126609"/>
                  </a:lnTo>
                  <a:cubicBezTo>
                    <a:pt x="2317046" y="2171808"/>
                    <a:pt x="2280405" y="2208450"/>
                    <a:pt x="2235205" y="2208450"/>
                  </a:cubicBezTo>
                  <a:lnTo>
                    <a:pt x="81841" y="2208450"/>
                  </a:lnTo>
                  <a:cubicBezTo>
                    <a:pt x="36641" y="2208450"/>
                    <a:pt x="0" y="2171808"/>
                    <a:pt x="0" y="2126609"/>
                  </a:cubicBezTo>
                  <a:lnTo>
                    <a:pt x="0" y="81841"/>
                  </a:lnTo>
                  <a:cubicBezTo>
                    <a:pt x="0" y="36641"/>
                    <a:pt x="36641" y="0"/>
                    <a:pt x="81841" y="0"/>
                  </a:cubicBezTo>
                  <a:close/>
                </a:path>
              </a:pathLst>
            </a:custGeom>
            <a:solidFill>
              <a:srgbClr val="D0D7DD"/>
            </a:solidFill>
            <a:ln w="19050" cap="rnd">
              <a:solidFill>
                <a:srgbClr val="424242"/>
              </a:solidFill>
              <a:prstDash val="solid"/>
              <a:round/>
            </a:ln>
          </p:spPr>
        </p:sp>
        <p:sp>
          <p:nvSpPr>
            <p:cNvPr name="TextBox 6" id="6"/>
            <p:cNvSpPr txBox="true"/>
            <p:nvPr/>
          </p:nvSpPr>
          <p:spPr>
            <a:xfrm>
              <a:off x="0" y="-28575"/>
              <a:ext cx="2317046" cy="2237025"/>
            </a:xfrm>
            <a:prstGeom prst="rect">
              <a:avLst/>
            </a:prstGeom>
          </p:spPr>
          <p:txBody>
            <a:bodyPr anchor="ctr" rtlCol="false" tIns="50800" lIns="50800" bIns="50800" rIns="50800"/>
            <a:lstStyle/>
            <a:p>
              <a:pPr algn="ctr">
                <a:lnSpc>
                  <a:spcPts val="2015"/>
                </a:lnSpc>
              </a:pPr>
            </a:p>
          </p:txBody>
        </p:sp>
      </p:grpSp>
      <p:sp>
        <p:nvSpPr>
          <p:cNvPr name="TextBox 7" id="7"/>
          <p:cNvSpPr txBox="true"/>
          <p:nvPr/>
        </p:nvSpPr>
        <p:spPr>
          <a:xfrm rot="0">
            <a:off x="1028700" y="5783877"/>
            <a:ext cx="6880469" cy="3562097"/>
          </a:xfrm>
          <a:prstGeom prst="rect">
            <a:avLst/>
          </a:prstGeom>
        </p:spPr>
        <p:txBody>
          <a:bodyPr anchor="t" rtlCol="false" tIns="0" lIns="0" bIns="0" rIns="0">
            <a:spAutoFit/>
          </a:bodyPr>
          <a:lstStyle/>
          <a:p>
            <a:endParaRPr/>
          </a:p>
        </p:txBody>
      </p:sp>
      <p:sp>
        <p:nvSpPr>
          <p:cNvPr name="TextBox 8" id="8"/>
          <p:cNvSpPr txBox="true"/>
          <p:nvPr/>
        </p:nvSpPr>
        <p:spPr>
          <a:xfrm rot="0">
            <a:off x="9806931" y="1794170"/>
            <a:ext cx="5140506" cy="447675"/>
          </a:xfrm>
          <a:prstGeom prst="rect">
            <a:avLst/>
          </a:prstGeom>
        </p:spPr>
        <p:txBody>
          <a:bodyPr anchor="t" rtlCol="false" tIns="0" lIns="0" bIns="0" rIns="0">
            <a:spAutoFit/>
          </a:bodyPr>
          <a:lstStyle/>
          <a:p>
            <a:endParaRPr/>
          </a:p>
        </p:txBody>
      </p:sp>
      <p:sp>
        <p:nvSpPr>
          <p:cNvPr name="TextBox 9" id="9"/>
          <p:cNvSpPr txBox="true"/>
          <p:nvPr/>
        </p:nvSpPr>
        <p:spPr>
          <a:xfrm rot="0">
            <a:off x="9433659" y="2717461"/>
            <a:ext cx="7114325" cy="1406525"/>
          </a:xfrm>
          <a:prstGeom prst="rect">
            <a:avLst/>
          </a:prstGeom>
        </p:spPr>
        <p:txBody>
          <a:bodyPr anchor="t" rtlCol="false" tIns="0" lIns="0" bIns="0" rIns="0">
            <a:spAutoFit/>
          </a:bodyPr>
          <a:lstStyle/>
          <a:p>
            <a:endParaRPr/>
          </a:p>
        </p:txBody>
      </p:sp>
      <p:sp>
        <p:nvSpPr>
          <p:cNvPr name="TextBox 10" id="10"/>
          <p:cNvSpPr txBox="true"/>
          <p:nvPr/>
        </p:nvSpPr>
        <p:spPr>
          <a:xfrm rot="0">
            <a:off x="9433659" y="4609761"/>
            <a:ext cx="7114325" cy="1397000"/>
          </a:xfrm>
          <a:prstGeom prst="rect">
            <a:avLst/>
          </a:prstGeom>
        </p:spPr>
        <p:txBody>
          <a:bodyPr anchor="t" rtlCol="false" tIns="0" lIns="0" bIns="0" rIns="0">
            <a:spAutoFit/>
          </a:bodyPr>
          <a:lstStyle/>
          <a:p>
            <a:endParaRPr/>
          </a:p>
        </p:txBody>
      </p:sp>
      <p:sp>
        <p:nvSpPr>
          <p:cNvPr name="TextBox 11" id="11"/>
          <p:cNvSpPr txBox="true"/>
          <p:nvPr/>
        </p:nvSpPr>
        <p:spPr>
          <a:xfrm rot="0">
            <a:off x="9433659" y="6492536"/>
            <a:ext cx="7114325" cy="1397000"/>
          </a:xfrm>
          <a:prstGeom prst="rect">
            <a:avLst/>
          </a:prstGeom>
        </p:spPr>
        <p:txBody>
          <a:bodyPr anchor="t" rtlCol="false" tIns="0" lIns="0" bIns="0" rIns="0">
            <a:spAutoFit/>
          </a:bodyPr>
          <a:lstStyle/>
          <a:p>
            <a:endParaRPr/>
          </a:p>
        </p:txBody>
      </p:sp>
      <p:sp>
        <p:nvSpPr>
          <p:cNvPr id="12" name="Rectangle 11"/>
          <p:cNvSpPr/>
          <p:nvPr/>
        </p:nvSpPr>
        <p:spPr>
          <a:xfrm>
            <a:off x="914400" y="1028700"/>
            <a:ext cx="16459200" cy="8229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3291840"/>
            <a:ext cx="15361920" cy="2263140"/>
          </a:xfrm>
          <a:prstGeom prst="rect">
            <a:avLst/>
          </a:prstGeom>
          <a:noFill/>
        </p:spPr>
        <p:txBody>
          <a:bodyPr wrap="square">
            <a:spAutoFit/>
          </a:bodyPr>
          <a:lstStyle/>
          <a:p>
            <a:pPr algn="ctr"/>
            <a:r>
              <a:rPr sz="5200" b="1">
                <a:solidFill>
                  <a:srgbClr val="FFFFFF"/>
                </a:solidFill>
                <a:latin typeface="Segoe UI Black"/>
              </a:rPr>
              <a:t>Brand Bengaluru: The Roadmap for a Resilient and Smart Future</a:t>
            </a:r>
          </a:p>
        </p:txBody>
      </p:sp>
      <p:sp>
        <p:nvSpPr>
          <p:cNvPr id="14" name="TextBox 13"/>
          <p:cNvSpPr txBox="1"/>
          <p:nvPr/>
        </p:nvSpPr>
        <p:spPr>
          <a:xfrm>
            <a:off x="914400" y="5760720"/>
            <a:ext cx="15361920" cy="3909060"/>
          </a:xfrm>
          <a:prstGeom prst="rect">
            <a:avLst/>
          </a:prstGeom>
          <a:noFill/>
        </p:spPr>
        <p:txBody>
          <a:bodyPr wrap="square">
            <a:spAutoFit/>
          </a:bodyPr>
          <a:lstStyle/>
          <a:p>
            <a:pPr algn="ctr">
              <a:spcAft>
                <a:spcPts val="2800"/>
              </a:spcAft>
            </a:pPr>
            <a:r>
              <a:rPr sz="2300" b="0">
                <a:solidFill>
                  <a:srgbClr val="DCE6F5"/>
                </a:solidFill>
                <a:latin typeface="Segoe UI"/>
              </a:rPr>
              <a:t>Strategic Vision: The 'Brand Bengaluru' initiative focusing on multi-modal transport integration, waste-to-energy solutions, and expanded green cover.</a:t>
            </a:r>
          </a:p>
          <a:p>
            <a:pPr algn="ctr">
              <a:spcAft>
                <a:spcPts val="2800"/>
              </a:spcAft>
            </a:pPr>
            <a:r>
              <a:rPr sz="2300" b="0">
                <a:solidFill>
                  <a:srgbClr val="DCE6F5"/>
                </a:solidFill>
                <a:latin typeface="Segoe UI"/>
              </a:rPr>
              <a:t>Digital Transformation: Implementation of GIS-enabled property tax mapping and automated 'Namma Bengaluru' services for 100% transparency.</a:t>
            </a:r>
          </a:p>
          <a:p>
            <a:pPr algn="ctr">
              <a:spcAft>
                <a:spcPts val="2800"/>
              </a:spcAft>
            </a:pPr>
            <a:r>
              <a:rPr sz="2300" b="0">
                <a:solidFill>
                  <a:srgbClr val="DCE6F5"/>
                </a:solidFill>
                <a:latin typeface="Segoe UI"/>
              </a:rPr>
              <a:t>Climate Adaptation: Utilizing the Integrated Command and Control Centre (ICCC) for real-time flood monitoring and disaster response synchronization.</a:t>
            </a:r>
          </a:p>
          <a:p>
            <a:pPr algn="ctr">
              <a:spcAft>
                <a:spcPts val="2800"/>
              </a:spcAft>
            </a:pPr>
            <a:r>
              <a:rPr sz="2300" b="0">
                <a:solidFill>
                  <a:srgbClr val="DCE6F5"/>
                </a:solidFill>
                <a:latin typeface="Segoe UI"/>
              </a:rPr>
              <a:t>Infrastructure Longevity: Prioritizing 'White Topping' concrete surfacing on major corridors to reduce lifecycle maintenance costs and improve road durability.</a:t>
            </a:r>
          </a:p>
        </p:txBody>
      </p:sp>
      <p:sp>
        <p:nvSpPr>
          <p:cNvPr id="15" name="TextBox 14"/>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DAHEAPACS3g</dc:identifier>
  <dcterms:modified xsi:type="dcterms:W3CDTF">2011-08-01T06:04:30Z</dcterms:modified>
  <cp:revision>1</cp:revision>
  <dc:title>Lorem ipsum dolor sit amet, consectetur adipiscing elit. Duis vel dolor ante. Nullam feugiat egestas elit et vehicula. Proin venenatis, orci nec cursus tristique, nulla risus mattis eros, id accumsan massa elit eu augue. Mauris massa ipsum, pharetra id</dc:title>
</cp:coreProperties>
</file>